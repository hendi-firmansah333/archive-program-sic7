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5075" cx="9145575"/>
  <p:notesSz cx="6858000" cy="9144000"/>
  <p:embeddedFontLst>
    <p:embeddedFont>
      <p:font typeface="Plus Jakarta Sans"/>
      <p:regular r:id="rId23"/>
      <p:bold r:id="rId24"/>
      <p:italic r:id="rId25"/>
      <p:boldItalic r:id="rId26"/>
    </p:embeddedFont>
    <p:embeddedFont>
      <p:font typeface="Tahoma"/>
      <p:regular r:id="rId27"/>
      <p:bold r:id="rId28"/>
    </p:embeddedFont>
    <p:embeddedFont>
      <p:font typeface="Lora"/>
      <p:regular r:id="rId29"/>
      <p:bold r:id="rId30"/>
      <p:italic r:id="rId31"/>
      <p:boldItalic r:id="rId32"/>
    </p:embeddedFont>
    <p:embeddedFont>
      <p:font typeface="Plus Jakarta Sans Medium"/>
      <p:regular r:id="rId33"/>
      <p:bold r:id="rId34"/>
      <p:italic r:id="rId35"/>
      <p:boldItalic r:id="rId36"/>
    </p:embeddedFont>
    <p:embeddedFont>
      <p:font typeface="Poppi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1">
          <p15:clr>
            <a:srgbClr val="000000"/>
          </p15:clr>
        </p15:guide>
        <p15:guide id="2" pos="2881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iIa+bIkdDS3RvohMVykC5xNGSt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1" orient="horz"/>
        <p:guide pos="28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or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ora-italic.fntdata"/><Relationship Id="rId30" Type="http://schemas.openxmlformats.org/officeDocument/2006/relationships/font" Target="fonts/Lora-bold.fntdata"/><Relationship Id="rId11" Type="http://schemas.openxmlformats.org/officeDocument/2006/relationships/slide" Target="slides/slide5.xml"/><Relationship Id="rId33" Type="http://schemas.openxmlformats.org/officeDocument/2006/relationships/font" Target="fonts/PlusJakartaSansMedium-regular.fntdata"/><Relationship Id="rId10" Type="http://schemas.openxmlformats.org/officeDocument/2006/relationships/slide" Target="slides/slide4.xml"/><Relationship Id="rId32" Type="http://schemas.openxmlformats.org/officeDocument/2006/relationships/font" Target="fonts/Lora-boldItalic.fntdata"/><Relationship Id="rId13" Type="http://schemas.openxmlformats.org/officeDocument/2006/relationships/slide" Target="slides/slide7.xml"/><Relationship Id="rId35" Type="http://schemas.openxmlformats.org/officeDocument/2006/relationships/font" Target="fonts/PlusJakartaSansMedium-italic.fntdata"/><Relationship Id="rId12" Type="http://schemas.openxmlformats.org/officeDocument/2006/relationships/slide" Target="slides/slide6.xml"/><Relationship Id="rId34" Type="http://schemas.openxmlformats.org/officeDocument/2006/relationships/font" Target="fonts/PlusJakartaSansMedium-bold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PlusJakartaSans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585e5a41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6585e5a4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5034689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69" name="Google Shape;169;g32503468941_0_0:notes"/>
          <p:cNvSpPr/>
          <p:nvPr>
            <p:ph idx="2" type="sldImg"/>
          </p:nvPr>
        </p:nvSpPr>
        <p:spPr>
          <a:xfrm>
            <a:off x="2143893" y="685800"/>
            <a:ext cx="2571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585e5a41e_0_2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26585e5a41e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8343dfcdc_0_292:notes"/>
          <p:cNvSpPr txBox="1"/>
          <p:nvPr>
            <p:ph idx="1" type="body"/>
          </p:nvPr>
        </p:nvSpPr>
        <p:spPr>
          <a:xfrm>
            <a:off x="457200" y="289560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275" lIns="33275" spcFirstLastPara="1" rIns="33275" wrap="square" tIns="33275">
            <a:noAutofit/>
          </a:bodyPr>
          <a:lstStyle/>
          <a:p>
            <a:pPr indent="-127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90" name="Google Shape;190;g308343dfcdc_0_292:notes"/>
          <p:cNvSpPr/>
          <p:nvPr>
            <p:ph idx="2" type="sldImg"/>
          </p:nvPr>
        </p:nvSpPr>
        <p:spPr>
          <a:xfrm>
            <a:off x="255588" y="457200"/>
            <a:ext cx="4060825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4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8343dfcdc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08343dfcdc_0_30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4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4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9:notes"/>
          <p:cNvSpPr txBox="1"/>
          <p:nvPr>
            <p:ph idx="1" type="body"/>
          </p:nvPr>
        </p:nvSpPr>
        <p:spPr>
          <a:xfrm>
            <a:off x="457200" y="289560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275" lIns="33275" spcFirstLastPara="1" rIns="33275" wrap="square" tIns="33275">
            <a:noAutofit/>
          </a:bodyPr>
          <a:lstStyle/>
          <a:p>
            <a:pPr indent="-127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62" name="Google Shape;262;p49:notes"/>
          <p:cNvSpPr/>
          <p:nvPr>
            <p:ph idx="2" type="sldImg"/>
          </p:nvPr>
        </p:nvSpPr>
        <p:spPr>
          <a:xfrm>
            <a:off x="255588" y="457200"/>
            <a:ext cx="4060825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5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:notes"/>
          <p:cNvSpPr txBox="1"/>
          <p:nvPr>
            <p:ph idx="1" type="body"/>
          </p:nvPr>
        </p:nvSpPr>
        <p:spPr>
          <a:xfrm>
            <a:off x="457200" y="289560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275" lIns="33275" spcFirstLastPara="1" rIns="33275" wrap="square" tIns="33275">
            <a:noAutofit/>
          </a:bodyPr>
          <a:lstStyle/>
          <a:p>
            <a:pPr indent="-127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46" name="Google Shape;346;p53:notes"/>
          <p:cNvSpPr/>
          <p:nvPr>
            <p:ph idx="2" type="sldImg"/>
          </p:nvPr>
        </p:nvSpPr>
        <p:spPr>
          <a:xfrm>
            <a:off x="255588" y="457200"/>
            <a:ext cx="4060825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08343dfcd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5" name="Google Shape;355;g308343dfcdc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08343dfcdc_0_11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5" name="Google Shape;365;g308343dfcdc_0_114:notes"/>
          <p:cNvSpPr/>
          <p:nvPr>
            <p:ph idx="2" type="sldImg"/>
          </p:nvPr>
        </p:nvSpPr>
        <p:spPr>
          <a:xfrm>
            <a:off x="5716588" y="771525"/>
            <a:ext cx="6856412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6585e5a41e_0_4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26585e5a41e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920" y="1598313"/>
            <a:ext cx="7773750" cy="1102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839" y="2915550"/>
            <a:ext cx="6401911" cy="1314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dul dan Konten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2503468941_0_97"/>
          <p:cNvSpPr txBox="1"/>
          <p:nvPr>
            <p:ph type="title"/>
          </p:nvPr>
        </p:nvSpPr>
        <p:spPr>
          <a:xfrm>
            <a:off x="628758" y="273928"/>
            <a:ext cx="78882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2503468941_0_97"/>
          <p:cNvSpPr txBox="1"/>
          <p:nvPr>
            <p:ph idx="1" type="body"/>
          </p:nvPr>
        </p:nvSpPr>
        <p:spPr>
          <a:xfrm>
            <a:off x="628758" y="1369638"/>
            <a:ext cx="78882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g32503468941_0_97"/>
          <p:cNvSpPr txBox="1"/>
          <p:nvPr>
            <p:ph idx="10" type="dt"/>
          </p:nvPr>
        </p:nvSpPr>
        <p:spPr>
          <a:xfrm>
            <a:off x="628758" y="4768722"/>
            <a:ext cx="205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2503468941_0_97"/>
          <p:cNvSpPr txBox="1"/>
          <p:nvPr>
            <p:ph idx="11" type="ftr"/>
          </p:nvPr>
        </p:nvSpPr>
        <p:spPr>
          <a:xfrm>
            <a:off x="3029472" y="4768722"/>
            <a:ext cx="308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2503468941_0_97"/>
          <p:cNvSpPr txBox="1"/>
          <p:nvPr>
            <p:ph idx="12" type="sldNum"/>
          </p:nvPr>
        </p:nvSpPr>
        <p:spPr>
          <a:xfrm>
            <a:off x="6459062" y="4768722"/>
            <a:ext cx="205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42ff3d8b87_1_105"/>
          <p:cNvSpPr txBox="1"/>
          <p:nvPr>
            <p:ph idx="11" type="ftr"/>
          </p:nvPr>
        </p:nvSpPr>
        <p:spPr>
          <a:xfrm>
            <a:off x="3109495" y="4784920"/>
            <a:ext cx="29268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" name="Google Shape;29;g142ff3d8b87_1_105"/>
          <p:cNvSpPr txBox="1"/>
          <p:nvPr>
            <p:ph idx="10" type="dt"/>
          </p:nvPr>
        </p:nvSpPr>
        <p:spPr>
          <a:xfrm>
            <a:off x="457279" y="4784920"/>
            <a:ext cx="2103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" name="Google Shape;30;g142ff3d8b87_1_105"/>
          <p:cNvSpPr txBox="1"/>
          <p:nvPr>
            <p:ph idx="12" type="sldNum"/>
          </p:nvPr>
        </p:nvSpPr>
        <p:spPr>
          <a:xfrm>
            <a:off x="6584814" y="4784920"/>
            <a:ext cx="210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722438" y="3306196"/>
            <a:ext cx="7773750" cy="1021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722438" y="2180709"/>
            <a:ext cx="7773750" cy="11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350899" y="1229105"/>
            <a:ext cx="3083461" cy="3476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3586787" y="1229105"/>
            <a:ext cx="3085047" cy="3476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457279" y="1151690"/>
            <a:ext cx="4040890" cy="479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457279" y="1631660"/>
            <a:ext cx="4040890" cy="296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4645833" y="1151690"/>
            <a:ext cx="4042477" cy="479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4645833" y="1631660"/>
            <a:ext cx="4042477" cy="296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457280" y="204851"/>
            <a:ext cx="3008835" cy="8718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3575671" y="204852"/>
            <a:ext cx="5112638" cy="4391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457280" y="1076658"/>
            <a:ext cx="3008835" cy="3519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7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1792600" y="3601562"/>
            <a:ext cx="5487353" cy="4251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/>
          <p:nvPr>
            <p:ph idx="2" type="pic"/>
          </p:nvPr>
        </p:nvSpPr>
        <p:spPr>
          <a:xfrm>
            <a:off x="1792600" y="459723"/>
            <a:ext cx="5487353" cy="3087053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1792600" y="4026747"/>
            <a:ext cx="5487353" cy="603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18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 rot="5400000">
            <a:off x="2875035" y="-1217234"/>
            <a:ext cx="3395520" cy="823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 rot="5400000">
            <a:off x="3634513" y="1668292"/>
            <a:ext cx="4494806" cy="1579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 rot="5400000">
            <a:off x="397832" y="163874"/>
            <a:ext cx="4494806" cy="458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d97f235b5_0_171"/>
          <p:cNvSpPr txBox="1"/>
          <p:nvPr>
            <p:ph type="ctrTitle"/>
          </p:nvPr>
        </p:nvSpPr>
        <p:spPr>
          <a:xfrm>
            <a:off x="311762" y="744803"/>
            <a:ext cx="8522100" cy="20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50" lIns="91450" spcFirstLastPara="1" rIns="91450" wrap="square" tIns="91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g2ad97f235b5_0_171"/>
          <p:cNvSpPr txBox="1"/>
          <p:nvPr>
            <p:ph idx="1" type="subTitle"/>
          </p:nvPr>
        </p:nvSpPr>
        <p:spPr>
          <a:xfrm>
            <a:off x="311754" y="2834993"/>
            <a:ext cx="85221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g2ad97f235b5_0_171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8e5ee3732_0_462"/>
          <p:cNvSpPr txBox="1"/>
          <p:nvPr>
            <p:ph type="ctrTitle"/>
          </p:nvPr>
        </p:nvSpPr>
        <p:spPr>
          <a:xfrm>
            <a:off x="1630246" y="190940"/>
            <a:ext cx="58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4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g2f8e5ee3732_0_462"/>
          <p:cNvSpPr txBox="1"/>
          <p:nvPr>
            <p:ph idx="1" type="subTitle"/>
          </p:nvPr>
        </p:nvSpPr>
        <p:spPr>
          <a:xfrm>
            <a:off x="1371836" y="2881242"/>
            <a:ext cx="640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g2f8e5ee3732_0_462"/>
          <p:cNvSpPr txBox="1"/>
          <p:nvPr>
            <p:ph idx="11" type="ftr"/>
          </p:nvPr>
        </p:nvSpPr>
        <p:spPr>
          <a:xfrm>
            <a:off x="4664243" y="7177380"/>
            <a:ext cx="4389900" cy="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b="0" i="1" sz="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g2f8e5ee3732_0_462"/>
          <p:cNvSpPr txBox="1"/>
          <p:nvPr>
            <p:ph idx="10" type="dt"/>
          </p:nvPr>
        </p:nvSpPr>
        <p:spPr>
          <a:xfrm>
            <a:off x="457279" y="4784920"/>
            <a:ext cx="2103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g2f8e5ee3732_0_462"/>
          <p:cNvSpPr txBox="1"/>
          <p:nvPr>
            <p:ph idx="12" type="sldNum"/>
          </p:nvPr>
        </p:nvSpPr>
        <p:spPr>
          <a:xfrm>
            <a:off x="6584815" y="4784920"/>
            <a:ext cx="2103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9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8e5ee3732_0_468"/>
          <p:cNvSpPr txBox="1"/>
          <p:nvPr>
            <p:ph type="title"/>
          </p:nvPr>
        </p:nvSpPr>
        <p:spPr>
          <a:xfrm>
            <a:off x="3318414" y="193093"/>
            <a:ext cx="25086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400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g2f8e5ee3732_0_468"/>
          <p:cNvSpPr txBox="1"/>
          <p:nvPr>
            <p:ph idx="1" type="body"/>
          </p:nvPr>
        </p:nvSpPr>
        <p:spPr>
          <a:xfrm>
            <a:off x="2109674" y="792196"/>
            <a:ext cx="63819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8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2f8e5ee3732_0_468"/>
          <p:cNvSpPr txBox="1"/>
          <p:nvPr>
            <p:ph idx="11" type="ftr"/>
          </p:nvPr>
        </p:nvSpPr>
        <p:spPr>
          <a:xfrm>
            <a:off x="8312946" y="5043278"/>
            <a:ext cx="7746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1" sz="5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2f8e5ee3732_0_468"/>
          <p:cNvSpPr txBox="1"/>
          <p:nvPr>
            <p:ph idx="10" type="dt"/>
          </p:nvPr>
        </p:nvSpPr>
        <p:spPr>
          <a:xfrm>
            <a:off x="457279" y="4784920"/>
            <a:ext cx="2103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g2f8e5ee3732_0_468"/>
          <p:cNvSpPr txBox="1"/>
          <p:nvPr>
            <p:ph idx="12" type="sldNum"/>
          </p:nvPr>
        </p:nvSpPr>
        <p:spPr>
          <a:xfrm>
            <a:off x="6584814" y="4784920"/>
            <a:ext cx="2103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d97f235b5_0_187"/>
          <p:cNvSpPr txBox="1"/>
          <p:nvPr>
            <p:ph type="title"/>
          </p:nvPr>
        </p:nvSpPr>
        <p:spPr>
          <a:xfrm>
            <a:off x="311754" y="445161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g2ad97f235b5_0_187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dul dan Konten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4"/>
          <p:cNvSpPr txBox="1"/>
          <p:nvPr>
            <p:ph type="title"/>
          </p:nvPr>
        </p:nvSpPr>
        <p:spPr>
          <a:xfrm>
            <a:off x="628759" y="273929"/>
            <a:ext cx="7888070" cy="994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4"/>
          <p:cNvSpPr txBox="1"/>
          <p:nvPr>
            <p:ph idx="1" type="body"/>
          </p:nvPr>
        </p:nvSpPr>
        <p:spPr>
          <a:xfrm>
            <a:off x="628759" y="1369642"/>
            <a:ext cx="7888070" cy="3264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54"/>
          <p:cNvSpPr txBox="1"/>
          <p:nvPr>
            <p:ph idx="10" type="dt"/>
          </p:nvPr>
        </p:nvSpPr>
        <p:spPr>
          <a:xfrm>
            <a:off x="628759" y="4768735"/>
            <a:ext cx="2057757" cy="273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54"/>
          <p:cNvSpPr txBox="1"/>
          <p:nvPr>
            <p:ph idx="11" type="ftr"/>
          </p:nvPr>
        </p:nvSpPr>
        <p:spPr>
          <a:xfrm>
            <a:off x="3029476" y="4768735"/>
            <a:ext cx="3086636" cy="273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4"/>
          <p:cNvSpPr txBox="1"/>
          <p:nvPr>
            <p:ph idx="12" type="sldNum"/>
          </p:nvPr>
        </p:nvSpPr>
        <p:spPr>
          <a:xfrm>
            <a:off x="6459072" y="4768735"/>
            <a:ext cx="2057757" cy="273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d97f235b5_0_175"/>
          <p:cNvSpPr txBox="1"/>
          <p:nvPr>
            <p:ph type="title"/>
          </p:nvPr>
        </p:nvSpPr>
        <p:spPr>
          <a:xfrm>
            <a:off x="311754" y="2151509"/>
            <a:ext cx="85221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9" name="Google Shape;119;g2ad97f235b5_0_175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d97f235b5_0_178"/>
          <p:cNvSpPr txBox="1"/>
          <p:nvPr>
            <p:ph type="title"/>
          </p:nvPr>
        </p:nvSpPr>
        <p:spPr>
          <a:xfrm>
            <a:off x="311754" y="445161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g2ad97f235b5_0_178"/>
          <p:cNvSpPr txBox="1"/>
          <p:nvPr>
            <p:ph idx="1" type="body"/>
          </p:nvPr>
        </p:nvSpPr>
        <p:spPr>
          <a:xfrm>
            <a:off x="311754" y="1152828"/>
            <a:ext cx="8522100" cy="3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g2ad97f235b5_0_178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d97f235b5_0_182"/>
          <p:cNvSpPr txBox="1"/>
          <p:nvPr>
            <p:ph type="title"/>
          </p:nvPr>
        </p:nvSpPr>
        <p:spPr>
          <a:xfrm>
            <a:off x="311754" y="445161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g2ad97f235b5_0_182"/>
          <p:cNvSpPr txBox="1"/>
          <p:nvPr>
            <p:ph idx="1" type="body"/>
          </p:nvPr>
        </p:nvSpPr>
        <p:spPr>
          <a:xfrm>
            <a:off x="311754" y="1152828"/>
            <a:ext cx="4000500" cy="3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" name="Google Shape;127;g2ad97f235b5_0_182"/>
          <p:cNvSpPr txBox="1"/>
          <p:nvPr>
            <p:ph idx="2" type="body"/>
          </p:nvPr>
        </p:nvSpPr>
        <p:spPr>
          <a:xfrm>
            <a:off x="4833232" y="1152828"/>
            <a:ext cx="4000500" cy="3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g2ad97f235b5_0_182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d97f235b5_0_190"/>
          <p:cNvSpPr txBox="1"/>
          <p:nvPr>
            <p:ph type="title"/>
          </p:nvPr>
        </p:nvSpPr>
        <p:spPr>
          <a:xfrm>
            <a:off x="311754" y="555770"/>
            <a:ext cx="2808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50" lIns="91450" spcFirstLastPara="1" rIns="91450" wrap="square" tIns="91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" name="Google Shape;131;g2ad97f235b5_0_190"/>
          <p:cNvSpPr txBox="1"/>
          <p:nvPr>
            <p:ph idx="1" type="body"/>
          </p:nvPr>
        </p:nvSpPr>
        <p:spPr>
          <a:xfrm>
            <a:off x="311754" y="1390026"/>
            <a:ext cx="2808600" cy="3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2" name="Google Shape;132;g2ad97f235b5_0_190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d97f235b5_0_194"/>
          <p:cNvSpPr txBox="1"/>
          <p:nvPr>
            <p:ph type="title"/>
          </p:nvPr>
        </p:nvSpPr>
        <p:spPr>
          <a:xfrm>
            <a:off x="490334" y="450288"/>
            <a:ext cx="6369000" cy="40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5" name="Google Shape;135;g2ad97f235b5_0_194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d97f235b5_0_197"/>
          <p:cNvSpPr/>
          <p:nvPr/>
        </p:nvSpPr>
        <p:spPr>
          <a:xfrm>
            <a:off x="4572788" y="-125"/>
            <a:ext cx="4572900" cy="51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ad97f235b5_0_197"/>
          <p:cNvSpPr txBox="1"/>
          <p:nvPr>
            <p:ph type="title"/>
          </p:nvPr>
        </p:nvSpPr>
        <p:spPr>
          <a:xfrm>
            <a:off x="265546" y="1233553"/>
            <a:ext cx="40458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50" lIns="91450" spcFirstLastPara="1" rIns="91450" wrap="square" tIns="91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9" name="Google Shape;139;g2ad97f235b5_0_197"/>
          <p:cNvSpPr txBox="1"/>
          <p:nvPr>
            <p:ph idx="1" type="subTitle"/>
          </p:nvPr>
        </p:nvSpPr>
        <p:spPr>
          <a:xfrm>
            <a:off x="265546" y="2803933"/>
            <a:ext cx="4045800" cy="1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g2ad97f235b5_0_197"/>
          <p:cNvSpPr txBox="1"/>
          <p:nvPr>
            <p:ph idx="2" type="body"/>
          </p:nvPr>
        </p:nvSpPr>
        <p:spPr>
          <a:xfrm>
            <a:off x="4940351" y="724297"/>
            <a:ext cx="3837600" cy="3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g2ad97f235b5_0_197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ad97f235b5_0_203"/>
          <p:cNvSpPr txBox="1"/>
          <p:nvPr>
            <p:ph idx="1" type="body"/>
          </p:nvPr>
        </p:nvSpPr>
        <p:spPr>
          <a:xfrm>
            <a:off x="311754" y="4231870"/>
            <a:ext cx="59997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4" name="Google Shape;144;g2ad97f235b5_0_203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d97f235b5_0_206"/>
          <p:cNvSpPr txBox="1"/>
          <p:nvPr>
            <p:ph hasCustomPrompt="1" type="title"/>
          </p:nvPr>
        </p:nvSpPr>
        <p:spPr>
          <a:xfrm>
            <a:off x="311754" y="1106464"/>
            <a:ext cx="85221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50" lIns="91450" spcFirstLastPara="1" rIns="91450" wrap="square" tIns="91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7" name="Google Shape;147;g2ad97f235b5_0_206"/>
          <p:cNvSpPr txBox="1"/>
          <p:nvPr>
            <p:ph idx="1" type="body"/>
          </p:nvPr>
        </p:nvSpPr>
        <p:spPr>
          <a:xfrm>
            <a:off x="311754" y="3153190"/>
            <a:ext cx="85221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8" name="Google Shape;148;g2ad97f235b5_0_206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>
  <p:cSld name="Divider 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8343dfcdc_0_1623"/>
          <p:cNvSpPr/>
          <p:nvPr>
            <p:ph idx="2" type="pic"/>
          </p:nvPr>
        </p:nvSpPr>
        <p:spPr>
          <a:xfrm>
            <a:off x="625182" y="967084"/>
            <a:ext cx="3529500" cy="32109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g308343dfcdc_0_1623"/>
          <p:cNvSpPr txBox="1"/>
          <p:nvPr>
            <p:ph type="title"/>
          </p:nvPr>
        </p:nvSpPr>
        <p:spPr>
          <a:xfrm>
            <a:off x="4572786" y="2194496"/>
            <a:ext cx="4031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08343dfcdc_0_1623"/>
          <p:cNvSpPr txBox="1"/>
          <p:nvPr>
            <p:ph idx="1" type="body"/>
          </p:nvPr>
        </p:nvSpPr>
        <p:spPr>
          <a:xfrm>
            <a:off x="4563974" y="2788014"/>
            <a:ext cx="404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g308343dfcdc_0_1623"/>
          <p:cNvSpPr txBox="1"/>
          <p:nvPr>
            <p:ph idx="3" type="body"/>
          </p:nvPr>
        </p:nvSpPr>
        <p:spPr>
          <a:xfrm>
            <a:off x="8490142" y="4771697"/>
            <a:ext cx="42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g308343dfcdc_0_1623"/>
          <p:cNvSpPr txBox="1"/>
          <p:nvPr>
            <p:ph idx="4" type="body"/>
          </p:nvPr>
        </p:nvSpPr>
        <p:spPr>
          <a:xfrm>
            <a:off x="113209" y="4878889"/>
            <a:ext cx="206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80" y="1200521"/>
            <a:ext cx="8231030" cy="339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d97f235b5_0_167"/>
          <p:cNvSpPr txBox="1"/>
          <p:nvPr>
            <p:ph type="title"/>
          </p:nvPr>
        </p:nvSpPr>
        <p:spPr>
          <a:xfrm>
            <a:off x="311754" y="445161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2ad97f235b5_0_167"/>
          <p:cNvSpPr txBox="1"/>
          <p:nvPr>
            <p:ph idx="1" type="body"/>
          </p:nvPr>
        </p:nvSpPr>
        <p:spPr>
          <a:xfrm>
            <a:off x="311754" y="1152828"/>
            <a:ext cx="8522100" cy="3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g2ad97f235b5_0_167"/>
          <p:cNvSpPr txBox="1"/>
          <p:nvPr>
            <p:ph idx="12" type="sldNum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canva.com/ai-image-generator/" TargetMode="External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hyperlink" Target="https://gemini.google.com/app?hl=id" TargetMode="External"/><Relationship Id="rId5" Type="http://schemas.openxmlformats.org/officeDocument/2006/relationships/hyperlink" Target="https://chatgpt.com/" TargetMode="External"/><Relationship Id="rId6" Type="http://schemas.openxmlformats.org/officeDocument/2006/relationships/image" Target="../media/image7.png"/><Relationship Id="rId7" Type="http://schemas.openxmlformats.org/officeDocument/2006/relationships/hyperlink" Target="https://chat.ai-pro.org/chat/deepseek/?keyword=deepseek&amp;adid=764535697837&amp;ppg=03&amp;pp_echo=02&amp;pmt=paydl&amp;gad_source=1&amp;gad_campaignid=20092940101&amp;gclid=CjwKCAjw49vEBhAVEiwADnMbbJeR2eaimTAKZ6Dw-B_ib6C0m9yySmrpUt_Ju48S_lHdCMgDpLBDCxoCB5AQAvD_BwE" TargetMode="External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watch?v=pIy_FkKe7bc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https://drive.google.com/file/d/1hvuLk3ZPO3Lglz7PduTjmpmLc6Uy-j4O/view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585e5a41e_0_0"/>
          <p:cNvSpPr/>
          <p:nvPr/>
        </p:nvSpPr>
        <p:spPr>
          <a:xfrm>
            <a:off x="-1050025" y="1042200"/>
            <a:ext cx="7580100" cy="41028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26585e5a41e_0_0"/>
          <p:cNvSpPr txBox="1"/>
          <p:nvPr>
            <p:ph idx="1" type="subTitle"/>
          </p:nvPr>
        </p:nvSpPr>
        <p:spPr>
          <a:xfrm>
            <a:off x="508650" y="3641075"/>
            <a:ext cx="47895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| </a:t>
            </a:r>
            <a:r>
              <a:rPr lang="en-US" sz="1800">
                <a:solidFill>
                  <a:schemeClr val="lt1"/>
                </a:solidFill>
              </a:rPr>
              <a:t>Samsung Innovation Campus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61" name="Google Shape;161;g26585e5a41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g26585e5a41e_0_0"/>
          <p:cNvCxnSpPr/>
          <p:nvPr/>
        </p:nvCxnSpPr>
        <p:spPr>
          <a:xfrm>
            <a:off x="609925" y="4433975"/>
            <a:ext cx="3933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g26585e5a41e_0_0"/>
          <p:cNvSpPr/>
          <p:nvPr/>
        </p:nvSpPr>
        <p:spPr>
          <a:xfrm>
            <a:off x="1144250" y="4372475"/>
            <a:ext cx="611700" cy="123000"/>
          </a:xfrm>
          <a:prstGeom prst="roundRect">
            <a:avLst>
              <a:gd fmla="val 50000" name="adj"/>
            </a:avLst>
          </a:prstGeom>
          <a:solidFill>
            <a:srgbClr val="FFB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26585e5a41e_0_0"/>
          <p:cNvSpPr/>
          <p:nvPr/>
        </p:nvSpPr>
        <p:spPr>
          <a:xfrm rot="-1974178">
            <a:off x="5563413" y="2328431"/>
            <a:ext cx="1120545" cy="1120545"/>
          </a:xfrm>
          <a:prstGeom prst="ellipse">
            <a:avLst/>
          </a:prstGeom>
          <a:solidFill>
            <a:srgbClr val="FFB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6585e5a41e_0_0"/>
          <p:cNvSpPr/>
          <p:nvPr/>
        </p:nvSpPr>
        <p:spPr>
          <a:xfrm rot="-3576283">
            <a:off x="4993794" y="3068971"/>
            <a:ext cx="3038762" cy="3137189"/>
          </a:xfrm>
          <a:prstGeom prst="ellipse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6585e5a41e_0_0"/>
          <p:cNvSpPr txBox="1"/>
          <p:nvPr>
            <p:ph type="ctrTitle"/>
          </p:nvPr>
        </p:nvSpPr>
        <p:spPr>
          <a:xfrm>
            <a:off x="539688" y="2323925"/>
            <a:ext cx="573572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AI, Prompting, and Productivity Hacks</a:t>
            </a:r>
            <a:endParaRPr b="1" sz="4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g32503468941_0_0"/>
          <p:cNvGrpSpPr/>
          <p:nvPr/>
        </p:nvGrpSpPr>
        <p:grpSpPr>
          <a:xfrm>
            <a:off x="618" y="350"/>
            <a:ext cx="9144000" cy="2081631"/>
            <a:chOff x="0" y="5"/>
            <a:chExt cx="18288000" cy="4162430"/>
          </a:xfrm>
        </p:grpSpPr>
        <p:sp>
          <p:nvSpPr>
            <p:cNvPr id="172" name="Google Shape;172;g32503468941_0_0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2503468941_0_0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g32503468941_0_0"/>
          <p:cNvSpPr txBox="1"/>
          <p:nvPr/>
        </p:nvSpPr>
        <p:spPr>
          <a:xfrm>
            <a:off x="388329" y="2269901"/>
            <a:ext cx="37263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marR="0" rtl="0" algn="l">
              <a:lnSpc>
                <a:spcPct val="119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Kurnia Anwar Ra’if</a:t>
            </a:r>
            <a:endParaRPr b="0" i="0" sz="2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g32503468941_0_0"/>
          <p:cNvSpPr txBox="1"/>
          <p:nvPr/>
        </p:nvSpPr>
        <p:spPr>
          <a:xfrm>
            <a:off x="303483" y="2834820"/>
            <a:ext cx="5007300" cy="17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Highly-motivated Data Scientist</a:t>
            </a:r>
            <a:endParaRPr b="0" i="0" sz="14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Senior Data &amp; AI Platform @ PT. Mastersystem Infotama</a:t>
            </a:r>
            <a:endParaRPr b="0" i="0" sz="14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Data Scientist @ PT. KitaLulus International</a:t>
            </a:r>
            <a:endParaRPr b="0" i="0" sz="14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Data Scientist @ PT. Sharing Vision– BRI Consultant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Software Engineering @ PT. AILIMA Geothermal</a:t>
            </a:r>
            <a:endParaRPr b="0" i="0" sz="14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Mentor &amp; Instructor DS/BI/AI ML @ dibimbing.id</a:t>
            </a:r>
            <a:endParaRPr b="0" i="0" sz="14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3250346894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8533" y="2277010"/>
            <a:ext cx="3281588" cy="246119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2503468941_0_0"/>
          <p:cNvSpPr/>
          <p:nvPr/>
        </p:nvSpPr>
        <p:spPr>
          <a:xfrm>
            <a:off x="8603120" y="4610011"/>
            <a:ext cx="542100" cy="534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585e5a41e_0_267"/>
          <p:cNvSpPr txBox="1"/>
          <p:nvPr/>
        </p:nvSpPr>
        <p:spPr>
          <a:xfrm>
            <a:off x="191561" y="186550"/>
            <a:ext cx="71121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8A8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26585e5a41e_0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6585e5a41e_0_267"/>
          <p:cNvSpPr/>
          <p:nvPr/>
        </p:nvSpPr>
        <p:spPr>
          <a:xfrm>
            <a:off x="6118325" y="1259500"/>
            <a:ext cx="4460700" cy="40095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g26585e5a41e_0_267"/>
          <p:cNvSpPr/>
          <p:nvPr/>
        </p:nvSpPr>
        <p:spPr>
          <a:xfrm>
            <a:off x="5297525" y="3825500"/>
            <a:ext cx="3012300" cy="1443600"/>
          </a:xfrm>
          <a:prstGeom prst="parallelogram">
            <a:avLst>
              <a:gd fmla="val 25000" name="adj"/>
            </a:avLst>
          </a:prstGeom>
          <a:solidFill>
            <a:srgbClr val="FFB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26585e5a41e_0_267"/>
          <p:cNvSpPr/>
          <p:nvPr/>
        </p:nvSpPr>
        <p:spPr>
          <a:xfrm>
            <a:off x="6118325" y="3371000"/>
            <a:ext cx="1321500" cy="9171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26585e5a41e_0_267"/>
          <p:cNvSpPr txBox="1"/>
          <p:nvPr/>
        </p:nvSpPr>
        <p:spPr>
          <a:xfrm>
            <a:off x="191560" y="1111340"/>
            <a:ext cx="5800500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AI for Productivity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Generative AI?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tools: ChatGPT, Gemini, DeepSeek, Canva AI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Engineering 101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 Crafting effective prompts for work-specific tasks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2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Exercise: “One Problem, Multiple Prompts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2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Case Applications in Educational Sector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8343dfcdc_0_292"/>
          <p:cNvSpPr txBox="1"/>
          <p:nvPr>
            <p:ph idx="4294967295" type="title"/>
          </p:nvPr>
        </p:nvSpPr>
        <p:spPr>
          <a:xfrm>
            <a:off x="135375" y="1878849"/>
            <a:ext cx="53052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34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8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Introduction to AI for Productivity</a:t>
            </a:r>
            <a:endParaRPr/>
          </a:p>
        </p:txBody>
      </p:sp>
      <p:pic>
        <p:nvPicPr>
          <p:cNvPr id="193" name="Google Shape;193;g308343dfcdc_0_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08343dfcdc_0_292"/>
          <p:cNvSpPr/>
          <p:nvPr/>
        </p:nvSpPr>
        <p:spPr>
          <a:xfrm rot="-1974178">
            <a:off x="5763913" y="490531"/>
            <a:ext cx="1120545" cy="1120545"/>
          </a:xfrm>
          <a:prstGeom prst="ellipse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g308343dfcdc_0_292"/>
          <p:cNvSpPr/>
          <p:nvPr/>
        </p:nvSpPr>
        <p:spPr>
          <a:xfrm rot="-4242470">
            <a:off x="6504201" y="739181"/>
            <a:ext cx="2301858" cy="2301858"/>
          </a:xfrm>
          <a:prstGeom prst="ellipse">
            <a:avLst/>
          </a:prstGeom>
          <a:solidFill>
            <a:srgbClr val="48A8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g308343dfcdc_0_292"/>
          <p:cNvSpPr/>
          <p:nvPr/>
        </p:nvSpPr>
        <p:spPr>
          <a:xfrm rot="-3576382">
            <a:off x="5026242" y="1916563"/>
            <a:ext cx="3914117" cy="3914117"/>
          </a:xfrm>
          <a:prstGeom prst="ellipse">
            <a:avLst/>
          </a:prstGeom>
          <a:solidFill>
            <a:srgbClr val="FFB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46"/>
          <p:cNvGrpSpPr/>
          <p:nvPr/>
        </p:nvGrpSpPr>
        <p:grpSpPr>
          <a:xfrm>
            <a:off x="7414325" y="1245200"/>
            <a:ext cx="4879795" cy="4009500"/>
            <a:chOff x="7414325" y="1245200"/>
            <a:chExt cx="4879795" cy="4009500"/>
          </a:xfrm>
        </p:grpSpPr>
        <p:sp>
          <p:nvSpPr>
            <p:cNvPr id="202" name="Google Shape;202;p46"/>
            <p:cNvSpPr/>
            <p:nvPr/>
          </p:nvSpPr>
          <p:spPr>
            <a:xfrm>
              <a:off x="7833420" y="1245200"/>
              <a:ext cx="4460700" cy="4009500"/>
            </a:xfrm>
            <a:prstGeom prst="parallelogram">
              <a:avLst>
                <a:gd fmla="val 25000" name="adj"/>
              </a:avLst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3" name="Google Shape;203;p46"/>
            <p:cNvSpPr/>
            <p:nvPr/>
          </p:nvSpPr>
          <p:spPr>
            <a:xfrm>
              <a:off x="7414325" y="3811100"/>
              <a:ext cx="3012300" cy="1443600"/>
            </a:xfrm>
            <a:prstGeom prst="parallelogram">
              <a:avLst>
                <a:gd fmla="val 25000" name="adj"/>
              </a:avLst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46"/>
            <p:cNvSpPr/>
            <p:nvPr/>
          </p:nvSpPr>
          <p:spPr>
            <a:xfrm>
              <a:off x="8235125" y="3356600"/>
              <a:ext cx="1321500" cy="917100"/>
            </a:xfrm>
            <a:prstGeom prst="parallelogram">
              <a:avLst>
                <a:gd fmla="val 25000" name="adj"/>
              </a:avLst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05" name="Google Shape;205;p46"/>
          <p:cNvSpPr txBox="1"/>
          <p:nvPr>
            <p:ph type="title"/>
          </p:nvPr>
        </p:nvSpPr>
        <p:spPr>
          <a:xfrm>
            <a:off x="375139" y="193093"/>
            <a:ext cx="703918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Apa itu Generative AI?</a:t>
            </a:r>
            <a:br>
              <a:rPr lang="en-US"/>
            </a:br>
            <a:endParaRPr/>
          </a:p>
        </p:txBody>
      </p:sp>
      <p:pic>
        <p:nvPicPr>
          <p:cNvPr id="206" name="Google Shape;20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420" y="8416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6"/>
          <p:cNvSpPr/>
          <p:nvPr/>
        </p:nvSpPr>
        <p:spPr>
          <a:xfrm>
            <a:off x="2161011" y="747091"/>
            <a:ext cx="4124708" cy="4009499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52" r="-178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g308343dfcdc_0_300"/>
          <p:cNvGrpSpPr/>
          <p:nvPr/>
        </p:nvGrpSpPr>
        <p:grpSpPr>
          <a:xfrm>
            <a:off x="7414325" y="1245200"/>
            <a:ext cx="4879795" cy="4009500"/>
            <a:chOff x="7414325" y="1245200"/>
            <a:chExt cx="4879795" cy="4009500"/>
          </a:xfrm>
        </p:grpSpPr>
        <p:sp>
          <p:nvSpPr>
            <p:cNvPr id="213" name="Google Shape;213;g308343dfcdc_0_300"/>
            <p:cNvSpPr/>
            <p:nvPr/>
          </p:nvSpPr>
          <p:spPr>
            <a:xfrm>
              <a:off x="7833420" y="1245200"/>
              <a:ext cx="4460700" cy="4009500"/>
            </a:xfrm>
            <a:prstGeom prst="parallelogram">
              <a:avLst>
                <a:gd fmla="val 25000" name="adj"/>
              </a:avLst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" name="Google Shape;214;g308343dfcdc_0_300"/>
            <p:cNvSpPr/>
            <p:nvPr/>
          </p:nvSpPr>
          <p:spPr>
            <a:xfrm>
              <a:off x="7414325" y="3811100"/>
              <a:ext cx="3012300" cy="1443600"/>
            </a:xfrm>
            <a:prstGeom prst="parallelogram">
              <a:avLst>
                <a:gd fmla="val 25000" name="adj"/>
              </a:avLst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g308343dfcdc_0_300"/>
            <p:cNvSpPr/>
            <p:nvPr/>
          </p:nvSpPr>
          <p:spPr>
            <a:xfrm>
              <a:off x="8235125" y="3356600"/>
              <a:ext cx="1321500" cy="917100"/>
            </a:xfrm>
            <a:prstGeom prst="parallelogram">
              <a:avLst>
                <a:gd fmla="val 25000" name="adj"/>
              </a:avLst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6" name="Google Shape;216;g308343dfcdc_0_300"/>
          <p:cNvSpPr txBox="1"/>
          <p:nvPr>
            <p:ph type="title"/>
          </p:nvPr>
        </p:nvSpPr>
        <p:spPr>
          <a:xfrm>
            <a:off x="375139" y="193093"/>
            <a:ext cx="703918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Apa itu Generative AI?</a:t>
            </a:r>
            <a:br>
              <a:rPr lang="en-US"/>
            </a:br>
            <a:endParaRPr/>
          </a:p>
        </p:txBody>
      </p:sp>
      <p:sp>
        <p:nvSpPr>
          <p:cNvPr id="217" name="Google Shape;217;g308343dfcdc_0_300"/>
          <p:cNvSpPr txBox="1"/>
          <p:nvPr/>
        </p:nvSpPr>
        <p:spPr>
          <a:xfrm>
            <a:off x="375139" y="747091"/>
            <a:ext cx="6142892" cy="1478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6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Generative AI adalah jenis </a:t>
            </a:r>
            <a:r>
              <a:rPr b="1" i="0" lang="en-US" sz="1400" u="none" cap="none" strike="noStrike">
                <a:solidFill>
                  <a:srgbClr val="0C5ADB"/>
                </a:solidFill>
                <a:latin typeface="Lora"/>
                <a:ea typeface="Lora"/>
                <a:cs typeface="Lora"/>
                <a:sym typeface="Lora"/>
              </a:rPr>
              <a:t>kecerdasan buatan </a:t>
            </a:r>
            <a:r>
              <a:rPr b="0" i="0" lang="en-US" sz="14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yang bisa menciptakan konten baru seperti teks, gambar, suara, dan video hanya dari instruksi yang kita perintahkan.</a:t>
            </a:r>
            <a:endParaRPr/>
          </a:p>
        </p:txBody>
      </p:sp>
      <p:sp>
        <p:nvSpPr>
          <p:cNvPr id="218" name="Google Shape;218;g308343dfcdc_0_300"/>
          <p:cNvSpPr txBox="1"/>
          <p:nvPr/>
        </p:nvSpPr>
        <p:spPr>
          <a:xfrm>
            <a:off x="1585418" y="2284017"/>
            <a:ext cx="6146800" cy="99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6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AI hanyalah robot yang dilatih dengan data yang “Sangat Banyak” sehingga dia menyimpan dan mempelajari pola yang ada didalam data.</a:t>
            </a:r>
            <a:endParaRPr/>
          </a:p>
        </p:txBody>
      </p:sp>
      <p:pic>
        <p:nvPicPr>
          <p:cNvPr id="219" name="Google Shape;219;g308343dfcdc_0_3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420" y="8416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08343dfcdc_0_300"/>
          <p:cNvSpPr/>
          <p:nvPr/>
        </p:nvSpPr>
        <p:spPr>
          <a:xfrm rot="979763">
            <a:off x="617649" y="2390528"/>
            <a:ext cx="935462" cy="364031"/>
          </a:xfrm>
          <a:custGeom>
            <a:rect b="b" l="l" r="r" t="t"/>
            <a:pathLst>
              <a:path extrusionOk="0" h="359376" w="1272129">
                <a:moveTo>
                  <a:pt x="0" y="0"/>
                </a:moveTo>
                <a:lnTo>
                  <a:pt x="1272129" y="0"/>
                </a:lnTo>
                <a:lnTo>
                  <a:pt x="1272129" y="359376"/>
                </a:lnTo>
                <a:lnTo>
                  <a:pt x="0" y="3593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g308343dfcdc_0_300"/>
          <p:cNvSpPr txBox="1"/>
          <p:nvPr/>
        </p:nvSpPr>
        <p:spPr>
          <a:xfrm>
            <a:off x="1413370" y="3266945"/>
            <a:ext cx="6146800" cy="99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6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Generative AI </a:t>
            </a:r>
            <a:r>
              <a:rPr b="0" i="0" lang="en-US" sz="14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= AI yang bisa membuat konten baru seperti </a:t>
            </a:r>
            <a:r>
              <a:rPr b="1" i="0" lang="en-US" sz="14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teks, gambar, audio, video.</a:t>
            </a:r>
            <a:endParaRPr/>
          </a:p>
        </p:txBody>
      </p:sp>
      <p:grpSp>
        <p:nvGrpSpPr>
          <p:cNvPr id="222" name="Google Shape;222;g308343dfcdc_0_300"/>
          <p:cNvGrpSpPr/>
          <p:nvPr/>
        </p:nvGrpSpPr>
        <p:grpSpPr>
          <a:xfrm>
            <a:off x="1243600" y="4189100"/>
            <a:ext cx="5780670" cy="606774"/>
            <a:chOff x="0" y="-57150"/>
            <a:chExt cx="2379562" cy="190498"/>
          </a:xfrm>
        </p:grpSpPr>
        <p:sp>
          <p:nvSpPr>
            <p:cNvPr id="223" name="Google Shape;223;g308343dfcdc_0_300"/>
            <p:cNvSpPr/>
            <p:nvPr/>
          </p:nvSpPr>
          <p:spPr>
            <a:xfrm>
              <a:off x="0" y="0"/>
              <a:ext cx="2379562" cy="133348"/>
            </a:xfrm>
            <a:custGeom>
              <a:rect b="b" l="l" r="r" t="t"/>
              <a:pathLst>
                <a:path extrusionOk="0" h="133348" w="2379562">
                  <a:moveTo>
                    <a:pt x="43701" y="0"/>
                  </a:moveTo>
                  <a:lnTo>
                    <a:pt x="2335860" y="0"/>
                  </a:lnTo>
                  <a:cubicBezTo>
                    <a:pt x="2347451" y="0"/>
                    <a:pt x="2358566" y="4604"/>
                    <a:pt x="2366762" y="12800"/>
                  </a:cubicBezTo>
                  <a:cubicBezTo>
                    <a:pt x="2374957" y="20995"/>
                    <a:pt x="2379562" y="32111"/>
                    <a:pt x="2379562" y="43701"/>
                  </a:cubicBezTo>
                  <a:lnTo>
                    <a:pt x="2379562" y="89647"/>
                  </a:lnTo>
                  <a:cubicBezTo>
                    <a:pt x="2379562" y="101237"/>
                    <a:pt x="2374957" y="112353"/>
                    <a:pt x="2366762" y="120548"/>
                  </a:cubicBezTo>
                  <a:cubicBezTo>
                    <a:pt x="2358566" y="128744"/>
                    <a:pt x="2347451" y="133348"/>
                    <a:pt x="2335860" y="133348"/>
                  </a:cubicBezTo>
                  <a:lnTo>
                    <a:pt x="43701" y="133348"/>
                  </a:lnTo>
                  <a:cubicBezTo>
                    <a:pt x="19566" y="133348"/>
                    <a:pt x="0" y="113782"/>
                    <a:pt x="0" y="89647"/>
                  </a:cubicBezTo>
                  <a:lnTo>
                    <a:pt x="0" y="43701"/>
                  </a:lnTo>
                  <a:cubicBezTo>
                    <a:pt x="0" y="32111"/>
                    <a:pt x="4604" y="20995"/>
                    <a:pt x="12800" y="12800"/>
                  </a:cubicBezTo>
                  <a:cubicBezTo>
                    <a:pt x="20995" y="4604"/>
                    <a:pt x="32111" y="0"/>
                    <a:pt x="43701" y="0"/>
                  </a:cubicBezTo>
                  <a:close/>
                </a:path>
              </a:pathLst>
            </a:custGeom>
            <a:gradFill>
              <a:gsLst>
                <a:gs pos="0">
                  <a:srgbClr val="FFC960"/>
                </a:gs>
                <a:gs pos="100000">
                  <a:srgbClr val="FFA9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g308343dfcdc_0_300"/>
            <p:cNvSpPr txBox="1"/>
            <p:nvPr/>
          </p:nvSpPr>
          <p:spPr>
            <a:xfrm>
              <a:off x="0" y="-57150"/>
              <a:ext cx="2379562" cy="190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66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g308343dfcdc_0_300"/>
          <p:cNvSpPr txBox="1"/>
          <p:nvPr/>
        </p:nvSpPr>
        <p:spPr>
          <a:xfrm>
            <a:off x="1243595" y="4458158"/>
            <a:ext cx="578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36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Contoh populer: ChatGPT, Gemini, DeepSeek, Canva AI, etc.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7"/>
          <p:cNvGrpSpPr/>
          <p:nvPr/>
        </p:nvGrpSpPr>
        <p:grpSpPr>
          <a:xfrm>
            <a:off x="7414325" y="1245200"/>
            <a:ext cx="4879795" cy="4009500"/>
            <a:chOff x="7414325" y="1245200"/>
            <a:chExt cx="4879795" cy="4009500"/>
          </a:xfrm>
        </p:grpSpPr>
        <p:sp>
          <p:nvSpPr>
            <p:cNvPr id="231" name="Google Shape;231;p47"/>
            <p:cNvSpPr/>
            <p:nvPr/>
          </p:nvSpPr>
          <p:spPr>
            <a:xfrm>
              <a:off x="7833420" y="1245200"/>
              <a:ext cx="4460700" cy="4009500"/>
            </a:xfrm>
            <a:prstGeom prst="parallelogram">
              <a:avLst>
                <a:gd fmla="val 25000" name="adj"/>
              </a:avLst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47"/>
            <p:cNvSpPr/>
            <p:nvPr/>
          </p:nvSpPr>
          <p:spPr>
            <a:xfrm>
              <a:off x="7414325" y="3811100"/>
              <a:ext cx="3012300" cy="1443600"/>
            </a:xfrm>
            <a:prstGeom prst="parallelogram">
              <a:avLst>
                <a:gd fmla="val 25000" name="adj"/>
              </a:avLst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47"/>
            <p:cNvSpPr/>
            <p:nvPr/>
          </p:nvSpPr>
          <p:spPr>
            <a:xfrm>
              <a:off x="8235125" y="3356600"/>
              <a:ext cx="1321500" cy="917100"/>
            </a:xfrm>
            <a:prstGeom prst="parallelogram">
              <a:avLst>
                <a:gd fmla="val 25000" name="adj"/>
              </a:avLst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4" name="Google Shape;234;p47"/>
          <p:cNvSpPr txBox="1"/>
          <p:nvPr>
            <p:ph type="title"/>
          </p:nvPr>
        </p:nvSpPr>
        <p:spPr>
          <a:xfrm>
            <a:off x="375139" y="193093"/>
            <a:ext cx="7039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Apa itu Generative AI?</a:t>
            </a:r>
            <a:endParaRPr/>
          </a:p>
        </p:txBody>
      </p:sp>
      <p:pic>
        <p:nvPicPr>
          <p:cNvPr id="235" name="Google Shape;2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420" y="8416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7"/>
          <p:cNvSpPr/>
          <p:nvPr/>
        </p:nvSpPr>
        <p:spPr>
          <a:xfrm>
            <a:off x="1301904" y="911600"/>
            <a:ext cx="6604832" cy="2593599"/>
          </a:xfrm>
          <a:custGeom>
            <a:rect b="b" l="l" r="r" t="t"/>
            <a:pathLst>
              <a:path extrusionOk="0" h="3452598" w="9426890">
                <a:moveTo>
                  <a:pt x="0" y="0"/>
                </a:moveTo>
                <a:lnTo>
                  <a:pt x="9426890" y="0"/>
                </a:lnTo>
                <a:lnTo>
                  <a:pt x="9426890" y="3452599"/>
                </a:lnTo>
                <a:lnTo>
                  <a:pt x="0" y="3452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7" name="Google Shape;23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139" y="3811100"/>
            <a:ext cx="7531597" cy="1003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48"/>
          <p:cNvGrpSpPr/>
          <p:nvPr/>
        </p:nvGrpSpPr>
        <p:grpSpPr>
          <a:xfrm>
            <a:off x="7414325" y="1245200"/>
            <a:ext cx="4879795" cy="4009500"/>
            <a:chOff x="7414325" y="1245200"/>
            <a:chExt cx="4879795" cy="4009500"/>
          </a:xfrm>
        </p:grpSpPr>
        <p:sp>
          <p:nvSpPr>
            <p:cNvPr id="243" name="Google Shape;243;p48"/>
            <p:cNvSpPr/>
            <p:nvPr/>
          </p:nvSpPr>
          <p:spPr>
            <a:xfrm>
              <a:off x="7833420" y="1245200"/>
              <a:ext cx="4460700" cy="4009500"/>
            </a:xfrm>
            <a:prstGeom prst="parallelogram">
              <a:avLst>
                <a:gd fmla="val 25000" name="adj"/>
              </a:avLst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48"/>
            <p:cNvSpPr/>
            <p:nvPr/>
          </p:nvSpPr>
          <p:spPr>
            <a:xfrm>
              <a:off x="7414325" y="3811100"/>
              <a:ext cx="3012300" cy="1443600"/>
            </a:xfrm>
            <a:prstGeom prst="parallelogram">
              <a:avLst>
                <a:gd fmla="val 25000" name="adj"/>
              </a:avLst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48"/>
            <p:cNvSpPr/>
            <p:nvPr/>
          </p:nvSpPr>
          <p:spPr>
            <a:xfrm>
              <a:off x="8235125" y="3356600"/>
              <a:ext cx="1321500" cy="917100"/>
            </a:xfrm>
            <a:prstGeom prst="parallelogram">
              <a:avLst>
                <a:gd fmla="val 25000" name="adj"/>
              </a:avLst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6" name="Google Shape;246;p48"/>
          <p:cNvSpPr txBox="1"/>
          <p:nvPr>
            <p:ph type="title"/>
          </p:nvPr>
        </p:nvSpPr>
        <p:spPr>
          <a:xfrm>
            <a:off x="375139" y="193093"/>
            <a:ext cx="7039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Key Tools :</a:t>
            </a:r>
            <a:endParaRPr/>
          </a:p>
        </p:txBody>
      </p:sp>
      <p:pic>
        <p:nvPicPr>
          <p:cNvPr id="247" name="Google Shape;24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420" y="84169"/>
            <a:ext cx="1184604" cy="360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8"/>
          <p:cNvGrpSpPr/>
          <p:nvPr/>
        </p:nvGrpSpPr>
        <p:grpSpPr>
          <a:xfrm>
            <a:off x="669382" y="1164914"/>
            <a:ext cx="1416000" cy="1593237"/>
            <a:chOff x="510066" y="1245200"/>
            <a:chExt cx="1416000" cy="1593237"/>
          </a:xfrm>
        </p:grpSpPr>
        <p:sp>
          <p:nvSpPr>
            <p:cNvPr id="249" name="Google Shape;249;p48"/>
            <p:cNvSpPr/>
            <p:nvPr/>
          </p:nvSpPr>
          <p:spPr>
            <a:xfrm>
              <a:off x="587037" y="1245200"/>
              <a:ext cx="1262069" cy="1360668"/>
            </a:xfrm>
            <a:custGeom>
              <a:rect b="b" l="l" r="r" t="t"/>
              <a:pathLst>
                <a:path extrusionOk="0"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141" r="-141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8"/>
            <p:cNvSpPr txBox="1"/>
            <p:nvPr/>
          </p:nvSpPr>
          <p:spPr>
            <a:xfrm>
              <a:off x="510066" y="2653637"/>
              <a:ext cx="1416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11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sng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ChatGPT</a:t>
              </a:r>
              <a:endParaRPr b="1" i="0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251" name="Google Shape;251;p48"/>
          <p:cNvGrpSpPr/>
          <p:nvPr/>
        </p:nvGrpSpPr>
        <p:grpSpPr>
          <a:xfrm>
            <a:off x="2583685" y="617368"/>
            <a:ext cx="4258269" cy="1057423"/>
            <a:chOff x="2550339" y="1396822"/>
            <a:chExt cx="4258269" cy="1057423"/>
          </a:xfrm>
        </p:grpSpPr>
        <p:pic>
          <p:nvPicPr>
            <p:cNvPr id="252" name="Google Shape;252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50339" y="1396822"/>
              <a:ext cx="4258269" cy="1057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48"/>
            <p:cNvSpPr txBox="1"/>
            <p:nvPr/>
          </p:nvSpPr>
          <p:spPr>
            <a:xfrm>
              <a:off x="3971456" y="2260764"/>
              <a:ext cx="1416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11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sng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DeepSeek</a:t>
              </a:r>
              <a:endParaRPr b="1" i="0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254" name="Google Shape;254;p48"/>
          <p:cNvGrpSpPr/>
          <p:nvPr/>
        </p:nvGrpSpPr>
        <p:grpSpPr>
          <a:xfrm>
            <a:off x="2186833" y="2293256"/>
            <a:ext cx="2125005" cy="2126688"/>
            <a:chOff x="1767019" y="2300900"/>
            <a:chExt cx="2125005" cy="2126688"/>
          </a:xfrm>
        </p:grpSpPr>
        <p:pic>
          <p:nvPicPr>
            <p:cNvPr id="255" name="Google Shape;255;p4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993924" y="2300900"/>
              <a:ext cx="1898100" cy="189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48"/>
            <p:cNvSpPr txBox="1"/>
            <p:nvPr/>
          </p:nvSpPr>
          <p:spPr>
            <a:xfrm>
              <a:off x="1767019" y="4119811"/>
              <a:ext cx="18981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sng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  <a:hlinkClick r:id="rId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Gemini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48"/>
          <p:cNvGrpSpPr/>
          <p:nvPr/>
        </p:nvGrpSpPr>
        <p:grpSpPr>
          <a:xfrm>
            <a:off x="4906453" y="2042866"/>
            <a:ext cx="2717420" cy="1910069"/>
            <a:chOff x="4572794" y="2143946"/>
            <a:chExt cx="3021925" cy="2068990"/>
          </a:xfrm>
        </p:grpSpPr>
        <p:pic>
          <p:nvPicPr>
            <p:cNvPr id="258" name="Google Shape;258;p4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72794" y="2143946"/>
              <a:ext cx="3021925" cy="1692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48"/>
            <p:cNvSpPr txBox="1"/>
            <p:nvPr/>
          </p:nvSpPr>
          <p:spPr>
            <a:xfrm>
              <a:off x="5200110" y="3879551"/>
              <a:ext cx="1732280" cy="333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sng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  <a:hlinkClick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Canva AI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9"/>
          <p:cNvSpPr txBox="1"/>
          <p:nvPr>
            <p:ph idx="4294967295" type="title"/>
          </p:nvPr>
        </p:nvSpPr>
        <p:spPr>
          <a:xfrm>
            <a:off x="135375" y="1878849"/>
            <a:ext cx="53052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34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8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Prompt Engineering 101</a:t>
            </a:r>
            <a:endParaRPr/>
          </a:p>
        </p:txBody>
      </p:sp>
      <p:pic>
        <p:nvPicPr>
          <p:cNvPr id="265" name="Google Shape;2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9"/>
          <p:cNvSpPr/>
          <p:nvPr/>
        </p:nvSpPr>
        <p:spPr>
          <a:xfrm rot="-1974178">
            <a:off x="5763913" y="490531"/>
            <a:ext cx="1120545" cy="1120545"/>
          </a:xfrm>
          <a:prstGeom prst="ellipse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49"/>
          <p:cNvSpPr/>
          <p:nvPr/>
        </p:nvSpPr>
        <p:spPr>
          <a:xfrm rot="-4242470">
            <a:off x="6504201" y="739181"/>
            <a:ext cx="2301858" cy="2301858"/>
          </a:xfrm>
          <a:prstGeom prst="ellipse">
            <a:avLst/>
          </a:prstGeom>
          <a:solidFill>
            <a:srgbClr val="48A8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49"/>
          <p:cNvSpPr/>
          <p:nvPr/>
        </p:nvSpPr>
        <p:spPr>
          <a:xfrm rot="-3576382">
            <a:off x="5026242" y="1916563"/>
            <a:ext cx="3914117" cy="3914117"/>
          </a:xfrm>
          <a:prstGeom prst="ellipse">
            <a:avLst/>
          </a:prstGeom>
          <a:solidFill>
            <a:srgbClr val="FFB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50"/>
          <p:cNvGrpSpPr/>
          <p:nvPr/>
        </p:nvGrpSpPr>
        <p:grpSpPr>
          <a:xfrm>
            <a:off x="7414325" y="1245200"/>
            <a:ext cx="4879795" cy="4009500"/>
            <a:chOff x="7414325" y="1245200"/>
            <a:chExt cx="4879795" cy="4009500"/>
          </a:xfrm>
        </p:grpSpPr>
        <p:sp>
          <p:nvSpPr>
            <p:cNvPr id="274" name="Google Shape;274;p50"/>
            <p:cNvSpPr/>
            <p:nvPr/>
          </p:nvSpPr>
          <p:spPr>
            <a:xfrm>
              <a:off x="7833420" y="1245200"/>
              <a:ext cx="4460700" cy="4009500"/>
            </a:xfrm>
            <a:prstGeom prst="parallelogram">
              <a:avLst>
                <a:gd fmla="val 25000" name="adj"/>
              </a:avLst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5" name="Google Shape;275;p50"/>
            <p:cNvSpPr/>
            <p:nvPr/>
          </p:nvSpPr>
          <p:spPr>
            <a:xfrm>
              <a:off x="7414325" y="3811100"/>
              <a:ext cx="3012300" cy="1443600"/>
            </a:xfrm>
            <a:prstGeom prst="parallelogram">
              <a:avLst>
                <a:gd fmla="val 25000" name="adj"/>
              </a:avLst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6" name="Google Shape;276;p50"/>
            <p:cNvSpPr/>
            <p:nvPr/>
          </p:nvSpPr>
          <p:spPr>
            <a:xfrm>
              <a:off x="8235125" y="3356600"/>
              <a:ext cx="1321500" cy="917100"/>
            </a:xfrm>
            <a:prstGeom prst="parallelogram">
              <a:avLst>
                <a:gd fmla="val 25000" name="adj"/>
              </a:avLst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77" name="Google Shape;277;p50"/>
          <p:cNvSpPr txBox="1"/>
          <p:nvPr>
            <p:ph type="title"/>
          </p:nvPr>
        </p:nvSpPr>
        <p:spPr>
          <a:xfrm>
            <a:off x="375139" y="193093"/>
            <a:ext cx="7039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Crafting effective prompts for work-specific tasks</a:t>
            </a:r>
            <a:endParaRPr/>
          </a:p>
        </p:txBody>
      </p:sp>
      <p:pic>
        <p:nvPicPr>
          <p:cNvPr id="278" name="Google Shape;27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420" y="84169"/>
            <a:ext cx="1184604" cy="360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50"/>
          <p:cNvGrpSpPr/>
          <p:nvPr/>
        </p:nvGrpSpPr>
        <p:grpSpPr>
          <a:xfrm>
            <a:off x="734006" y="866754"/>
            <a:ext cx="7011988" cy="3407337"/>
            <a:chOff x="2013043" y="2017394"/>
            <a:chExt cx="14032395" cy="7075035"/>
          </a:xfrm>
        </p:grpSpPr>
        <p:grpSp>
          <p:nvGrpSpPr>
            <p:cNvPr id="280" name="Google Shape;280;p50"/>
            <p:cNvGrpSpPr/>
            <p:nvPr/>
          </p:nvGrpSpPr>
          <p:grpSpPr>
            <a:xfrm>
              <a:off x="2265610" y="4545740"/>
              <a:ext cx="13779828" cy="1098067"/>
              <a:chOff x="0" y="-57150"/>
              <a:chExt cx="11793281" cy="939765"/>
            </a:xfrm>
          </p:grpSpPr>
          <p:sp>
            <p:nvSpPr>
              <p:cNvPr id="281" name="Google Shape;281;p50"/>
              <p:cNvSpPr/>
              <p:nvPr/>
            </p:nvSpPr>
            <p:spPr>
              <a:xfrm>
                <a:off x="0" y="0"/>
                <a:ext cx="11793281" cy="882615"/>
              </a:xfrm>
              <a:custGeom>
                <a:rect b="b" l="l" r="r" t="t"/>
                <a:pathLst>
                  <a:path extrusionOk="0" h="882615" w="11793281">
                    <a:moveTo>
                      <a:pt x="13484" y="0"/>
                    </a:moveTo>
                    <a:lnTo>
                      <a:pt x="11779797" y="0"/>
                    </a:lnTo>
                    <a:cubicBezTo>
                      <a:pt x="11787244" y="0"/>
                      <a:pt x="11793281" y="6037"/>
                      <a:pt x="11793281" y="13484"/>
                    </a:cubicBezTo>
                    <a:lnTo>
                      <a:pt x="11793281" y="869131"/>
                    </a:lnTo>
                    <a:cubicBezTo>
                      <a:pt x="11793281" y="876578"/>
                      <a:pt x="11787244" y="882615"/>
                      <a:pt x="11779797" y="882615"/>
                    </a:cubicBezTo>
                    <a:lnTo>
                      <a:pt x="13484" y="882615"/>
                    </a:lnTo>
                    <a:cubicBezTo>
                      <a:pt x="6037" y="882615"/>
                      <a:pt x="0" y="876578"/>
                      <a:pt x="0" y="869131"/>
                    </a:cubicBezTo>
                    <a:lnTo>
                      <a:pt x="0" y="13484"/>
                    </a:lnTo>
                    <a:cubicBezTo>
                      <a:pt x="0" y="6037"/>
                      <a:pt x="6037" y="0"/>
                      <a:pt x="134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FFFF">
                      <a:alpha val="14901"/>
                    </a:srgbClr>
                  </a:gs>
                  <a:gs pos="100000">
                    <a:srgbClr val="F9FFFF">
                      <a:alpha val="24705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50"/>
              <p:cNvSpPr txBox="1"/>
              <p:nvPr/>
            </p:nvSpPr>
            <p:spPr>
              <a:xfrm>
                <a:off x="0" y="-57150"/>
                <a:ext cx="11793281" cy="939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3" name="Google Shape;283;p50"/>
            <p:cNvGrpSpPr/>
            <p:nvPr/>
          </p:nvGrpSpPr>
          <p:grpSpPr>
            <a:xfrm>
              <a:off x="2265610" y="6293611"/>
              <a:ext cx="13779828" cy="1098067"/>
              <a:chOff x="0" y="-57150"/>
              <a:chExt cx="11793281" cy="939765"/>
            </a:xfrm>
          </p:grpSpPr>
          <p:sp>
            <p:nvSpPr>
              <p:cNvPr id="284" name="Google Shape;284;p50"/>
              <p:cNvSpPr/>
              <p:nvPr/>
            </p:nvSpPr>
            <p:spPr>
              <a:xfrm>
                <a:off x="0" y="0"/>
                <a:ext cx="11793281" cy="882615"/>
              </a:xfrm>
              <a:custGeom>
                <a:rect b="b" l="l" r="r" t="t"/>
                <a:pathLst>
                  <a:path extrusionOk="0" h="882615" w="11793281">
                    <a:moveTo>
                      <a:pt x="13484" y="0"/>
                    </a:moveTo>
                    <a:lnTo>
                      <a:pt x="11779797" y="0"/>
                    </a:lnTo>
                    <a:cubicBezTo>
                      <a:pt x="11787244" y="0"/>
                      <a:pt x="11793281" y="6037"/>
                      <a:pt x="11793281" y="13484"/>
                    </a:cubicBezTo>
                    <a:lnTo>
                      <a:pt x="11793281" y="869131"/>
                    </a:lnTo>
                    <a:cubicBezTo>
                      <a:pt x="11793281" y="876578"/>
                      <a:pt x="11787244" y="882615"/>
                      <a:pt x="11779797" y="882615"/>
                    </a:cubicBezTo>
                    <a:lnTo>
                      <a:pt x="13484" y="882615"/>
                    </a:lnTo>
                    <a:cubicBezTo>
                      <a:pt x="6037" y="882615"/>
                      <a:pt x="0" y="876578"/>
                      <a:pt x="0" y="869131"/>
                    </a:cubicBezTo>
                    <a:lnTo>
                      <a:pt x="0" y="13484"/>
                    </a:lnTo>
                    <a:cubicBezTo>
                      <a:pt x="0" y="6037"/>
                      <a:pt x="6037" y="0"/>
                      <a:pt x="134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FFFF">
                      <a:alpha val="14901"/>
                    </a:srgbClr>
                  </a:gs>
                  <a:gs pos="100000">
                    <a:srgbClr val="F9FFFF">
                      <a:alpha val="24705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50"/>
              <p:cNvSpPr txBox="1"/>
              <p:nvPr/>
            </p:nvSpPr>
            <p:spPr>
              <a:xfrm>
                <a:off x="0" y="-57150"/>
                <a:ext cx="11793281" cy="939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6" name="Google Shape;286;p50"/>
            <p:cNvGrpSpPr/>
            <p:nvPr/>
          </p:nvGrpSpPr>
          <p:grpSpPr>
            <a:xfrm>
              <a:off x="2265610" y="7994362"/>
              <a:ext cx="13779828" cy="1098067"/>
              <a:chOff x="0" y="-57150"/>
              <a:chExt cx="11793281" cy="939765"/>
            </a:xfrm>
          </p:grpSpPr>
          <p:sp>
            <p:nvSpPr>
              <p:cNvPr id="287" name="Google Shape;287;p50"/>
              <p:cNvSpPr/>
              <p:nvPr/>
            </p:nvSpPr>
            <p:spPr>
              <a:xfrm>
                <a:off x="0" y="0"/>
                <a:ext cx="11793281" cy="882615"/>
              </a:xfrm>
              <a:custGeom>
                <a:rect b="b" l="l" r="r" t="t"/>
                <a:pathLst>
                  <a:path extrusionOk="0" h="882615" w="11793281">
                    <a:moveTo>
                      <a:pt x="13484" y="0"/>
                    </a:moveTo>
                    <a:lnTo>
                      <a:pt x="11779797" y="0"/>
                    </a:lnTo>
                    <a:cubicBezTo>
                      <a:pt x="11787244" y="0"/>
                      <a:pt x="11793281" y="6037"/>
                      <a:pt x="11793281" y="13484"/>
                    </a:cubicBezTo>
                    <a:lnTo>
                      <a:pt x="11793281" y="869131"/>
                    </a:lnTo>
                    <a:cubicBezTo>
                      <a:pt x="11793281" y="876578"/>
                      <a:pt x="11787244" y="882615"/>
                      <a:pt x="11779797" y="882615"/>
                    </a:cubicBezTo>
                    <a:lnTo>
                      <a:pt x="13484" y="882615"/>
                    </a:lnTo>
                    <a:cubicBezTo>
                      <a:pt x="6037" y="882615"/>
                      <a:pt x="0" y="876578"/>
                      <a:pt x="0" y="869131"/>
                    </a:cubicBezTo>
                    <a:lnTo>
                      <a:pt x="0" y="13484"/>
                    </a:lnTo>
                    <a:cubicBezTo>
                      <a:pt x="0" y="6037"/>
                      <a:pt x="6037" y="0"/>
                      <a:pt x="134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FFFF">
                      <a:alpha val="14901"/>
                    </a:srgbClr>
                  </a:gs>
                  <a:gs pos="100000">
                    <a:srgbClr val="F9FFFF">
                      <a:alpha val="24705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50"/>
              <p:cNvSpPr txBox="1"/>
              <p:nvPr/>
            </p:nvSpPr>
            <p:spPr>
              <a:xfrm>
                <a:off x="0" y="-57150"/>
                <a:ext cx="11793281" cy="939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50"/>
            <p:cNvGrpSpPr/>
            <p:nvPr/>
          </p:nvGrpSpPr>
          <p:grpSpPr>
            <a:xfrm>
              <a:off x="2265610" y="2810735"/>
              <a:ext cx="13779828" cy="1098067"/>
              <a:chOff x="0" y="-57150"/>
              <a:chExt cx="11793281" cy="939765"/>
            </a:xfrm>
          </p:grpSpPr>
          <p:sp>
            <p:nvSpPr>
              <p:cNvPr id="290" name="Google Shape;290;p50"/>
              <p:cNvSpPr/>
              <p:nvPr/>
            </p:nvSpPr>
            <p:spPr>
              <a:xfrm>
                <a:off x="0" y="0"/>
                <a:ext cx="11793281" cy="882615"/>
              </a:xfrm>
              <a:custGeom>
                <a:rect b="b" l="l" r="r" t="t"/>
                <a:pathLst>
                  <a:path extrusionOk="0" h="882615" w="11793281">
                    <a:moveTo>
                      <a:pt x="13484" y="0"/>
                    </a:moveTo>
                    <a:lnTo>
                      <a:pt x="11779797" y="0"/>
                    </a:lnTo>
                    <a:cubicBezTo>
                      <a:pt x="11787244" y="0"/>
                      <a:pt x="11793281" y="6037"/>
                      <a:pt x="11793281" y="13484"/>
                    </a:cubicBezTo>
                    <a:lnTo>
                      <a:pt x="11793281" y="869131"/>
                    </a:lnTo>
                    <a:cubicBezTo>
                      <a:pt x="11793281" y="876578"/>
                      <a:pt x="11787244" y="882615"/>
                      <a:pt x="11779797" y="882615"/>
                    </a:cubicBezTo>
                    <a:lnTo>
                      <a:pt x="13484" y="882615"/>
                    </a:lnTo>
                    <a:cubicBezTo>
                      <a:pt x="6037" y="882615"/>
                      <a:pt x="0" y="876578"/>
                      <a:pt x="0" y="869131"/>
                    </a:cubicBezTo>
                    <a:lnTo>
                      <a:pt x="0" y="13484"/>
                    </a:lnTo>
                    <a:cubicBezTo>
                      <a:pt x="0" y="6037"/>
                      <a:pt x="6037" y="0"/>
                      <a:pt x="134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FFFF">
                      <a:alpha val="14901"/>
                    </a:srgbClr>
                  </a:gs>
                  <a:gs pos="100000">
                    <a:srgbClr val="F9FFFF">
                      <a:alpha val="24705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50"/>
              <p:cNvSpPr txBox="1"/>
              <p:nvPr/>
            </p:nvSpPr>
            <p:spPr>
              <a:xfrm>
                <a:off x="0" y="-57150"/>
                <a:ext cx="11793281" cy="939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p50"/>
            <p:cNvGrpSpPr/>
            <p:nvPr/>
          </p:nvGrpSpPr>
          <p:grpSpPr>
            <a:xfrm>
              <a:off x="2013043" y="2360286"/>
              <a:ext cx="3452985" cy="742861"/>
              <a:chOff x="0" y="-57150"/>
              <a:chExt cx="2154685" cy="463550"/>
            </a:xfrm>
          </p:grpSpPr>
          <p:sp>
            <p:nvSpPr>
              <p:cNvPr id="293" name="Google Shape;293;p50"/>
              <p:cNvSpPr/>
              <p:nvPr/>
            </p:nvSpPr>
            <p:spPr>
              <a:xfrm>
                <a:off x="0" y="0"/>
                <a:ext cx="2154685" cy="406400"/>
              </a:xfrm>
              <a:custGeom>
                <a:rect b="b" l="l" r="r" t="t"/>
                <a:pathLst>
                  <a:path extrusionOk="0" h="406400" w="2154685">
                    <a:moveTo>
                      <a:pt x="1951485" y="0"/>
                    </a:moveTo>
                    <a:cubicBezTo>
                      <a:pt x="2063709" y="0"/>
                      <a:pt x="2154685" y="90976"/>
                      <a:pt x="2154685" y="203200"/>
                    </a:cubicBezTo>
                    <a:cubicBezTo>
                      <a:pt x="2154685" y="315424"/>
                      <a:pt x="2063709" y="406400"/>
                      <a:pt x="195148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CB5F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50"/>
              <p:cNvSpPr txBox="1"/>
              <p:nvPr/>
            </p:nvSpPr>
            <p:spPr>
              <a:xfrm>
                <a:off x="0" y="-57150"/>
                <a:ext cx="2154685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5" name="Google Shape;295;p50"/>
            <p:cNvSpPr txBox="1"/>
            <p:nvPr/>
          </p:nvSpPr>
          <p:spPr>
            <a:xfrm>
              <a:off x="2124329" y="2946491"/>
              <a:ext cx="13675500" cy="8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31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Instruksi atau perintah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 yang kita berikan ke AI agar ia merespons sesuai kebutuhan</a:t>
              </a:r>
              <a:endParaRPr/>
            </a:p>
          </p:txBody>
        </p:sp>
        <p:grpSp>
          <p:nvGrpSpPr>
            <p:cNvPr id="296" name="Google Shape;296;p50"/>
            <p:cNvGrpSpPr/>
            <p:nvPr/>
          </p:nvGrpSpPr>
          <p:grpSpPr>
            <a:xfrm>
              <a:off x="2013043" y="4078786"/>
              <a:ext cx="5228341" cy="742861"/>
              <a:chOff x="0" y="-57150"/>
              <a:chExt cx="3262519" cy="463550"/>
            </a:xfrm>
          </p:grpSpPr>
          <p:sp>
            <p:nvSpPr>
              <p:cNvPr id="297" name="Google Shape;297;p50"/>
              <p:cNvSpPr/>
              <p:nvPr/>
            </p:nvSpPr>
            <p:spPr>
              <a:xfrm>
                <a:off x="0" y="0"/>
                <a:ext cx="3262519" cy="406400"/>
              </a:xfrm>
              <a:custGeom>
                <a:rect b="b" l="l" r="r" t="t"/>
                <a:pathLst>
                  <a:path extrusionOk="0" h="406400" w="3262519">
                    <a:moveTo>
                      <a:pt x="3059319" y="0"/>
                    </a:moveTo>
                    <a:cubicBezTo>
                      <a:pt x="3171544" y="0"/>
                      <a:pt x="3262519" y="90976"/>
                      <a:pt x="3262519" y="203200"/>
                    </a:cubicBezTo>
                    <a:cubicBezTo>
                      <a:pt x="3262519" y="315424"/>
                      <a:pt x="3171544" y="406400"/>
                      <a:pt x="305931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CB5F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50"/>
              <p:cNvSpPr txBox="1"/>
              <p:nvPr/>
            </p:nvSpPr>
            <p:spPr>
              <a:xfrm>
                <a:off x="0" y="-57150"/>
                <a:ext cx="3262519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9" name="Google Shape;299;p50"/>
            <p:cNvSpPr txBox="1"/>
            <p:nvPr/>
          </p:nvSpPr>
          <p:spPr>
            <a:xfrm>
              <a:off x="2221132" y="3711960"/>
              <a:ext cx="4739700" cy="10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327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362F5B"/>
                  </a:solidFill>
                  <a:latin typeface="Lora"/>
                  <a:ea typeface="Lora"/>
                  <a:cs typeface="Lora"/>
                  <a:sym typeface="Lora"/>
                </a:rPr>
                <a:t>Prompt Engineering </a:t>
              </a:r>
              <a:endParaRPr/>
            </a:p>
          </p:txBody>
        </p:sp>
        <p:grpSp>
          <p:nvGrpSpPr>
            <p:cNvPr id="300" name="Google Shape;300;p50"/>
            <p:cNvGrpSpPr/>
            <p:nvPr/>
          </p:nvGrpSpPr>
          <p:grpSpPr>
            <a:xfrm>
              <a:off x="2124330" y="5797287"/>
              <a:ext cx="5117054" cy="742861"/>
              <a:chOff x="0" y="-57150"/>
              <a:chExt cx="3193076" cy="463550"/>
            </a:xfrm>
          </p:grpSpPr>
          <p:sp>
            <p:nvSpPr>
              <p:cNvPr id="301" name="Google Shape;301;p50"/>
              <p:cNvSpPr/>
              <p:nvPr/>
            </p:nvSpPr>
            <p:spPr>
              <a:xfrm>
                <a:off x="0" y="0"/>
                <a:ext cx="3193075" cy="406400"/>
              </a:xfrm>
              <a:custGeom>
                <a:rect b="b" l="l" r="r" t="t"/>
                <a:pathLst>
                  <a:path extrusionOk="0" h="406400" w="3193075">
                    <a:moveTo>
                      <a:pt x="2989875" y="0"/>
                    </a:moveTo>
                    <a:cubicBezTo>
                      <a:pt x="3102100" y="0"/>
                      <a:pt x="3193075" y="90976"/>
                      <a:pt x="3193075" y="203200"/>
                    </a:cubicBezTo>
                    <a:cubicBezTo>
                      <a:pt x="3193075" y="315424"/>
                      <a:pt x="3102100" y="406400"/>
                      <a:pt x="298987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CB5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50"/>
              <p:cNvSpPr txBox="1"/>
              <p:nvPr/>
            </p:nvSpPr>
            <p:spPr>
              <a:xfrm>
                <a:off x="0" y="-57150"/>
                <a:ext cx="3193076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3" name="Google Shape;303;p50"/>
            <p:cNvSpPr txBox="1"/>
            <p:nvPr/>
          </p:nvSpPr>
          <p:spPr>
            <a:xfrm>
              <a:off x="2421173" y="5403101"/>
              <a:ext cx="4628700" cy="10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327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362F5B"/>
                  </a:solidFill>
                  <a:latin typeface="Lora"/>
                  <a:ea typeface="Lora"/>
                  <a:cs typeface="Lora"/>
                  <a:sym typeface="Lora"/>
                </a:rPr>
                <a:t>Peran penting prompt</a:t>
              </a:r>
              <a:endParaRPr/>
            </a:p>
          </p:txBody>
        </p:sp>
        <p:grpSp>
          <p:nvGrpSpPr>
            <p:cNvPr id="304" name="Google Shape;304;p50"/>
            <p:cNvGrpSpPr/>
            <p:nvPr/>
          </p:nvGrpSpPr>
          <p:grpSpPr>
            <a:xfrm>
              <a:off x="2124330" y="7515787"/>
              <a:ext cx="5117054" cy="742861"/>
              <a:chOff x="0" y="-57150"/>
              <a:chExt cx="3193076" cy="463550"/>
            </a:xfrm>
          </p:grpSpPr>
          <p:sp>
            <p:nvSpPr>
              <p:cNvPr id="305" name="Google Shape;305;p50"/>
              <p:cNvSpPr/>
              <p:nvPr/>
            </p:nvSpPr>
            <p:spPr>
              <a:xfrm>
                <a:off x="0" y="0"/>
                <a:ext cx="3193075" cy="406400"/>
              </a:xfrm>
              <a:custGeom>
                <a:rect b="b" l="l" r="r" t="t"/>
                <a:pathLst>
                  <a:path extrusionOk="0" h="406400" w="3193075">
                    <a:moveTo>
                      <a:pt x="2989875" y="0"/>
                    </a:moveTo>
                    <a:cubicBezTo>
                      <a:pt x="3102100" y="0"/>
                      <a:pt x="3193075" y="90976"/>
                      <a:pt x="3193075" y="203200"/>
                    </a:cubicBezTo>
                    <a:cubicBezTo>
                      <a:pt x="3193075" y="315424"/>
                      <a:pt x="3102100" y="406400"/>
                      <a:pt x="298987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CB5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50"/>
              <p:cNvSpPr txBox="1"/>
              <p:nvPr/>
            </p:nvSpPr>
            <p:spPr>
              <a:xfrm>
                <a:off x="0" y="-57150"/>
                <a:ext cx="3193076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7" name="Google Shape;307;p50"/>
            <p:cNvSpPr txBox="1"/>
            <p:nvPr/>
          </p:nvSpPr>
          <p:spPr>
            <a:xfrm>
              <a:off x="2265608" y="7162851"/>
              <a:ext cx="4380600" cy="10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327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362F5B"/>
                  </a:solidFill>
                  <a:latin typeface="Lora"/>
                  <a:ea typeface="Lora"/>
                  <a:cs typeface="Lora"/>
                  <a:sym typeface="Lora"/>
                </a:rPr>
                <a:t>Analogi sederhana</a:t>
              </a:r>
              <a:endParaRPr b="1" i="0" sz="1400" u="none" cap="none" strike="noStrike">
                <a:solidFill>
                  <a:srgbClr val="362F5B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308" name="Google Shape;308;p50"/>
            <p:cNvSpPr txBox="1"/>
            <p:nvPr/>
          </p:nvSpPr>
          <p:spPr>
            <a:xfrm>
              <a:off x="2221132" y="2017394"/>
              <a:ext cx="2999400" cy="10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327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362F5B"/>
                  </a:solidFill>
                  <a:latin typeface="Lora"/>
                  <a:ea typeface="Lora"/>
                  <a:cs typeface="Lora"/>
                  <a:sym typeface="Lora"/>
                </a:rPr>
                <a:t>Prompt</a:t>
              </a:r>
              <a:endParaRPr/>
            </a:p>
          </p:txBody>
        </p:sp>
        <p:sp>
          <p:nvSpPr>
            <p:cNvPr id="309" name="Google Shape;309;p50"/>
            <p:cNvSpPr txBox="1"/>
            <p:nvPr/>
          </p:nvSpPr>
          <p:spPr>
            <a:xfrm>
              <a:off x="2317716" y="4479613"/>
              <a:ext cx="13675500" cy="8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31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Cara menyusun prompt agar hasil AI </a:t>
              </a:r>
              <a:r>
                <a:rPr b="1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lebih sesuai dan lebih berguna</a:t>
              </a:r>
              <a:endParaRPr b="1" i="0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310" name="Google Shape;310;p50"/>
            <p:cNvSpPr txBox="1"/>
            <p:nvPr/>
          </p:nvSpPr>
          <p:spPr>
            <a:xfrm>
              <a:off x="2317716" y="6198994"/>
              <a:ext cx="13675500" cy="8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31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Hasil AI bagus bukan karena AI-nya pintar, tapi karena </a:t>
              </a:r>
              <a:r>
                <a:rPr b="1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prompt-nya tepat</a:t>
              </a:r>
              <a:endParaRPr b="1" i="0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311" name="Google Shape;311;p50"/>
            <p:cNvSpPr txBox="1"/>
            <p:nvPr/>
          </p:nvSpPr>
          <p:spPr>
            <a:xfrm>
              <a:off x="2265652" y="8159195"/>
              <a:ext cx="13675500" cy="8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314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AI itu seperti </a:t>
              </a:r>
              <a:r>
                <a:rPr b="1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asisten cerdas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, dan prompt adalah </a:t>
              </a:r>
              <a:r>
                <a:rPr b="1" i="0" lang="en-US" sz="1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cara kita berbicara padanya</a:t>
              </a:r>
              <a:endParaRPr b="1" i="0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312" name="Google Shape;312;p50"/>
          <p:cNvSpPr txBox="1"/>
          <p:nvPr/>
        </p:nvSpPr>
        <p:spPr>
          <a:xfrm>
            <a:off x="789525" y="4563927"/>
            <a:ext cx="61455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Komponen prompt : Instruksi, konteks, output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234423" y="123286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Example of Gen AI Implementation</a:t>
            </a:r>
            <a:endParaRPr/>
          </a:p>
        </p:txBody>
      </p:sp>
      <p:grpSp>
        <p:nvGrpSpPr>
          <p:cNvPr id="318" name="Google Shape;318;p51"/>
          <p:cNvGrpSpPr/>
          <p:nvPr/>
        </p:nvGrpSpPr>
        <p:grpSpPr>
          <a:xfrm>
            <a:off x="311754" y="4211451"/>
            <a:ext cx="6389988" cy="573000"/>
            <a:chOff x="311754" y="4413427"/>
            <a:chExt cx="6389988" cy="573000"/>
          </a:xfrm>
        </p:grpSpPr>
        <p:grpSp>
          <p:nvGrpSpPr>
            <p:cNvPr id="319" name="Google Shape;319;p51"/>
            <p:cNvGrpSpPr/>
            <p:nvPr/>
          </p:nvGrpSpPr>
          <p:grpSpPr>
            <a:xfrm>
              <a:off x="311754" y="4492348"/>
              <a:ext cx="6389988" cy="368991"/>
              <a:chOff x="0" y="-57150"/>
              <a:chExt cx="2322916" cy="204680"/>
            </a:xfrm>
          </p:grpSpPr>
          <p:sp>
            <p:nvSpPr>
              <p:cNvPr id="320" name="Google Shape;320;p51"/>
              <p:cNvSpPr/>
              <p:nvPr/>
            </p:nvSpPr>
            <p:spPr>
              <a:xfrm>
                <a:off x="0" y="0"/>
                <a:ext cx="2322916" cy="147530"/>
              </a:xfrm>
              <a:custGeom>
                <a:rect b="b" l="l" r="r" t="t"/>
                <a:pathLst>
                  <a:path extrusionOk="0" h="147530" w="2322916">
                    <a:moveTo>
                      <a:pt x="44767" y="0"/>
                    </a:moveTo>
                    <a:lnTo>
                      <a:pt x="2278149" y="0"/>
                    </a:lnTo>
                    <a:cubicBezTo>
                      <a:pt x="2290022" y="0"/>
                      <a:pt x="2301409" y="4717"/>
                      <a:pt x="2309804" y="13112"/>
                    </a:cubicBezTo>
                    <a:cubicBezTo>
                      <a:pt x="2318199" y="21507"/>
                      <a:pt x="2322916" y="32894"/>
                      <a:pt x="2322916" y="44767"/>
                    </a:cubicBezTo>
                    <a:lnTo>
                      <a:pt x="2322916" y="102763"/>
                    </a:lnTo>
                    <a:cubicBezTo>
                      <a:pt x="2322916" y="114636"/>
                      <a:pt x="2318199" y="126023"/>
                      <a:pt x="2309804" y="134418"/>
                    </a:cubicBezTo>
                    <a:cubicBezTo>
                      <a:pt x="2301409" y="142814"/>
                      <a:pt x="2290022" y="147530"/>
                      <a:pt x="2278149" y="147530"/>
                    </a:cubicBezTo>
                    <a:lnTo>
                      <a:pt x="44767" y="147530"/>
                    </a:lnTo>
                    <a:cubicBezTo>
                      <a:pt x="32894" y="147530"/>
                      <a:pt x="21507" y="142814"/>
                      <a:pt x="13112" y="134418"/>
                    </a:cubicBezTo>
                    <a:cubicBezTo>
                      <a:pt x="4717" y="126023"/>
                      <a:pt x="0" y="114636"/>
                      <a:pt x="0" y="102763"/>
                    </a:cubicBezTo>
                    <a:lnTo>
                      <a:pt x="0" y="44767"/>
                    </a:lnTo>
                    <a:cubicBezTo>
                      <a:pt x="0" y="32894"/>
                      <a:pt x="4717" y="21507"/>
                      <a:pt x="13112" y="13112"/>
                    </a:cubicBezTo>
                    <a:cubicBezTo>
                      <a:pt x="21507" y="4717"/>
                      <a:pt x="32894" y="0"/>
                      <a:pt x="4476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C960"/>
                  </a:gs>
                  <a:gs pos="100000">
                    <a:srgbClr val="FFA9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51"/>
              <p:cNvSpPr txBox="1"/>
              <p:nvPr/>
            </p:nvSpPr>
            <p:spPr>
              <a:xfrm>
                <a:off x="0" y="-57150"/>
                <a:ext cx="2322916" cy="204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6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2" name="Google Shape;322;p51"/>
            <p:cNvSpPr txBox="1"/>
            <p:nvPr/>
          </p:nvSpPr>
          <p:spPr>
            <a:xfrm>
              <a:off x="561628" y="4413427"/>
              <a:ext cx="5837704" cy="5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26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sng" cap="none" strike="noStrik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https://www.youtube.com/watch?v=pIy_FkKe7bc  </a:t>
              </a:r>
              <a:endParaRPr/>
            </a:p>
          </p:txBody>
        </p:sp>
      </p:grpSp>
      <p:pic>
        <p:nvPicPr>
          <p:cNvPr id="323" name="Google Shape;32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6621" y="888281"/>
            <a:ext cx="5837704" cy="32837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51"/>
          <p:cNvGrpSpPr/>
          <p:nvPr/>
        </p:nvGrpSpPr>
        <p:grpSpPr>
          <a:xfrm>
            <a:off x="7414325" y="1245200"/>
            <a:ext cx="4879795" cy="4009500"/>
            <a:chOff x="7414325" y="1245200"/>
            <a:chExt cx="4879795" cy="4009500"/>
          </a:xfrm>
        </p:grpSpPr>
        <p:sp>
          <p:nvSpPr>
            <p:cNvPr id="325" name="Google Shape;325;p51"/>
            <p:cNvSpPr/>
            <p:nvPr/>
          </p:nvSpPr>
          <p:spPr>
            <a:xfrm>
              <a:off x="7833420" y="1245200"/>
              <a:ext cx="4460700" cy="4009500"/>
            </a:xfrm>
            <a:prstGeom prst="parallelogram">
              <a:avLst>
                <a:gd fmla="val 25000" name="adj"/>
              </a:avLst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p51"/>
            <p:cNvSpPr/>
            <p:nvPr/>
          </p:nvSpPr>
          <p:spPr>
            <a:xfrm>
              <a:off x="7414325" y="3811100"/>
              <a:ext cx="3012300" cy="1443600"/>
            </a:xfrm>
            <a:prstGeom prst="parallelogram">
              <a:avLst>
                <a:gd fmla="val 25000" name="adj"/>
              </a:avLst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p51"/>
            <p:cNvSpPr/>
            <p:nvPr/>
          </p:nvSpPr>
          <p:spPr>
            <a:xfrm>
              <a:off x="8235125" y="3356600"/>
              <a:ext cx="1321500" cy="917100"/>
            </a:xfrm>
            <a:prstGeom prst="parallelogram">
              <a:avLst>
                <a:gd fmla="val 25000" name="adj"/>
              </a:avLst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28" name="Google Shape;32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33420" y="84169"/>
            <a:ext cx="1184604" cy="360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52"/>
          <p:cNvGrpSpPr/>
          <p:nvPr/>
        </p:nvGrpSpPr>
        <p:grpSpPr>
          <a:xfrm>
            <a:off x="7414325" y="1245200"/>
            <a:ext cx="4879795" cy="4009500"/>
            <a:chOff x="7414325" y="1245200"/>
            <a:chExt cx="4879795" cy="4009500"/>
          </a:xfrm>
        </p:grpSpPr>
        <p:sp>
          <p:nvSpPr>
            <p:cNvPr id="334" name="Google Shape;334;p52"/>
            <p:cNvSpPr/>
            <p:nvPr/>
          </p:nvSpPr>
          <p:spPr>
            <a:xfrm>
              <a:off x="7833420" y="1245200"/>
              <a:ext cx="4460700" cy="4009500"/>
            </a:xfrm>
            <a:prstGeom prst="parallelogram">
              <a:avLst>
                <a:gd fmla="val 25000" name="adj"/>
              </a:avLst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52"/>
            <p:cNvSpPr/>
            <p:nvPr/>
          </p:nvSpPr>
          <p:spPr>
            <a:xfrm>
              <a:off x="7414325" y="3811100"/>
              <a:ext cx="3012300" cy="1443600"/>
            </a:xfrm>
            <a:prstGeom prst="parallelogram">
              <a:avLst>
                <a:gd fmla="val 25000" name="adj"/>
              </a:avLst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52"/>
            <p:cNvSpPr/>
            <p:nvPr/>
          </p:nvSpPr>
          <p:spPr>
            <a:xfrm>
              <a:off x="8235125" y="3356600"/>
              <a:ext cx="1321500" cy="917100"/>
            </a:xfrm>
            <a:prstGeom prst="parallelogram">
              <a:avLst>
                <a:gd fmla="val 25000" name="adj"/>
              </a:avLst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7" name="Google Shape;337;p52"/>
          <p:cNvSpPr txBox="1"/>
          <p:nvPr>
            <p:ph type="title"/>
          </p:nvPr>
        </p:nvSpPr>
        <p:spPr>
          <a:xfrm>
            <a:off x="375139" y="193093"/>
            <a:ext cx="7039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Exercise: One Problem, Multiple Prompts</a:t>
            </a:r>
            <a:endParaRPr/>
          </a:p>
        </p:txBody>
      </p:sp>
      <p:pic>
        <p:nvPicPr>
          <p:cNvPr id="338" name="Google Shape;33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420" y="8416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2"/>
          <p:cNvSpPr/>
          <p:nvPr/>
        </p:nvSpPr>
        <p:spPr>
          <a:xfrm>
            <a:off x="254643" y="1236411"/>
            <a:ext cx="5545108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 1 – Singkat (Kurang Optimal)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"Ringkas paper Fraud Detection in Financial Transactions untuk pemula di bidang AI."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2"/>
          <p:cNvSpPr/>
          <p:nvPr/>
        </p:nvSpPr>
        <p:spPr>
          <a:xfrm>
            <a:off x="254643" y="2013138"/>
            <a:ext cx="6250329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 2 – Lebih Detail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"Anda adalah dosen mata kuliah Sistem Keamanan Informasi. Ringkaslah paper 'Fraud Detection in Financial Transactions' dalam maksimal 300 kata, gunakan bahasa sederhana yang mudah dipahami mahasiswa semester 1. Sertakan 3 tantangan utama dan 3 teknik populer yang digunakan dalam deteksi penipuan transaksi keuangan."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2"/>
          <p:cNvSpPr/>
          <p:nvPr/>
        </p:nvSpPr>
        <p:spPr>
          <a:xfrm>
            <a:off x="0" y="0"/>
            <a:ext cx="9145588" cy="1587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2"/>
          <p:cNvSpPr/>
          <p:nvPr/>
        </p:nvSpPr>
        <p:spPr>
          <a:xfrm>
            <a:off x="254643" y="3036742"/>
            <a:ext cx="7159682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3 – Dengan Struktur &amp; Format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"Anda adalah dosen mata kuliah Sistem Keamanan Informasi. Buat ringkasan terstruktur dari paper 'Fraud Detection in Financial Transactions' dalam format berikut: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Definisi &amp; Tujuan Deteksi Penipuan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Tantangan Utama (minimal 3)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Teknik &amp; Algoritma yang Digunakan (minimal 3)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Studi Kasus atau Contoh Aplikasi Nyata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Kesimpulan &amp; Implikasi di Dunia Nyata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Gunakan bahasa sederhana yang dapat dipahami mahasiswa baru, dan batasi total 300 kata."</a:t>
            </a:r>
            <a:endParaRPr/>
          </a:p>
        </p:txBody>
      </p:sp>
      <p:sp>
        <p:nvSpPr>
          <p:cNvPr id="343" name="Google Shape;343;p52"/>
          <p:cNvSpPr txBox="1"/>
          <p:nvPr/>
        </p:nvSpPr>
        <p:spPr>
          <a:xfrm>
            <a:off x="254643" y="791368"/>
            <a:ext cx="61455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Paper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/>
          <p:nvPr>
            <p:ph idx="4294967295" type="title"/>
          </p:nvPr>
        </p:nvSpPr>
        <p:spPr>
          <a:xfrm>
            <a:off x="135375" y="1878849"/>
            <a:ext cx="53052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34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8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Hands-On</a:t>
            </a:r>
            <a:br>
              <a:rPr lang="en-US" sz="48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 sz="4800">
                <a:solidFill>
                  <a:srgbClr val="3F3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Review Paper</a:t>
            </a:r>
            <a:endParaRPr/>
          </a:p>
        </p:txBody>
      </p:sp>
      <p:pic>
        <p:nvPicPr>
          <p:cNvPr id="349" name="Google Shape;34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3"/>
          <p:cNvSpPr/>
          <p:nvPr/>
        </p:nvSpPr>
        <p:spPr>
          <a:xfrm rot="-1974178">
            <a:off x="5763913" y="490531"/>
            <a:ext cx="1120545" cy="1120545"/>
          </a:xfrm>
          <a:prstGeom prst="ellipse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53"/>
          <p:cNvSpPr/>
          <p:nvPr/>
        </p:nvSpPr>
        <p:spPr>
          <a:xfrm rot="-4242470">
            <a:off x="6504201" y="739181"/>
            <a:ext cx="2301858" cy="2301858"/>
          </a:xfrm>
          <a:prstGeom prst="ellipse">
            <a:avLst/>
          </a:prstGeom>
          <a:solidFill>
            <a:srgbClr val="48A8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53"/>
          <p:cNvSpPr/>
          <p:nvPr/>
        </p:nvSpPr>
        <p:spPr>
          <a:xfrm rot="-3576382">
            <a:off x="5026242" y="1916563"/>
            <a:ext cx="3914117" cy="3914117"/>
          </a:xfrm>
          <a:prstGeom prst="ellipse">
            <a:avLst/>
          </a:prstGeom>
          <a:solidFill>
            <a:srgbClr val="FFB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g308343dfcdc_0_102"/>
          <p:cNvGrpSpPr/>
          <p:nvPr/>
        </p:nvGrpSpPr>
        <p:grpSpPr>
          <a:xfrm>
            <a:off x="618" y="347"/>
            <a:ext cx="3867401" cy="5144863"/>
            <a:chOff x="0" y="0"/>
            <a:chExt cx="7734300" cy="10287000"/>
          </a:xfrm>
        </p:grpSpPr>
        <p:sp>
          <p:nvSpPr>
            <p:cNvPr id="358" name="Google Shape;358;g308343dfcdc_0_102"/>
            <p:cNvSpPr/>
            <p:nvPr/>
          </p:nvSpPr>
          <p:spPr>
            <a:xfrm>
              <a:off x="0" y="0"/>
              <a:ext cx="7734300" cy="10287000"/>
            </a:xfrm>
            <a:custGeom>
              <a:rect b="b" l="l" r="r" t="t"/>
              <a:pathLst>
                <a:path extrusionOk="0" h="10287000" w="773430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g308343dfcdc_0_102"/>
            <p:cNvSpPr/>
            <p:nvPr/>
          </p:nvSpPr>
          <p:spPr>
            <a:xfrm>
              <a:off x="0" y="360200"/>
              <a:ext cx="7734300" cy="9918700"/>
            </a:xfrm>
            <a:custGeom>
              <a:rect b="b" l="l" r="r" t="t"/>
              <a:pathLst>
                <a:path extrusionOk="0" h="9918700" w="773430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g308343dfcdc_0_102"/>
            <p:cNvSpPr/>
            <p:nvPr/>
          </p:nvSpPr>
          <p:spPr>
            <a:xfrm>
              <a:off x="1181100" y="3733799"/>
              <a:ext cx="6553200" cy="6553200"/>
            </a:xfrm>
            <a:custGeom>
              <a:rect b="b" l="l" r="r" t="t"/>
              <a:pathLst>
                <a:path extrusionOk="0" h="6553200" w="655320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g308343dfcdc_0_102"/>
          <p:cNvSpPr txBox="1"/>
          <p:nvPr>
            <p:ph idx="1" type="body"/>
          </p:nvPr>
        </p:nvSpPr>
        <p:spPr>
          <a:xfrm>
            <a:off x="4108089" y="1768131"/>
            <a:ext cx="5036881" cy="536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12698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>
                <a:latin typeface="Trebuchet MS"/>
                <a:ea typeface="Trebuchet MS"/>
                <a:cs typeface="Trebuchet MS"/>
                <a:sym typeface="Trebuchet MS"/>
              </a:rPr>
              <a:t>Brief Assignment</a:t>
            </a:r>
            <a:endParaRPr/>
          </a:p>
        </p:txBody>
      </p:sp>
      <p:sp>
        <p:nvSpPr>
          <p:cNvPr id="362" name="Google Shape;362;g308343dfcdc_0_102"/>
          <p:cNvSpPr/>
          <p:nvPr/>
        </p:nvSpPr>
        <p:spPr>
          <a:xfrm>
            <a:off x="8209979" y="54922"/>
            <a:ext cx="842886" cy="8191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g308343dfcdc_0_114"/>
          <p:cNvGrpSpPr/>
          <p:nvPr/>
        </p:nvGrpSpPr>
        <p:grpSpPr>
          <a:xfrm>
            <a:off x="619" y="696"/>
            <a:ext cx="3576901" cy="5143888"/>
            <a:chOff x="0" y="0"/>
            <a:chExt cx="7153275" cy="10287019"/>
          </a:xfrm>
        </p:grpSpPr>
        <p:sp>
          <p:nvSpPr>
            <p:cNvPr id="368" name="Google Shape;368;g308343dfcdc_0_114"/>
            <p:cNvSpPr/>
            <p:nvPr/>
          </p:nvSpPr>
          <p:spPr>
            <a:xfrm>
              <a:off x="0" y="0"/>
              <a:ext cx="7153275" cy="10287000"/>
            </a:xfrm>
            <a:custGeom>
              <a:rect b="b" l="l" r="r" t="t"/>
              <a:pathLst>
                <a:path extrusionOk="0" h="10287000" w="7153275">
                  <a:moveTo>
                    <a:pt x="71532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153275" y="0"/>
                  </a:lnTo>
                  <a:lnTo>
                    <a:pt x="7153275" y="1028700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g308343dfcdc_0_114"/>
            <p:cNvSpPr/>
            <p:nvPr/>
          </p:nvSpPr>
          <p:spPr>
            <a:xfrm>
              <a:off x="0" y="7698760"/>
              <a:ext cx="2552700" cy="2588259"/>
            </a:xfrm>
            <a:custGeom>
              <a:rect b="b" l="l" r="r" t="t"/>
              <a:pathLst>
                <a:path extrusionOk="0" h="2588259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2588239"/>
                  </a:lnTo>
                  <a:lnTo>
                    <a:pt x="0" y="258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g308343dfcdc_0_114"/>
          <p:cNvSpPr/>
          <p:nvPr/>
        </p:nvSpPr>
        <p:spPr>
          <a:xfrm>
            <a:off x="8445155" y="82952"/>
            <a:ext cx="594778" cy="5808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08343dfcdc_0_114"/>
          <p:cNvSpPr txBox="1"/>
          <p:nvPr/>
        </p:nvSpPr>
        <p:spPr>
          <a:xfrm>
            <a:off x="4188709" y="179723"/>
            <a:ext cx="4109438" cy="493661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12697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Brief Assignment :</a:t>
            </a:r>
            <a:endParaRPr/>
          </a:p>
          <a:p>
            <a:pPr indent="-514350" lvl="0" marL="52704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Carilah paper akademik terkait bidang anda masing-masing</a:t>
            </a:r>
            <a:endParaRPr/>
          </a:p>
          <a:p>
            <a:pPr indent="-514350" lvl="0" marL="527047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Buatlah 3 prompt dengan kompleksitas berbeda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514350" lvl="0" marL="527047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Lakukan implementasi prompt memakai ChatGPT, Gemini, Deepseek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514350" lvl="0" marL="527047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Bandingkan hasilnya dan validasi outputnya sesuai dengan pemahaman anda terhadap paper tersebut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527047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6585e5a41e_0_428"/>
          <p:cNvSpPr txBox="1"/>
          <p:nvPr>
            <p:ph type="ctrTitle"/>
          </p:nvPr>
        </p:nvSpPr>
        <p:spPr>
          <a:xfrm>
            <a:off x="4740574" y="2153444"/>
            <a:ext cx="4281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50" lIns="91450" spcFirstLastPara="1" rIns="91450" wrap="square" tIns="9145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US" sz="48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7" name="Google Shape;377;g26585e5a41e_0_428"/>
          <p:cNvGrpSpPr/>
          <p:nvPr/>
        </p:nvGrpSpPr>
        <p:grpSpPr>
          <a:xfrm>
            <a:off x="162" y="-214211"/>
            <a:ext cx="2765532" cy="2691752"/>
            <a:chOff x="9584423" y="-302695"/>
            <a:chExt cx="4822201" cy="4822201"/>
          </a:xfrm>
        </p:grpSpPr>
        <p:sp>
          <p:nvSpPr>
            <p:cNvPr id="378" name="Google Shape;378;g26585e5a41e_0_428"/>
            <p:cNvSpPr/>
            <p:nvPr/>
          </p:nvSpPr>
          <p:spPr>
            <a:xfrm rot="6626698">
              <a:off x="10121100" y="233982"/>
              <a:ext cx="3748847" cy="3748847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9" name="Google Shape;379;g26585e5a41e_0_428"/>
            <p:cNvSpPr/>
            <p:nvPr/>
          </p:nvSpPr>
          <p:spPr>
            <a:xfrm rot="5026486">
              <a:off x="10682783" y="729525"/>
              <a:ext cx="2625482" cy="2625482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" name="Google Shape;380;g26585e5a41e_0_428"/>
            <p:cNvSpPr/>
            <p:nvPr/>
          </p:nvSpPr>
          <p:spPr>
            <a:xfrm rot="2969049">
              <a:off x="11210027" y="1256768"/>
              <a:ext cx="1570980" cy="1570980"/>
            </a:xfrm>
            <a:prstGeom prst="ellipse">
              <a:avLst/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g26585e5a41e_0_428"/>
            <p:cNvSpPr/>
            <p:nvPr/>
          </p:nvSpPr>
          <p:spPr>
            <a:xfrm rot="10347786">
              <a:off x="11700466" y="1747209"/>
              <a:ext cx="590098" cy="59009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2" name="Google Shape;382;g26585e5a41e_0_428"/>
          <p:cNvGrpSpPr/>
          <p:nvPr/>
        </p:nvGrpSpPr>
        <p:grpSpPr>
          <a:xfrm>
            <a:off x="-840830" y="1116257"/>
            <a:ext cx="5795400" cy="5795400"/>
            <a:chOff x="4094945" y="667082"/>
            <a:chExt cx="5795400" cy="5795400"/>
          </a:xfrm>
        </p:grpSpPr>
        <p:sp>
          <p:nvSpPr>
            <p:cNvPr id="383" name="Google Shape;383;g26585e5a41e_0_428"/>
            <p:cNvSpPr/>
            <p:nvPr/>
          </p:nvSpPr>
          <p:spPr>
            <a:xfrm rot="6626718">
              <a:off x="4739938" y="1312075"/>
              <a:ext cx="4505414" cy="4505414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4" name="Google Shape;384;g26585e5a41e_0_428"/>
            <p:cNvSpPr/>
            <p:nvPr/>
          </p:nvSpPr>
          <p:spPr>
            <a:xfrm rot="5026475">
              <a:off x="5429162" y="2051505"/>
              <a:ext cx="3026548" cy="302654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5" name="Google Shape;385;g26585e5a41e_0_428"/>
            <p:cNvSpPr/>
            <p:nvPr/>
          </p:nvSpPr>
          <p:spPr>
            <a:xfrm rot="2969049">
              <a:off x="6156933" y="2732845"/>
              <a:ext cx="1570980" cy="1570980"/>
            </a:xfrm>
            <a:prstGeom prst="ellipse">
              <a:avLst/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6" name="Google Shape;386;g26585e5a41e_0_428"/>
            <p:cNvSpPr/>
            <p:nvPr/>
          </p:nvSpPr>
          <p:spPr>
            <a:xfrm rot="10347786">
              <a:off x="6647371" y="3223287"/>
              <a:ext cx="590098" cy="59009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87" name="Google Shape;387;g26585e5a41e_0_4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26585e5a41e_0_4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8076" y="3170241"/>
            <a:ext cx="250431" cy="25043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26585e5a41e_0_428"/>
          <p:cNvSpPr txBox="1"/>
          <p:nvPr/>
        </p:nvSpPr>
        <p:spPr>
          <a:xfrm>
            <a:off x="5265820" y="3189832"/>
            <a:ext cx="3038121" cy="230789"/>
          </a:xfrm>
          <a:prstGeom prst="rect">
            <a:avLst/>
          </a:prstGeom>
          <a:noFill/>
          <a:ln>
            <a:noFill/>
          </a:ln>
        </p:spPr>
        <p:txBody>
          <a:bodyPr anchorCtr="0" anchor="t" bIns="22825" lIns="45675" spcFirstLastPara="1" rIns="45675" wrap="square" tIns="228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https://www.linkedin.com/in/anwaraif/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26585e5a41e_0_4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9691" y="3625441"/>
            <a:ext cx="316045" cy="25043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26585e5a41e_0_428"/>
          <p:cNvSpPr txBox="1"/>
          <p:nvPr/>
        </p:nvSpPr>
        <p:spPr>
          <a:xfrm>
            <a:off x="5265820" y="3625440"/>
            <a:ext cx="3231409" cy="230806"/>
          </a:xfrm>
          <a:prstGeom prst="rect">
            <a:avLst/>
          </a:prstGeom>
          <a:noFill/>
          <a:ln>
            <a:noFill/>
          </a:ln>
        </p:spPr>
        <p:txBody>
          <a:bodyPr anchorCtr="0" anchor="t" bIns="22825" lIns="45675" spcFirstLastPara="1" rIns="45675" wrap="square" tIns="228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kurniafreelancer@gmail.com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2021-01-14T04:03:51Z</dcterms:created>
  <dc:creator>SINAR X</dc:creator>
</cp:coreProperties>
</file>