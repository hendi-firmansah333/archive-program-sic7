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y="5145075" cx="9145575"/>
  <p:notesSz cx="6858000" cy="9144000"/>
  <p:embeddedFontLst>
    <p:embeddedFont>
      <p:font typeface="Plus Jakarta Sans"/>
      <p:regular r:id="rId66"/>
      <p:bold r:id="rId67"/>
      <p:italic r:id="rId68"/>
      <p:boldItalic r:id="rId69"/>
    </p:embeddedFont>
    <p:embeddedFont>
      <p:font typeface="Plus Jakarta Sans Medium"/>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1">
          <p15:clr>
            <a:srgbClr val="000000"/>
          </p15:clr>
        </p15:guide>
        <p15:guide id="2" pos="2881">
          <p15:clr>
            <a:srgbClr val="000000"/>
          </p15:clr>
        </p15:guide>
      </p15:sldGuideLst>
    </p:ext>
    <p:ext uri="GoogleSlidesCustomDataVersion2">
      <go:slidesCustomData xmlns:go="http://customooxmlschemas.google.com/" r:id="rId74" roundtripDataSignature="AMtx7miQ/pR4h7DITzxMRPS65nasiwNR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797E2A8-8722-435A-93A3-9CF2C875E82C}">
  <a:tblStyle styleId="{E797E2A8-8722-435A-93A3-9CF2C875E82C}"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1" orient="horz"/>
        <p:guide pos="2881"/>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PlusJakartaSansMedium-boldItalic.fntdata"/><Relationship Id="rId72" Type="http://schemas.openxmlformats.org/officeDocument/2006/relationships/font" Target="fonts/PlusJakartaSansMedium-italic.fntdata"/><Relationship Id="rId31" Type="http://schemas.openxmlformats.org/officeDocument/2006/relationships/slide" Target="slides/slide24.xml"/><Relationship Id="rId30" Type="http://schemas.openxmlformats.org/officeDocument/2006/relationships/slide" Target="slides/slide23.xml"/><Relationship Id="rId74" Type="http://customschemas.google.com/relationships/presentationmetadata" Target="metadata"/><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1" Type="http://schemas.openxmlformats.org/officeDocument/2006/relationships/font" Target="fonts/PlusJakartaSansMedium-bold.fntdata"/><Relationship Id="rId70" Type="http://schemas.openxmlformats.org/officeDocument/2006/relationships/font" Target="fonts/PlusJakartaSansMedium-regular.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font" Target="fonts/PlusJakartaSans-regular.fntdata"/><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font" Target="fonts/PlusJakartaSans-italic.fntdata"/><Relationship Id="rId23" Type="http://schemas.openxmlformats.org/officeDocument/2006/relationships/slide" Target="slides/slide16.xml"/><Relationship Id="rId67" Type="http://schemas.openxmlformats.org/officeDocument/2006/relationships/font" Target="fonts/PlusJakartaSans-bold.fntdata"/><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PlusJakartaSans-boldItalic.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2588" y="685800"/>
            <a:ext cx="6092825"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 name="Google Shape;147;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4: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Bayangkan Anda adalah pemilik toko kopi kecil. Di akhir hari, Anda hanya tahu bahwa hari ini Anda mendapatkan penghasilan sekian, tapi Anda tidak tahu detailnya.</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Kopi apa yang paling banyak terjual?</a:t>
            </a:r>
            <a:endParaRPr b="1"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Jam berapa toko Anda paling ramai?</a:t>
            </a:r>
            <a:endParaRPr b="1"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Apakah promosi "beli 2 gratis 1" benar-benar efektif?</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Tanpa data yang jelas, Anda hanya bisa menebak-nebak. Keputusan bisnis yang Anda ambil hanya berdasarkan intuisi, bukan fakta. Ini adalah masalah umum yang dihadapi banyak bisnis, di mana informasi penting terabaikan dan peluang untuk berkembang terlewatkan.</a:t>
            </a:r>
            <a:endParaRPr b="1"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b="1" sz="1100">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Solusinya adalah dengan mulai mengumpulkan dan mengelola data. Dengan data yang tepat, Anda bisa menjawab semua pertanyaan di atas:</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sz="1100">
                <a:latin typeface="Arial"/>
                <a:ea typeface="Arial"/>
                <a:cs typeface="Arial"/>
                <a:sym typeface="Arial"/>
              </a:rPr>
              <a:t>Anda bisa melihat laporan penjualan harian untuk mengetahui jenis kopi mana yang paling laris.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Anda bisa melacak jam-jam sibuk untuk mengoptimalkan jumlah staf.</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lang="en-US" sz="1100">
                <a:latin typeface="Arial"/>
                <a:ea typeface="Arial"/>
                <a:cs typeface="Arial"/>
                <a:sym typeface="Arial"/>
              </a:rPr>
              <a:t>Anda bisa menganalisis data promosi untuk melihat seberapa besar dampaknya terhadap penjualan.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Data yang terkelola dengan baik tidak hanya memberikan jawaban, tetapi juga memberikan </a:t>
            </a:r>
            <a:r>
              <a:rPr b="1" lang="en-US" sz="1100">
                <a:latin typeface="Arial"/>
                <a:ea typeface="Arial"/>
                <a:cs typeface="Arial"/>
                <a:sym typeface="Arial"/>
              </a:rPr>
              <a:t>wawasan</a:t>
            </a:r>
            <a:r>
              <a:rPr lang="en-US" sz="1100">
                <a:latin typeface="Arial"/>
                <a:ea typeface="Arial"/>
                <a:cs typeface="Arial"/>
                <a:sym typeface="Arial"/>
              </a:rPr>
              <a:t> yang bisa digunakan untuk membuat keputusan yang lebih cerdas dan strategis. Ini adalah inti dari mengapa data sangat krusial di era modern.</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6: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Secara sederhana, </a:t>
            </a:r>
            <a:r>
              <a:rPr b="1" lang="en-US" sz="1100">
                <a:latin typeface="Arial"/>
                <a:ea typeface="Arial"/>
                <a:cs typeface="Arial"/>
                <a:sym typeface="Arial"/>
              </a:rPr>
              <a:t>data</a:t>
            </a:r>
            <a:r>
              <a:rPr lang="en-US" sz="1100">
                <a:latin typeface="Arial"/>
                <a:ea typeface="Arial"/>
                <a:cs typeface="Arial"/>
                <a:sym typeface="Arial"/>
              </a:rPr>
              <a:t> adalah kumpulan fakta mentah, angka, atau informasi yang belum diolah. Data ibarat bahan mentah dalam sebuah resep. Bahan-bahan ini, seperti tepung, gula, dan telur, belum bisa dinikmati. Ia harus diproses terlebih dahulu.</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Ketika data ini diolah, disusun, dan dianalisis, ia berubah menjadi </a:t>
            </a:r>
            <a:r>
              <a:rPr b="1" lang="en-US" sz="1100">
                <a:latin typeface="Arial"/>
                <a:ea typeface="Arial"/>
                <a:cs typeface="Arial"/>
                <a:sym typeface="Arial"/>
              </a:rPr>
              <a:t>informasi</a:t>
            </a:r>
            <a:r>
              <a:rPr lang="en-US" sz="1100">
                <a:latin typeface="Arial"/>
                <a:ea typeface="Arial"/>
                <a:cs typeface="Arial"/>
                <a:sym typeface="Arial"/>
              </a:rPr>
              <a:t>. Informasi adalah data yang sudah diberi konteks dan makna.</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Selanjutnya, ketika informasi ini digunakan untuk membuat keputusan atau pemahaman yang lebih dalam, ia menjadi </a:t>
            </a:r>
            <a:r>
              <a:rPr b="1" lang="en-US" sz="1100">
                <a:latin typeface="Arial"/>
                <a:ea typeface="Arial"/>
                <a:cs typeface="Arial"/>
                <a:sym typeface="Arial"/>
              </a:rPr>
              <a:t>pengetahuan</a:t>
            </a:r>
            <a:r>
              <a:rPr lang="en-US" sz="1100">
                <a:latin typeface="Arial"/>
                <a:ea typeface="Arial"/>
                <a:cs typeface="Arial"/>
                <a:sym typeface="Arial"/>
              </a:rPr>
              <a:t>. Pengetahuan ini yang akhirnya menuntun pada </a:t>
            </a:r>
            <a:r>
              <a:rPr b="1" lang="en-US" sz="1100">
                <a:latin typeface="Arial"/>
                <a:ea typeface="Arial"/>
                <a:cs typeface="Arial"/>
                <a:sym typeface="Arial"/>
              </a:rPr>
              <a:t>wawasan</a:t>
            </a:r>
            <a:r>
              <a:rPr lang="en-US" sz="1100">
                <a:latin typeface="Arial"/>
                <a:ea typeface="Arial"/>
                <a:cs typeface="Arial"/>
                <a:sym typeface="Arial"/>
              </a:rPr>
              <a:t> (insight) yang bernilai.</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8: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Data hadir dalam berbagai bentuk. Memahami jenis-jenisnya adalah langkah pertama untuk bisa mengelolanya dengan benar.</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b="1" lang="en-US" sz="1100">
                <a:latin typeface="Arial"/>
                <a:ea typeface="Arial"/>
                <a:cs typeface="Arial"/>
                <a:sym typeface="Arial"/>
              </a:rPr>
              <a:t>Data Terstruktur (Structured Data)</a:t>
            </a: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Deskripsi:</a:t>
            </a:r>
            <a:r>
              <a:rPr lang="en-US" sz="1100">
                <a:latin typeface="Arial"/>
                <a:ea typeface="Arial"/>
                <a:cs typeface="Arial"/>
                <a:sym typeface="Arial"/>
              </a:rPr>
              <a:t> Data yang memiliki format terorganisir dengan baik, seperti tabel. Setiap bagian data memiliki kolom dan baris yang jelas, membuatnya sangat mudah dicari dan dianalisis.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Analogi:</a:t>
            </a:r>
            <a:r>
              <a:rPr lang="en-US" sz="1100">
                <a:latin typeface="Arial"/>
                <a:ea typeface="Arial"/>
                <a:cs typeface="Arial"/>
                <a:sym typeface="Arial"/>
              </a:rPr>
              <a:t> Seperti data di dalam </a:t>
            </a:r>
            <a:r>
              <a:rPr i="1" lang="en-US" sz="1100">
                <a:latin typeface="Arial"/>
                <a:ea typeface="Arial"/>
                <a:cs typeface="Arial"/>
                <a:sym typeface="Arial"/>
              </a:rPr>
              <a:t>spreadsheet</a:t>
            </a:r>
            <a:r>
              <a:rPr lang="en-US" sz="1100">
                <a:latin typeface="Arial"/>
                <a:ea typeface="Arial"/>
                <a:cs typeface="Arial"/>
                <a:sym typeface="Arial"/>
              </a:rPr>
              <a:t> atau tabel database. Setiap baris mewakili satu entitas (misalnya, satu transaksi penjualan), dan setiap kolom memiliki kategori yang jelas (ID Pelanggan, Nama Produk, Tanggal, Harga).</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Contoh:</a:t>
            </a:r>
            <a:r>
              <a:rPr lang="en-US" sz="1100">
                <a:latin typeface="Arial"/>
                <a:ea typeface="Arial"/>
                <a:cs typeface="Arial"/>
                <a:sym typeface="Arial"/>
              </a:rPr>
              <a:t> Basis data pelanggan, data transaksi e-commerce, data inventaris, data laporan keuangan.</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b="1" lang="en-US" sz="1100">
                <a:latin typeface="Arial"/>
                <a:ea typeface="Arial"/>
                <a:cs typeface="Arial"/>
                <a:sym typeface="Arial"/>
              </a:rPr>
              <a:t>Data Tidak Terstruktur (Unstructured Data)</a:t>
            </a: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Deskripsi:</a:t>
            </a:r>
            <a:r>
              <a:rPr lang="en-US" sz="1100">
                <a:latin typeface="Arial"/>
                <a:ea typeface="Arial"/>
                <a:cs typeface="Arial"/>
                <a:sym typeface="Arial"/>
              </a:rPr>
              <a:t> Data yang tidak memiliki format yang terorganisir. Ini adalah jenis data yang paling banyak jumlahnya di dunia digital.</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Analogi:</a:t>
            </a:r>
            <a:r>
              <a:rPr lang="en-US" sz="1100">
                <a:latin typeface="Arial"/>
                <a:ea typeface="Arial"/>
                <a:cs typeface="Arial"/>
                <a:sym typeface="Arial"/>
              </a:rPr>
              <a:t> Seperti lemari arsip yang isinya acak, penuh dengan dokumen, foto, dan rekaman suara yang tidak dikategorikan.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Contoh:</a:t>
            </a:r>
            <a:r>
              <a:rPr lang="en-US" sz="1100">
                <a:latin typeface="Arial"/>
                <a:ea typeface="Arial"/>
                <a:cs typeface="Arial"/>
                <a:sym typeface="Arial"/>
              </a:rPr>
              <a:t> Teks dari email, isi percakapan di media sosial, foto, video, rekaman suara, file PDF, data sensor.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b="1" lang="en-US" sz="1100">
                <a:latin typeface="Arial"/>
                <a:ea typeface="Arial"/>
                <a:cs typeface="Arial"/>
                <a:sym typeface="Arial"/>
              </a:rPr>
              <a:t>Data Semi-terstruktur (Semi-structured Data)</a:t>
            </a:r>
            <a:endParaRPr b="1"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Deskripsi:</a:t>
            </a:r>
            <a:r>
              <a:rPr lang="en-US" sz="1100">
                <a:latin typeface="Arial"/>
                <a:ea typeface="Arial"/>
                <a:cs typeface="Arial"/>
                <a:sym typeface="Arial"/>
              </a:rPr>
              <a:t> Data yang tidak terorganisir dalam format tabel yang kaku, tetapi memiliki beberapa tag atau penanda untuk memisahkan elemen data. Ini memudahkan pengelompokan dan pencarian.</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Analogi:</a:t>
            </a:r>
            <a:r>
              <a:rPr lang="en-US" sz="1100">
                <a:latin typeface="Arial"/>
                <a:ea typeface="Arial"/>
                <a:cs typeface="Arial"/>
                <a:sym typeface="Arial"/>
              </a:rPr>
              <a:t> Seperti sebuah resep masakan. Tidak terstruktur seperti tabel, tetapi memiliki label atau tag seperti "Bahan-bahan:", "Langkah-langkah:", dan "Waktu Memasak:", yang membantu kita memahami setiap bagiannya.</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Contoh:</a:t>
            </a:r>
            <a:r>
              <a:rPr lang="en-US" sz="1100">
                <a:latin typeface="Arial"/>
                <a:ea typeface="Arial"/>
                <a:cs typeface="Arial"/>
                <a:sym typeface="Arial"/>
              </a:rPr>
              <a:t> File XML dan JSON yang sering digunakan untuk pertukaran data di internet, email dengan header (pengirim, penerima, subjek), data dari log server.</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Seiring dengan perkembangan teknologi, volume data yang dihasilkan meningkat pesat, memunculkan konsep </a:t>
            </a:r>
            <a:r>
              <a:rPr b="1" lang="en-US" sz="1100">
                <a:latin typeface="Arial"/>
                <a:ea typeface="Arial"/>
                <a:cs typeface="Arial"/>
                <a:sym typeface="Arial"/>
              </a:rPr>
              <a:t>Big Data</a:t>
            </a:r>
            <a:r>
              <a:rPr lang="en-US" sz="1100">
                <a:latin typeface="Arial"/>
                <a:ea typeface="Arial"/>
                <a:cs typeface="Arial"/>
                <a:sym typeface="Arial"/>
              </a:rPr>
              <a:t>. Big Data adalah istilah yang merujuk pada volume data yang sangat besar, kompleks, dan cepat, sehingga tidak bisa lagi diproses dengan metode tradisional.</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Big Data didefinisikan oleh 5 karakteristik utama yang sering disebut </a:t>
            </a:r>
            <a:r>
              <a:rPr b="1" lang="en-US" sz="1100">
                <a:latin typeface="Arial"/>
                <a:ea typeface="Arial"/>
                <a:cs typeface="Arial"/>
                <a:sym typeface="Arial"/>
              </a:rPr>
              <a:t>5V</a:t>
            </a:r>
            <a:r>
              <a:rPr lang="en-US" sz="1100">
                <a:latin typeface="Arial"/>
                <a:ea typeface="Arial"/>
                <a:cs typeface="Arial"/>
                <a:sym typeface="Arial"/>
              </a:rPr>
              <a:t>:</a:t>
            </a:r>
            <a:endParaRPr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AutoNum type="arabicPeriod"/>
            </a:pPr>
            <a:r>
              <a:rPr b="1" lang="en-US" sz="1100">
                <a:latin typeface="Arial"/>
                <a:ea typeface="Arial"/>
                <a:cs typeface="Arial"/>
                <a:sym typeface="Arial"/>
              </a:rPr>
              <a:t>Volume:</a:t>
            </a:r>
            <a:r>
              <a:rPr lang="en-US" sz="1100">
                <a:latin typeface="Arial"/>
                <a:ea typeface="Arial"/>
                <a:cs typeface="Arial"/>
                <a:sym typeface="Arial"/>
              </a:rPr>
              <a:t> Mengacu pada </a:t>
            </a:r>
            <a:r>
              <a:rPr b="1" lang="en-US" sz="1100">
                <a:latin typeface="Arial"/>
                <a:ea typeface="Arial"/>
                <a:cs typeface="Arial"/>
                <a:sym typeface="Arial"/>
              </a:rPr>
              <a:t>jumlah data yang sangat besar</a:t>
            </a:r>
            <a:r>
              <a:rPr lang="en-US" sz="1100">
                <a:latin typeface="Arial"/>
                <a:ea typeface="Arial"/>
                <a:cs typeface="Arial"/>
                <a:sym typeface="Arial"/>
              </a:rPr>
              <a:t>. Bukan lagi gigabytes, melainkan terabytes, petabytes, bahkan exabytes. Ini adalah karakteristik yang paling dikenal dari Big Data.</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b="1" lang="en-US" sz="1100">
                <a:latin typeface="Arial"/>
                <a:ea typeface="Arial"/>
                <a:cs typeface="Arial"/>
                <a:sym typeface="Arial"/>
              </a:rPr>
              <a:t>Velocity:</a:t>
            </a:r>
            <a:r>
              <a:rPr lang="en-US" sz="1100">
                <a:latin typeface="Arial"/>
                <a:ea typeface="Arial"/>
                <a:cs typeface="Arial"/>
                <a:sym typeface="Arial"/>
              </a:rPr>
              <a:t> Mengacu pada </a:t>
            </a:r>
            <a:r>
              <a:rPr b="1" lang="en-US" sz="1100">
                <a:latin typeface="Arial"/>
                <a:ea typeface="Arial"/>
                <a:cs typeface="Arial"/>
                <a:sym typeface="Arial"/>
              </a:rPr>
              <a:t>kecepatan data dihasilkan dan harus diproses</a:t>
            </a:r>
            <a:r>
              <a:rPr lang="en-US" sz="1100">
                <a:latin typeface="Arial"/>
                <a:ea typeface="Arial"/>
                <a:cs typeface="Arial"/>
                <a:sym typeface="Arial"/>
              </a:rPr>
              <a:t>. Dalam dunia modern, data seperti </a:t>
            </a:r>
            <a:r>
              <a:rPr i="1" lang="en-US" sz="1100">
                <a:latin typeface="Arial"/>
                <a:ea typeface="Arial"/>
                <a:cs typeface="Arial"/>
                <a:sym typeface="Arial"/>
              </a:rPr>
              <a:t>tweet</a:t>
            </a:r>
            <a:r>
              <a:rPr lang="en-US" sz="1100">
                <a:latin typeface="Arial"/>
                <a:ea typeface="Arial"/>
                <a:cs typeface="Arial"/>
                <a:sym typeface="Arial"/>
              </a:rPr>
              <a:t> di Twitter atau klik pengguna di website mengalir secara </a:t>
            </a:r>
            <a:r>
              <a:rPr i="1" lang="en-US" sz="1100">
                <a:latin typeface="Arial"/>
                <a:ea typeface="Arial"/>
                <a:cs typeface="Arial"/>
                <a:sym typeface="Arial"/>
              </a:rPr>
              <a:t>real-time</a:t>
            </a:r>
            <a:r>
              <a:rPr lang="en-US" sz="1100">
                <a:latin typeface="Arial"/>
                <a:ea typeface="Arial"/>
                <a:cs typeface="Arial"/>
                <a:sym typeface="Arial"/>
              </a:rPr>
              <a:t> dan harus segera diproses.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b="1" lang="en-US" sz="1100">
                <a:latin typeface="Arial"/>
                <a:ea typeface="Arial"/>
                <a:cs typeface="Arial"/>
                <a:sym typeface="Arial"/>
              </a:rPr>
              <a:t>Variety:</a:t>
            </a:r>
            <a:r>
              <a:rPr lang="en-US" sz="1100">
                <a:latin typeface="Arial"/>
                <a:ea typeface="Arial"/>
                <a:cs typeface="Arial"/>
                <a:sym typeface="Arial"/>
              </a:rPr>
              <a:t> Mengacu pada </a:t>
            </a:r>
            <a:r>
              <a:rPr b="1" lang="en-US" sz="1100">
                <a:latin typeface="Arial"/>
                <a:ea typeface="Arial"/>
                <a:cs typeface="Arial"/>
                <a:sym typeface="Arial"/>
              </a:rPr>
              <a:t>beragamnya jenis data</a:t>
            </a:r>
            <a:r>
              <a:rPr lang="en-US" sz="1100">
                <a:latin typeface="Arial"/>
                <a:ea typeface="Arial"/>
                <a:cs typeface="Arial"/>
                <a:sym typeface="Arial"/>
              </a:rPr>
              <a:t>. Seperti yang kita bahas sebelumnya, data tidak hanya terstruktur, tetapi juga tidak terstruktur (gambar, video, teks) dan semi-terstruktur.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b="1" lang="en-US" sz="1100">
                <a:latin typeface="Arial"/>
                <a:ea typeface="Arial"/>
                <a:cs typeface="Arial"/>
                <a:sym typeface="Arial"/>
              </a:rPr>
              <a:t>Veracity:</a:t>
            </a:r>
            <a:r>
              <a:rPr lang="en-US" sz="1100">
                <a:latin typeface="Arial"/>
                <a:ea typeface="Arial"/>
                <a:cs typeface="Arial"/>
                <a:sym typeface="Arial"/>
              </a:rPr>
              <a:t> Mengacu pada </a:t>
            </a:r>
            <a:r>
              <a:rPr b="1" lang="en-US" sz="1100">
                <a:latin typeface="Arial"/>
                <a:ea typeface="Arial"/>
                <a:cs typeface="Arial"/>
                <a:sym typeface="Arial"/>
              </a:rPr>
              <a:t>kualitas dan keandalan data</a:t>
            </a:r>
            <a:r>
              <a:rPr lang="en-US" sz="1100">
                <a:latin typeface="Arial"/>
                <a:ea typeface="Arial"/>
                <a:cs typeface="Arial"/>
                <a:sym typeface="Arial"/>
              </a:rPr>
              <a:t>. Apakah data ini akurat dan dapat dipercaya? Big Data sering kali berasal dari sumber yang beragam, yang bisa jadi tidak konsisten atau tidak akurat, sehingga menjaga kualitas data menjadi tantangan besar.</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AutoNum type="arabicPeriod"/>
            </a:pPr>
            <a:r>
              <a:rPr b="1" lang="en-US" sz="1100">
                <a:latin typeface="Arial"/>
                <a:ea typeface="Arial"/>
                <a:cs typeface="Arial"/>
                <a:sym typeface="Arial"/>
              </a:rPr>
              <a:t>Value:</a:t>
            </a:r>
            <a:r>
              <a:rPr lang="en-US" sz="1100">
                <a:latin typeface="Arial"/>
                <a:ea typeface="Arial"/>
                <a:cs typeface="Arial"/>
                <a:sym typeface="Arial"/>
              </a:rPr>
              <a:t> Ini adalah V yang paling penting. </a:t>
            </a:r>
            <a:r>
              <a:rPr b="1" lang="en-US" sz="1100">
                <a:latin typeface="Arial"/>
                <a:ea typeface="Arial"/>
                <a:cs typeface="Arial"/>
                <a:sym typeface="Arial"/>
              </a:rPr>
              <a:t>Data harus memiliki nilai atau manfaat</a:t>
            </a:r>
            <a:r>
              <a:rPr lang="en-US" sz="1100">
                <a:latin typeface="Arial"/>
                <a:ea typeface="Arial"/>
                <a:cs typeface="Arial"/>
                <a:sym typeface="Arial"/>
              </a:rPr>
              <a:t>. Tidak ada gunanya mengelola data yang sangat besar jika tidak bisa diubah menjadi wawasan atau keputusan yang bermanfaat bagi bisnis. Tujuan akhir dari Big Data adalah untuk mendapatkan </a:t>
            </a:r>
            <a:r>
              <a:rPr b="1" lang="en-US" sz="1100">
                <a:latin typeface="Arial"/>
                <a:ea typeface="Arial"/>
                <a:cs typeface="Arial"/>
                <a:sym typeface="Arial"/>
              </a:rPr>
              <a:t>value</a:t>
            </a:r>
            <a:r>
              <a:rPr lang="en-US" sz="1100">
                <a:latin typeface="Arial"/>
                <a:ea typeface="Arial"/>
                <a:cs typeface="Arial"/>
                <a:sym typeface="Arial"/>
              </a:rPr>
              <a:t> ini.</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2: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4: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Anda sudah mulai mengumpulkan data transaksi </a:t>
            </a:r>
            <a:r>
              <a:rPr i="1" lang="en-US" sz="1100">
                <a:latin typeface="Arial"/>
                <a:ea typeface="Arial"/>
                <a:cs typeface="Arial"/>
                <a:sym typeface="Arial"/>
              </a:rPr>
              <a:t>coffee shop</a:t>
            </a:r>
            <a:r>
              <a:rPr lang="en-US" sz="1100">
                <a:latin typeface="Arial"/>
                <a:ea typeface="Arial"/>
                <a:cs typeface="Arial"/>
                <a:sym typeface="Arial"/>
              </a:rPr>
              <a:t> Anda. Anda tahu bahwa pada hari hujan, penjualan kopi panas meningkat. Ini adalah wawasan yang bagus. Tapi bagaimana jika Anda ingin memprediksi penjualan kopi panas untuk besok hanya dengan melihat ramalan cuaca? Atau bagaimana jika Anda ingin tahu produk apa yang paling sering dibeli bersamaan dengan Kopi Latte tanpa harus menelusuri ribuan struk secara manual? Bagaimana kita bisa membuat komputer memprediksi dan menemukan pola dari data secara otomatis, tanpa harus menulis setiap aturan satu per satu?</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6: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8: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Supervised Learning (Pembelajaran Terbimbing)</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Konsep</a:t>
            </a:r>
            <a:r>
              <a:rPr lang="en-US" sz="1100">
                <a:latin typeface="Arial"/>
                <a:ea typeface="Arial"/>
                <a:cs typeface="Arial"/>
                <a:sym typeface="Arial"/>
              </a:rPr>
              <a:t>: Seperti namanya, </a:t>
            </a:r>
            <a:r>
              <a:rPr b="1" lang="en-US" sz="1100">
                <a:latin typeface="Arial"/>
                <a:ea typeface="Arial"/>
                <a:cs typeface="Arial"/>
                <a:sym typeface="Arial"/>
              </a:rPr>
              <a:t>Supervised Learning</a:t>
            </a:r>
            <a:r>
              <a:rPr lang="en-US" sz="1100">
                <a:latin typeface="Arial"/>
                <a:ea typeface="Arial"/>
                <a:cs typeface="Arial"/>
                <a:sym typeface="Arial"/>
              </a:rPr>
              <a:t> adalah proses belajar yang "dibimbing" oleh data berlabel. Artinya, data kita sudah punya "jawaban" atau "target" yang jelas.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Cara Kerja</a:t>
            </a:r>
            <a:r>
              <a:rPr lang="en-US" sz="1100">
                <a:latin typeface="Arial"/>
                <a:ea typeface="Arial"/>
                <a:cs typeface="Arial"/>
                <a:sym typeface="Arial"/>
              </a:rPr>
              <a:t>: Kita memberi model data masukan (</a:t>
            </a:r>
            <a:r>
              <a:rPr b="1" lang="en-US" sz="1100">
                <a:latin typeface="Arial"/>
                <a:ea typeface="Arial"/>
                <a:cs typeface="Arial"/>
                <a:sym typeface="Arial"/>
              </a:rPr>
              <a:t>features</a:t>
            </a:r>
            <a:r>
              <a:rPr lang="en-US" sz="1100">
                <a:latin typeface="Arial"/>
                <a:ea typeface="Arial"/>
                <a:cs typeface="Arial"/>
                <a:sym typeface="Arial"/>
              </a:rPr>
              <a:t>) dan data keluaran (</a:t>
            </a:r>
            <a:r>
              <a:rPr b="1" lang="en-US" sz="1100">
                <a:latin typeface="Arial"/>
                <a:ea typeface="Arial"/>
                <a:cs typeface="Arial"/>
                <a:sym typeface="Arial"/>
              </a:rPr>
              <a:t>labels</a:t>
            </a:r>
            <a:r>
              <a:rPr lang="en-US" sz="1100">
                <a:latin typeface="Arial"/>
                <a:ea typeface="Arial"/>
                <a:cs typeface="Arial"/>
                <a:sym typeface="Arial"/>
              </a:rPr>
              <a:t>). Model akan belajar untuk memetakan hubungan antara keduanya.</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Contoh di Jaminan Kredit</a:t>
            </a:r>
            <a:r>
              <a:rPr lang="en-US" sz="1100">
                <a:latin typeface="Arial"/>
                <a:ea typeface="Arial"/>
                <a:cs typeface="Arial"/>
                <a:sym typeface="Arial"/>
              </a:rPr>
              <a:t>:</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Klasifikasi</a:t>
            </a:r>
            <a:r>
              <a:rPr lang="en-US" sz="1100">
                <a:latin typeface="Arial"/>
                <a:ea typeface="Arial"/>
                <a:cs typeface="Arial"/>
                <a:sym typeface="Arial"/>
              </a:rPr>
              <a:t>: Kita punya data nasabah yang sudah dilabeli 'gagal bayar' atau 'lunas'. Model akan belajar dari data ini untuk memprediksi apakah nasabah baru akan masuk kategori 'gagal bayar' atau 'lunas'.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Regresi</a:t>
            </a:r>
            <a:r>
              <a:rPr lang="en-US" sz="1100">
                <a:latin typeface="Arial"/>
                <a:ea typeface="Arial"/>
                <a:cs typeface="Arial"/>
                <a:sym typeface="Arial"/>
              </a:rPr>
              <a:t>: Memprediksi nilai numerik. Misalnya, memprediksi berapa jumlah pinjaman ideal yang bisa diberikan kepada seorang nasabah berdasarkan pendapatannya.</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2. Unsupervised Learning (Pembelajaran Tanpa Terbimbing)</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Konsep</a:t>
            </a:r>
            <a:r>
              <a:rPr lang="en-US" sz="1100">
                <a:latin typeface="Arial"/>
                <a:ea typeface="Arial"/>
                <a:cs typeface="Arial"/>
                <a:sym typeface="Arial"/>
              </a:rPr>
              <a:t>: Di sini, data kita tidak memiliki label atau jawaban. Tugas model adalah menemukan struktur atau pola tersembunyi dalam data itu sendiri.</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Cara Kerja</a:t>
            </a:r>
            <a:r>
              <a:rPr lang="en-US" sz="1100">
                <a:latin typeface="Arial"/>
                <a:ea typeface="Arial"/>
                <a:cs typeface="Arial"/>
                <a:sym typeface="Arial"/>
              </a:rPr>
              <a:t>: Model akan mengelompokkan data berdasarkan kesamaan karakteristiknya, tanpa tahu apa makna dari kelompok-kelompok tersebut.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Contoh di Jaminan Kredit</a:t>
            </a:r>
            <a:r>
              <a:rPr lang="en-US" sz="1100">
                <a:latin typeface="Arial"/>
                <a:ea typeface="Arial"/>
                <a:cs typeface="Arial"/>
                <a:sym typeface="Arial"/>
              </a:rPr>
              <a:t>:</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Clustering</a:t>
            </a:r>
            <a:r>
              <a:rPr lang="en-US" sz="1100">
                <a:latin typeface="Arial"/>
                <a:ea typeface="Arial"/>
                <a:cs typeface="Arial"/>
                <a:sym typeface="Arial"/>
              </a:rPr>
              <a:t>: Mengelompokkan nasabah ke dalam beberapa segmen berdasarkan perilaku pinjaman mereka. Misalnya, model mungkin menemukan tiga kelompok: 'Nasabah Berisiko Tinggi', 'Nasabah Stabil', dan 'Nasabah Sangat Aman'. Kita bisa menggunakan informasi ini untuk membuat strategi penawaran produk yang berbeda untuk setiap kelompok.</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3. Reinforcement Learning (Pembelajaran Penguatan)</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Konsep</a:t>
            </a:r>
            <a:r>
              <a:rPr lang="en-US" sz="1100">
                <a:latin typeface="Arial"/>
                <a:ea typeface="Arial"/>
                <a:cs typeface="Arial"/>
                <a:sym typeface="Arial"/>
              </a:rPr>
              <a:t>: Tipe ini memungkinkan agen (misalnya, sebuah program) untuk belajar dari interaksi dengan lingkungannya. Agen akan mencoba berbagai tindakan dan diberi 'hadiah' atau 'hukuman' berdasarkan hasilnya.</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Cara Kerja</a:t>
            </a:r>
            <a:r>
              <a:rPr lang="en-US" sz="1100">
                <a:latin typeface="Arial"/>
                <a:ea typeface="Arial"/>
                <a:cs typeface="Arial"/>
                <a:sym typeface="Arial"/>
              </a:rPr>
              <a:t>: Tujuannya adalah membuat agen belajar sendiri untuk mencapai tujuan yang maksimal.</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Contoh di Jaminan Kredit</a:t>
            </a:r>
            <a:r>
              <a:rPr lang="en-US" sz="1100">
                <a:latin typeface="Arial"/>
                <a:ea typeface="Arial"/>
                <a:cs typeface="Arial"/>
                <a:sym typeface="Arial"/>
              </a:rPr>
              <a:t>: Ini mungkin tidak sering digunakan dalam analisis risiko kredit sehari-hari, tapi bisa relevan untuk skenario yang lebih kompleks, misalnya mengoptimalkan strategi penagihan utang. Agen bisa belajar strategi mana yang paling efektif untuk menagih nasabah yang menunggak, tanpa harus kita berikan aturan yang kaku.</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Supervised Learning (Pembelajaran Terbimbing)</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Konsep</a:t>
            </a:r>
            <a:r>
              <a:rPr lang="en-US" sz="1100">
                <a:latin typeface="Arial"/>
                <a:ea typeface="Arial"/>
                <a:cs typeface="Arial"/>
                <a:sym typeface="Arial"/>
              </a:rPr>
              <a:t>: Seperti namanya, </a:t>
            </a:r>
            <a:r>
              <a:rPr b="1" lang="en-US" sz="1100">
                <a:latin typeface="Arial"/>
                <a:ea typeface="Arial"/>
                <a:cs typeface="Arial"/>
                <a:sym typeface="Arial"/>
              </a:rPr>
              <a:t>Supervised Learning</a:t>
            </a:r>
            <a:r>
              <a:rPr lang="en-US" sz="1100">
                <a:latin typeface="Arial"/>
                <a:ea typeface="Arial"/>
                <a:cs typeface="Arial"/>
                <a:sym typeface="Arial"/>
              </a:rPr>
              <a:t> adalah proses belajar yang "dibimbing" oleh data berlabel. Artinya, data kita sudah punya "jawaban" atau "target" yang jelas.</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Cara Kerja</a:t>
            </a:r>
            <a:r>
              <a:rPr lang="en-US" sz="1100">
                <a:latin typeface="Arial"/>
                <a:ea typeface="Arial"/>
                <a:cs typeface="Arial"/>
                <a:sym typeface="Arial"/>
              </a:rPr>
              <a:t>: Kita memberi model data masukan (</a:t>
            </a:r>
            <a:r>
              <a:rPr b="1" lang="en-US" sz="1100">
                <a:latin typeface="Arial"/>
                <a:ea typeface="Arial"/>
                <a:cs typeface="Arial"/>
                <a:sym typeface="Arial"/>
              </a:rPr>
              <a:t>features</a:t>
            </a:r>
            <a:r>
              <a:rPr lang="en-US" sz="1100">
                <a:latin typeface="Arial"/>
                <a:ea typeface="Arial"/>
                <a:cs typeface="Arial"/>
                <a:sym typeface="Arial"/>
              </a:rPr>
              <a:t>) dan data keluaran (</a:t>
            </a:r>
            <a:r>
              <a:rPr b="1" lang="en-US" sz="1100">
                <a:latin typeface="Arial"/>
                <a:ea typeface="Arial"/>
                <a:cs typeface="Arial"/>
                <a:sym typeface="Arial"/>
              </a:rPr>
              <a:t>labels</a:t>
            </a:r>
            <a:r>
              <a:rPr lang="en-US" sz="1100">
                <a:latin typeface="Arial"/>
                <a:ea typeface="Arial"/>
                <a:cs typeface="Arial"/>
                <a:sym typeface="Arial"/>
              </a:rPr>
              <a:t>). Model akan belajar untuk memetakan hubungan antara keduanya.</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Contoh di Jaminan Kredit</a:t>
            </a:r>
            <a:r>
              <a:rPr lang="en-US" sz="1100">
                <a:latin typeface="Arial"/>
                <a:ea typeface="Arial"/>
                <a:cs typeface="Arial"/>
                <a:sym typeface="Arial"/>
              </a:rPr>
              <a:t>:</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Klasifikasi</a:t>
            </a:r>
            <a:r>
              <a:rPr lang="en-US" sz="1100">
                <a:latin typeface="Arial"/>
                <a:ea typeface="Arial"/>
                <a:cs typeface="Arial"/>
                <a:sym typeface="Arial"/>
              </a:rPr>
              <a:t>: Kita punya data nasabah yang sudah dilabeli 'gagal bayar' atau 'lunas'. Model akan belajar dari data ini untuk memprediksi apakah nasabah baru akan masuk kategori 'gagal bayar' atau 'lunas'.</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Regresi</a:t>
            </a:r>
            <a:r>
              <a:rPr lang="en-US" sz="1100">
                <a:latin typeface="Arial"/>
                <a:ea typeface="Arial"/>
                <a:cs typeface="Arial"/>
                <a:sym typeface="Arial"/>
              </a:rPr>
              <a:t>: Memprediksi nilai numerik. Misalnya, memprediksi berapa jumlah pinjaman ideal yang bisa diberikan kepada seorang nasabah berdasarkan pendapatannya.</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2. Unsupervised Learning (Pembelajaran Tanpa Terbimbing)</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Konsep</a:t>
            </a:r>
            <a:r>
              <a:rPr lang="en-US" sz="1100">
                <a:latin typeface="Arial"/>
                <a:ea typeface="Arial"/>
                <a:cs typeface="Arial"/>
                <a:sym typeface="Arial"/>
              </a:rPr>
              <a:t>: Di sini, data kita tidak memiliki label atau jawaban. Tugas model adalah menemukan struktur atau pola tersembunyi dalam data itu sendiri.</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Cara Kerja</a:t>
            </a:r>
            <a:r>
              <a:rPr lang="en-US" sz="1100">
                <a:latin typeface="Arial"/>
                <a:ea typeface="Arial"/>
                <a:cs typeface="Arial"/>
                <a:sym typeface="Arial"/>
              </a:rPr>
              <a:t>: Model akan mengelompokkan data berdasarkan kesamaan karakteristiknya, tanpa tahu apa makna dari kelompok-kelompok tersebut.</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Contoh di Jaminan Kredit</a:t>
            </a:r>
            <a:r>
              <a:rPr lang="en-US" sz="1100">
                <a:latin typeface="Arial"/>
                <a:ea typeface="Arial"/>
                <a:cs typeface="Arial"/>
                <a:sym typeface="Arial"/>
              </a:rPr>
              <a:t>:</a:t>
            </a:r>
            <a:endParaRPr sz="1100">
              <a:latin typeface="Arial"/>
              <a:ea typeface="Arial"/>
              <a:cs typeface="Arial"/>
              <a:sym typeface="Arial"/>
            </a:endParaRPr>
          </a:p>
          <a:p>
            <a:pPr indent="-298450" lvl="1" marL="9144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Clustering</a:t>
            </a:r>
            <a:r>
              <a:rPr lang="en-US" sz="1100">
                <a:latin typeface="Arial"/>
                <a:ea typeface="Arial"/>
                <a:cs typeface="Arial"/>
                <a:sym typeface="Arial"/>
              </a:rPr>
              <a:t>: Mengelompokkan nasabah ke dalam beberapa segmen berdasarkan perilaku pinjaman mereka. Misalnya, model mungkin menemukan tiga kelompok: 'Nasabah Berisiko Tinggi', 'Nasabah Stabil', dan 'Nasabah Sangat Aman'. Kita bisa menggunakan informasi ini untuk membuat strategi penawaran produk yang berbeda untuk setiap kelompok.</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3. Reinforcement Learning (Pembelajaran Penguatan)</a:t>
            </a:r>
            <a:endParaRPr b="1" sz="1100">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b="1" lang="en-US" sz="1100">
                <a:latin typeface="Arial"/>
                <a:ea typeface="Arial"/>
                <a:cs typeface="Arial"/>
                <a:sym typeface="Arial"/>
              </a:rPr>
              <a:t>Konsep</a:t>
            </a:r>
            <a:r>
              <a:rPr lang="en-US" sz="1100">
                <a:latin typeface="Arial"/>
                <a:ea typeface="Arial"/>
                <a:cs typeface="Arial"/>
                <a:sym typeface="Arial"/>
              </a:rPr>
              <a:t>: Tipe ini memungkinkan agen (misalnya, sebuah program) untuk belajar dari interaksi dengan lingkungannya. Agen akan mencoba berbagai tindakan dan diberi 'hadiah' atau 'hukuman' berdasarkan hasilnya.</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Cara Kerja</a:t>
            </a:r>
            <a:r>
              <a:rPr lang="en-US" sz="1100">
                <a:latin typeface="Arial"/>
                <a:ea typeface="Arial"/>
                <a:cs typeface="Arial"/>
                <a:sym typeface="Arial"/>
              </a:rPr>
              <a:t>: Tujuannya adalah membuat agen belajar sendiri untuk mencapai tujuan yang maksimal.</a:t>
            </a:r>
            <a:endParaRPr sz="1100">
              <a:latin typeface="Arial"/>
              <a:ea typeface="Arial"/>
              <a:cs typeface="Arial"/>
              <a:sym typeface="Arial"/>
            </a:endParaRPr>
          </a:p>
          <a:p>
            <a:pPr indent="-298450" lvl="0" marL="457200" rtl="0" algn="l">
              <a:lnSpc>
                <a:spcPct val="115000"/>
              </a:lnSpc>
              <a:spcBef>
                <a:spcPts val="0"/>
              </a:spcBef>
              <a:spcAft>
                <a:spcPts val="0"/>
              </a:spcAft>
              <a:buClr>
                <a:schemeClr val="dk1"/>
              </a:buClr>
              <a:buSzPts val="1100"/>
              <a:buChar char="●"/>
            </a:pPr>
            <a:r>
              <a:rPr b="1" lang="en-US" sz="1100">
                <a:latin typeface="Arial"/>
                <a:ea typeface="Arial"/>
                <a:cs typeface="Arial"/>
                <a:sym typeface="Arial"/>
              </a:rPr>
              <a:t>Contoh di Jaminan Kredit</a:t>
            </a:r>
            <a:r>
              <a:rPr lang="en-US" sz="1100">
                <a:latin typeface="Arial"/>
                <a:ea typeface="Arial"/>
                <a:cs typeface="Arial"/>
                <a:sym typeface="Arial"/>
              </a:rPr>
              <a:t>: Ini mungkin tidak sering digunakan dalam analisis risiko kredit sehari-hari, tapi bisa relevan untuk skenario yang lebih kompleks, misalnya mengoptimalkan strategi penagihan utang. Agen bisa belajar strategi mana yang paling efektif untuk menagih nasabah yang menunggak, tanpa harus kita berikan aturan yang kaku.</a:t>
            </a:r>
            <a:endParaRPr sz="1100">
              <a:latin typeface="Arial"/>
              <a:ea typeface="Arial"/>
              <a:cs typeface="Arial"/>
              <a:sym typeface="Arial"/>
            </a:endParaRPr>
          </a:p>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2: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2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4: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6: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5" name="Google Shape;385;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8: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2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3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5" name="Google Shape;425;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32: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3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200"/>
              </a:spcBef>
              <a:spcAft>
                <a:spcPts val="0"/>
              </a:spcAft>
              <a:buSzPts val="1400"/>
              <a:buNone/>
            </a:pPr>
            <a:r>
              <a:t/>
            </a:r>
            <a:endParaRPr sz="1100">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4: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3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36: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7" name="Google Shape;49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6" name="Google Shape;506;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38: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4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4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42: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2" name="Google Shape;552;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4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3" name="Google Shape;563;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44: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p4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6: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4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48: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4" name="Google Shape;624;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49: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0" name="Google Shape;630;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50: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1100">
                <a:latin typeface="Arial"/>
                <a:ea typeface="Arial"/>
                <a:cs typeface="Arial"/>
                <a:sym typeface="Arial"/>
              </a:rPr>
              <a:t>Anda sudah mulai menulis kode Python, tetapi seiring berjalannya waktu, kode Anda akan menjadi lebih panjang dan kompleks. Jika Anda kembali ke kode yang ditulis sebulan yang lalu, apakah Anda akan langsung memahaminya? Bagaimana jika Anda perlu berkolaborasi dengan orang lain? Tanpa penjelasan, kode yang cemerlang sekalipun bisa menjadi misteri. Jadi, bagaimana kita bisa membuat kode kita mudah dipahami oleh diri sendiri dan orang lain?</a:t>
            </a:r>
            <a:endParaRPr sz="1100">
              <a:latin typeface="Arial"/>
              <a:ea typeface="Arial"/>
              <a:cs typeface="Arial"/>
              <a:sym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51: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52: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6" name="Google Shape;656;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53: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6" name="Google Shape;666;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p54: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4" name="Google Shape;674;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55: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0" name="Google Shape;690;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p56: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6" name="Google Shape;696;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57: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3" name="Google Shape;703;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p58:notes"/>
          <p:cNvSpPr/>
          <p:nvPr>
            <p:ph idx="2" type="sldImg"/>
          </p:nvPr>
        </p:nvSpPr>
        <p:spPr>
          <a:xfrm>
            <a:off x="381708" y="685800"/>
            <a:ext cx="60951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0" name="Google Shape;710;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60"/>
          <p:cNvSpPr txBox="1"/>
          <p:nvPr>
            <p:ph type="ctrTitle"/>
          </p:nvPr>
        </p:nvSpPr>
        <p:spPr>
          <a:xfrm>
            <a:off x="685920" y="1598313"/>
            <a:ext cx="7773750" cy="110285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60"/>
          <p:cNvSpPr txBox="1"/>
          <p:nvPr>
            <p:ph idx="1" type="subTitle"/>
          </p:nvPr>
        </p:nvSpPr>
        <p:spPr>
          <a:xfrm>
            <a:off x="1371839" y="2915550"/>
            <a:ext cx="6401911" cy="1314856"/>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60"/>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60"/>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60"/>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63"/>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63"/>
          <p:cNvSpPr txBox="1"/>
          <p:nvPr>
            <p:ph idx="1" type="body"/>
          </p:nvPr>
        </p:nvSpPr>
        <p:spPr>
          <a:xfrm>
            <a:off x="457280" y="1200521"/>
            <a:ext cx="8231030" cy="339552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63"/>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63"/>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63"/>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27" name="Shape 27"/>
        <p:cNvGrpSpPr/>
        <p:nvPr/>
      </p:nvGrpSpPr>
      <p:grpSpPr>
        <a:xfrm>
          <a:off x="0" y="0"/>
          <a:ext cx="0" cy="0"/>
          <a:chOff x="0" y="0"/>
          <a:chExt cx="0" cy="0"/>
        </a:xfrm>
      </p:grpSpPr>
      <p:sp>
        <p:nvSpPr>
          <p:cNvPr id="28" name="Google Shape;28;p64"/>
          <p:cNvSpPr txBox="1"/>
          <p:nvPr>
            <p:ph idx="11" type="ftr"/>
          </p:nvPr>
        </p:nvSpPr>
        <p:spPr>
          <a:xfrm>
            <a:off x="3109495" y="4784920"/>
            <a:ext cx="2926800" cy="2574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700"/>
              <a:buNone/>
              <a:defRPr>
                <a:solidFill>
                  <a:srgbClr val="888888"/>
                </a:solidFill>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29" name="Google Shape;29;p64"/>
          <p:cNvSpPr txBox="1"/>
          <p:nvPr>
            <p:ph idx="10" type="dt"/>
          </p:nvPr>
        </p:nvSpPr>
        <p:spPr>
          <a:xfrm>
            <a:off x="457279" y="4784920"/>
            <a:ext cx="2103300" cy="257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700"/>
              <a:buNone/>
              <a:defRPr>
                <a:solidFill>
                  <a:srgbClr val="888888"/>
                </a:solidFill>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30" name="Google Shape;30;p64"/>
          <p:cNvSpPr txBox="1"/>
          <p:nvPr>
            <p:ph idx="12" type="sldNum"/>
          </p:nvPr>
        </p:nvSpPr>
        <p:spPr>
          <a:xfrm>
            <a:off x="6584814" y="4784920"/>
            <a:ext cx="2103300" cy="1386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200">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65"/>
          <p:cNvSpPr txBox="1"/>
          <p:nvPr>
            <p:ph type="title"/>
          </p:nvPr>
        </p:nvSpPr>
        <p:spPr>
          <a:xfrm>
            <a:off x="722438" y="3306196"/>
            <a:ext cx="7773750" cy="102187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5"/>
          <p:cNvSpPr txBox="1"/>
          <p:nvPr>
            <p:ph idx="1" type="body"/>
          </p:nvPr>
        </p:nvSpPr>
        <p:spPr>
          <a:xfrm>
            <a:off x="722438" y="2180709"/>
            <a:ext cx="7773750" cy="11254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65"/>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5"/>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5"/>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6"/>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6"/>
          <p:cNvSpPr txBox="1"/>
          <p:nvPr>
            <p:ph idx="1" type="body"/>
          </p:nvPr>
        </p:nvSpPr>
        <p:spPr>
          <a:xfrm>
            <a:off x="350899" y="1229105"/>
            <a:ext cx="3083461" cy="3476508"/>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66"/>
          <p:cNvSpPr txBox="1"/>
          <p:nvPr>
            <p:ph idx="2" type="body"/>
          </p:nvPr>
        </p:nvSpPr>
        <p:spPr>
          <a:xfrm>
            <a:off x="3586787" y="1229105"/>
            <a:ext cx="3085047" cy="3476508"/>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66"/>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6"/>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6"/>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67"/>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7"/>
          <p:cNvSpPr txBox="1"/>
          <p:nvPr>
            <p:ph idx="1" type="body"/>
          </p:nvPr>
        </p:nvSpPr>
        <p:spPr>
          <a:xfrm>
            <a:off x="457279" y="1151690"/>
            <a:ext cx="4040890" cy="47997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67"/>
          <p:cNvSpPr txBox="1"/>
          <p:nvPr>
            <p:ph idx="2" type="body"/>
          </p:nvPr>
        </p:nvSpPr>
        <p:spPr>
          <a:xfrm>
            <a:off x="457279" y="1631660"/>
            <a:ext cx="4040890" cy="2964381"/>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67"/>
          <p:cNvSpPr txBox="1"/>
          <p:nvPr>
            <p:ph idx="3" type="body"/>
          </p:nvPr>
        </p:nvSpPr>
        <p:spPr>
          <a:xfrm>
            <a:off x="4645833" y="1151690"/>
            <a:ext cx="4042477" cy="47997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67"/>
          <p:cNvSpPr txBox="1"/>
          <p:nvPr>
            <p:ph idx="4" type="body"/>
          </p:nvPr>
        </p:nvSpPr>
        <p:spPr>
          <a:xfrm>
            <a:off x="4645833" y="1631660"/>
            <a:ext cx="4042477" cy="2964381"/>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67"/>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7"/>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7"/>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68"/>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68"/>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8"/>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68"/>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8" name="Shape 58"/>
        <p:cNvGrpSpPr/>
        <p:nvPr/>
      </p:nvGrpSpPr>
      <p:grpSpPr>
        <a:xfrm>
          <a:off x="0" y="0"/>
          <a:ext cx="0" cy="0"/>
          <a:chOff x="0" y="0"/>
          <a:chExt cx="0" cy="0"/>
        </a:xfrm>
      </p:grpSpPr>
      <p:sp>
        <p:nvSpPr>
          <p:cNvPr id="59" name="Google Shape;59;p69"/>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9"/>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69"/>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2" name="Shape 62"/>
        <p:cNvGrpSpPr/>
        <p:nvPr/>
      </p:nvGrpSpPr>
      <p:grpSpPr>
        <a:xfrm>
          <a:off x="0" y="0"/>
          <a:ext cx="0" cy="0"/>
          <a:chOff x="0" y="0"/>
          <a:chExt cx="0" cy="0"/>
        </a:xfrm>
      </p:grpSpPr>
      <p:sp>
        <p:nvSpPr>
          <p:cNvPr id="63" name="Google Shape;63;p70"/>
          <p:cNvSpPr txBox="1"/>
          <p:nvPr>
            <p:ph type="title"/>
          </p:nvPr>
        </p:nvSpPr>
        <p:spPr>
          <a:xfrm>
            <a:off x="457280" y="204851"/>
            <a:ext cx="3008835" cy="87180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70"/>
          <p:cNvSpPr txBox="1"/>
          <p:nvPr>
            <p:ph idx="1" type="body"/>
          </p:nvPr>
        </p:nvSpPr>
        <p:spPr>
          <a:xfrm>
            <a:off x="3575671" y="204852"/>
            <a:ext cx="5112638" cy="439119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5" name="Google Shape;65;p70"/>
          <p:cNvSpPr txBox="1"/>
          <p:nvPr>
            <p:ph idx="2" type="body"/>
          </p:nvPr>
        </p:nvSpPr>
        <p:spPr>
          <a:xfrm>
            <a:off x="457280" y="1076658"/>
            <a:ext cx="3008835" cy="351938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6" name="Google Shape;66;p70"/>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70"/>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70"/>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71"/>
          <p:cNvSpPr txBox="1"/>
          <p:nvPr>
            <p:ph type="title"/>
          </p:nvPr>
        </p:nvSpPr>
        <p:spPr>
          <a:xfrm>
            <a:off x="1792600" y="3601562"/>
            <a:ext cx="5487353" cy="42518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71"/>
          <p:cNvSpPr/>
          <p:nvPr>
            <p:ph idx="2" type="pic"/>
          </p:nvPr>
        </p:nvSpPr>
        <p:spPr>
          <a:xfrm>
            <a:off x="1792600" y="459723"/>
            <a:ext cx="5487353" cy="3087053"/>
          </a:xfrm>
          <a:prstGeom prst="rect">
            <a:avLst/>
          </a:prstGeom>
          <a:noFill/>
          <a:ln>
            <a:noFill/>
          </a:ln>
        </p:spPr>
      </p:sp>
      <p:sp>
        <p:nvSpPr>
          <p:cNvPr id="72" name="Google Shape;72;p71"/>
          <p:cNvSpPr txBox="1"/>
          <p:nvPr>
            <p:ph idx="1" type="body"/>
          </p:nvPr>
        </p:nvSpPr>
        <p:spPr>
          <a:xfrm>
            <a:off x="1792600" y="4026747"/>
            <a:ext cx="5487353" cy="60383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3" name="Google Shape;73;p71"/>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71"/>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71"/>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6" name="Shape 76"/>
        <p:cNvGrpSpPr/>
        <p:nvPr/>
      </p:nvGrpSpPr>
      <p:grpSpPr>
        <a:xfrm>
          <a:off x="0" y="0"/>
          <a:ext cx="0" cy="0"/>
          <a:chOff x="0" y="0"/>
          <a:chExt cx="0" cy="0"/>
        </a:xfrm>
      </p:grpSpPr>
      <p:sp>
        <p:nvSpPr>
          <p:cNvPr id="77" name="Google Shape;77;p72"/>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72"/>
          <p:cNvSpPr txBox="1"/>
          <p:nvPr>
            <p:ph idx="1" type="body"/>
          </p:nvPr>
        </p:nvSpPr>
        <p:spPr>
          <a:xfrm rot="5400000">
            <a:off x="2875035" y="-1217234"/>
            <a:ext cx="3395520" cy="823103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9" name="Google Shape;79;p72"/>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72"/>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72"/>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2" name="Shape 82"/>
        <p:cNvGrpSpPr/>
        <p:nvPr/>
      </p:nvGrpSpPr>
      <p:grpSpPr>
        <a:xfrm>
          <a:off x="0" y="0"/>
          <a:ext cx="0" cy="0"/>
          <a:chOff x="0" y="0"/>
          <a:chExt cx="0" cy="0"/>
        </a:xfrm>
      </p:grpSpPr>
      <p:sp>
        <p:nvSpPr>
          <p:cNvPr id="83" name="Google Shape;83;p73"/>
          <p:cNvSpPr txBox="1"/>
          <p:nvPr>
            <p:ph type="title"/>
          </p:nvPr>
        </p:nvSpPr>
        <p:spPr>
          <a:xfrm rot="5400000">
            <a:off x="3634513" y="1668292"/>
            <a:ext cx="4494806" cy="1579836"/>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73"/>
          <p:cNvSpPr txBox="1"/>
          <p:nvPr>
            <p:ph idx="1" type="body"/>
          </p:nvPr>
        </p:nvSpPr>
        <p:spPr>
          <a:xfrm rot="5400000">
            <a:off x="397832" y="163874"/>
            <a:ext cx="4494806" cy="45886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5" name="Google Shape;85;p73"/>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73"/>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73"/>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2" name="Shape 92"/>
        <p:cNvGrpSpPr/>
        <p:nvPr/>
      </p:nvGrpSpPr>
      <p:grpSpPr>
        <a:xfrm>
          <a:off x="0" y="0"/>
          <a:ext cx="0" cy="0"/>
          <a:chOff x="0" y="0"/>
          <a:chExt cx="0" cy="0"/>
        </a:xfrm>
      </p:grpSpPr>
      <p:sp>
        <p:nvSpPr>
          <p:cNvPr id="93" name="Google Shape;93;p62"/>
          <p:cNvSpPr txBox="1"/>
          <p:nvPr>
            <p:ph type="ctrTitle"/>
          </p:nvPr>
        </p:nvSpPr>
        <p:spPr>
          <a:xfrm>
            <a:off x="311762" y="744803"/>
            <a:ext cx="8522100" cy="2053200"/>
          </a:xfrm>
          <a:prstGeom prst="rect">
            <a:avLst/>
          </a:prstGeom>
          <a:noFill/>
          <a:ln>
            <a:noFill/>
          </a:ln>
        </p:spPr>
        <p:txBody>
          <a:bodyPr anchorCtr="0" anchor="b" bIns="91450" lIns="91450" spcFirstLastPara="1" rIns="91450" wrap="square" tIns="9145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94" name="Google Shape;94;p62"/>
          <p:cNvSpPr txBox="1"/>
          <p:nvPr>
            <p:ph idx="1" type="subTitle"/>
          </p:nvPr>
        </p:nvSpPr>
        <p:spPr>
          <a:xfrm>
            <a:off x="311754" y="2834993"/>
            <a:ext cx="8522100" cy="792900"/>
          </a:xfrm>
          <a:prstGeom prst="rect">
            <a:avLst/>
          </a:prstGeom>
          <a:noFill/>
          <a:ln>
            <a:noFill/>
          </a:ln>
        </p:spPr>
        <p:txBody>
          <a:bodyPr anchorCtr="0" anchor="t" bIns="91450" lIns="91450" spcFirstLastPara="1" rIns="91450" wrap="square" tIns="9145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95" name="Google Shape;95;p62"/>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6" name="Shape 96"/>
        <p:cNvGrpSpPr/>
        <p:nvPr/>
      </p:nvGrpSpPr>
      <p:grpSpPr>
        <a:xfrm>
          <a:off x="0" y="0"/>
          <a:ext cx="0" cy="0"/>
          <a:chOff x="0" y="0"/>
          <a:chExt cx="0" cy="0"/>
        </a:xfrm>
      </p:grpSpPr>
      <p:sp>
        <p:nvSpPr>
          <p:cNvPr id="97" name="Google Shape;97;p74"/>
          <p:cNvSpPr txBox="1"/>
          <p:nvPr>
            <p:ph type="title"/>
          </p:nvPr>
        </p:nvSpPr>
        <p:spPr>
          <a:xfrm>
            <a:off x="311754" y="2151509"/>
            <a:ext cx="8522100" cy="842100"/>
          </a:xfrm>
          <a:prstGeom prst="rect">
            <a:avLst/>
          </a:prstGeom>
          <a:noFill/>
          <a:ln>
            <a:noFill/>
          </a:ln>
        </p:spPr>
        <p:txBody>
          <a:bodyPr anchorCtr="0" anchor="ctr" bIns="91450" lIns="91450" spcFirstLastPara="1" rIns="91450" wrap="square" tIns="9145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8" name="Google Shape;98;p74"/>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9" name="Shape 99"/>
        <p:cNvGrpSpPr/>
        <p:nvPr/>
      </p:nvGrpSpPr>
      <p:grpSpPr>
        <a:xfrm>
          <a:off x="0" y="0"/>
          <a:ext cx="0" cy="0"/>
          <a:chOff x="0" y="0"/>
          <a:chExt cx="0" cy="0"/>
        </a:xfrm>
      </p:grpSpPr>
      <p:sp>
        <p:nvSpPr>
          <p:cNvPr id="100" name="Google Shape;100;p75"/>
          <p:cNvSpPr txBox="1"/>
          <p:nvPr>
            <p:ph type="title"/>
          </p:nvPr>
        </p:nvSpPr>
        <p:spPr>
          <a:xfrm>
            <a:off x="311754" y="445161"/>
            <a:ext cx="8522100" cy="573000"/>
          </a:xfrm>
          <a:prstGeom prst="rect">
            <a:avLst/>
          </a:prstGeom>
          <a:noFill/>
          <a:ln>
            <a:noFill/>
          </a:ln>
        </p:spPr>
        <p:txBody>
          <a:bodyPr anchorCtr="0" anchor="t" bIns="91450" lIns="91450" spcFirstLastPara="1" rIns="91450" wrap="square" tIns="9145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1" name="Google Shape;101;p75"/>
          <p:cNvSpPr txBox="1"/>
          <p:nvPr>
            <p:ph idx="1" type="body"/>
          </p:nvPr>
        </p:nvSpPr>
        <p:spPr>
          <a:xfrm>
            <a:off x="311754" y="1152828"/>
            <a:ext cx="8522100" cy="3417300"/>
          </a:xfrm>
          <a:prstGeom prst="rect">
            <a:avLst/>
          </a:prstGeom>
          <a:noFill/>
          <a:ln>
            <a:noFill/>
          </a:ln>
        </p:spPr>
        <p:txBody>
          <a:bodyPr anchorCtr="0" anchor="t" bIns="91450" lIns="91450" spcFirstLastPara="1" rIns="91450" wrap="square" tIns="91450">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02" name="Google Shape;102;p75"/>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3" name="Shape 103"/>
        <p:cNvGrpSpPr/>
        <p:nvPr/>
      </p:nvGrpSpPr>
      <p:grpSpPr>
        <a:xfrm>
          <a:off x="0" y="0"/>
          <a:ext cx="0" cy="0"/>
          <a:chOff x="0" y="0"/>
          <a:chExt cx="0" cy="0"/>
        </a:xfrm>
      </p:grpSpPr>
      <p:sp>
        <p:nvSpPr>
          <p:cNvPr id="104" name="Google Shape;104;p76"/>
          <p:cNvSpPr txBox="1"/>
          <p:nvPr>
            <p:ph type="title"/>
          </p:nvPr>
        </p:nvSpPr>
        <p:spPr>
          <a:xfrm>
            <a:off x="311754" y="445161"/>
            <a:ext cx="8522100" cy="573000"/>
          </a:xfrm>
          <a:prstGeom prst="rect">
            <a:avLst/>
          </a:prstGeom>
          <a:noFill/>
          <a:ln>
            <a:noFill/>
          </a:ln>
        </p:spPr>
        <p:txBody>
          <a:bodyPr anchorCtr="0" anchor="t" bIns="91450" lIns="91450" spcFirstLastPara="1" rIns="91450" wrap="square" tIns="9145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5" name="Google Shape;105;p76"/>
          <p:cNvSpPr txBox="1"/>
          <p:nvPr>
            <p:ph idx="1" type="body"/>
          </p:nvPr>
        </p:nvSpPr>
        <p:spPr>
          <a:xfrm>
            <a:off x="311754" y="1152828"/>
            <a:ext cx="4000500" cy="3417300"/>
          </a:xfrm>
          <a:prstGeom prst="rect">
            <a:avLst/>
          </a:prstGeom>
          <a:noFill/>
          <a:ln>
            <a:noFill/>
          </a:ln>
        </p:spPr>
        <p:txBody>
          <a:bodyPr anchorCtr="0" anchor="t" bIns="91450" lIns="91450" spcFirstLastPara="1" rIns="91450" wrap="square" tIns="91450">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6" name="Google Shape;106;p76"/>
          <p:cNvSpPr txBox="1"/>
          <p:nvPr>
            <p:ph idx="2" type="body"/>
          </p:nvPr>
        </p:nvSpPr>
        <p:spPr>
          <a:xfrm>
            <a:off x="4833232" y="1152828"/>
            <a:ext cx="4000500" cy="3417300"/>
          </a:xfrm>
          <a:prstGeom prst="rect">
            <a:avLst/>
          </a:prstGeom>
          <a:noFill/>
          <a:ln>
            <a:noFill/>
          </a:ln>
        </p:spPr>
        <p:txBody>
          <a:bodyPr anchorCtr="0" anchor="t" bIns="91450" lIns="91450" spcFirstLastPara="1" rIns="91450" wrap="square" tIns="91450">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7" name="Google Shape;107;p76"/>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8" name="Shape 108"/>
        <p:cNvGrpSpPr/>
        <p:nvPr/>
      </p:nvGrpSpPr>
      <p:grpSpPr>
        <a:xfrm>
          <a:off x="0" y="0"/>
          <a:ext cx="0" cy="0"/>
          <a:chOff x="0" y="0"/>
          <a:chExt cx="0" cy="0"/>
        </a:xfrm>
      </p:grpSpPr>
      <p:sp>
        <p:nvSpPr>
          <p:cNvPr id="109" name="Google Shape;109;p77"/>
          <p:cNvSpPr txBox="1"/>
          <p:nvPr>
            <p:ph type="title"/>
          </p:nvPr>
        </p:nvSpPr>
        <p:spPr>
          <a:xfrm>
            <a:off x="311754" y="445161"/>
            <a:ext cx="8522100" cy="573000"/>
          </a:xfrm>
          <a:prstGeom prst="rect">
            <a:avLst/>
          </a:prstGeom>
          <a:noFill/>
          <a:ln>
            <a:noFill/>
          </a:ln>
        </p:spPr>
        <p:txBody>
          <a:bodyPr anchorCtr="0" anchor="t" bIns="91450" lIns="91450" spcFirstLastPara="1" rIns="91450" wrap="square" tIns="9145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0" name="Google Shape;110;p77"/>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1" name="Shape 111"/>
        <p:cNvGrpSpPr/>
        <p:nvPr/>
      </p:nvGrpSpPr>
      <p:grpSpPr>
        <a:xfrm>
          <a:off x="0" y="0"/>
          <a:ext cx="0" cy="0"/>
          <a:chOff x="0" y="0"/>
          <a:chExt cx="0" cy="0"/>
        </a:xfrm>
      </p:grpSpPr>
      <p:sp>
        <p:nvSpPr>
          <p:cNvPr id="112" name="Google Shape;112;p78"/>
          <p:cNvSpPr txBox="1"/>
          <p:nvPr>
            <p:ph type="title"/>
          </p:nvPr>
        </p:nvSpPr>
        <p:spPr>
          <a:xfrm>
            <a:off x="311754" y="555770"/>
            <a:ext cx="2808600" cy="756000"/>
          </a:xfrm>
          <a:prstGeom prst="rect">
            <a:avLst/>
          </a:prstGeom>
          <a:noFill/>
          <a:ln>
            <a:noFill/>
          </a:ln>
        </p:spPr>
        <p:txBody>
          <a:bodyPr anchorCtr="0" anchor="b" bIns="91450" lIns="91450" spcFirstLastPara="1" rIns="91450" wrap="square" tIns="9145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13" name="Google Shape;113;p78"/>
          <p:cNvSpPr txBox="1"/>
          <p:nvPr>
            <p:ph idx="1" type="body"/>
          </p:nvPr>
        </p:nvSpPr>
        <p:spPr>
          <a:xfrm>
            <a:off x="311754" y="1390026"/>
            <a:ext cx="2808600" cy="3180300"/>
          </a:xfrm>
          <a:prstGeom prst="rect">
            <a:avLst/>
          </a:prstGeom>
          <a:noFill/>
          <a:ln>
            <a:noFill/>
          </a:ln>
        </p:spPr>
        <p:txBody>
          <a:bodyPr anchorCtr="0" anchor="t" bIns="91450" lIns="91450" spcFirstLastPara="1" rIns="91450" wrap="square" tIns="91450">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4" name="Google Shape;114;p78"/>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5" name="Shape 115"/>
        <p:cNvGrpSpPr/>
        <p:nvPr/>
      </p:nvGrpSpPr>
      <p:grpSpPr>
        <a:xfrm>
          <a:off x="0" y="0"/>
          <a:ext cx="0" cy="0"/>
          <a:chOff x="0" y="0"/>
          <a:chExt cx="0" cy="0"/>
        </a:xfrm>
      </p:grpSpPr>
      <p:sp>
        <p:nvSpPr>
          <p:cNvPr id="116" name="Google Shape;116;p79"/>
          <p:cNvSpPr txBox="1"/>
          <p:nvPr>
            <p:ph type="title"/>
          </p:nvPr>
        </p:nvSpPr>
        <p:spPr>
          <a:xfrm>
            <a:off x="490334" y="450288"/>
            <a:ext cx="6369000" cy="4092000"/>
          </a:xfrm>
          <a:prstGeom prst="rect">
            <a:avLst/>
          </a:prstGeom>
          <a:noFill/>
          <a:ln>
            <a:noFill/>
          </a:ln>
        </p:spPr>
        <p:txBody>
          <a:bodyPr anchorCtr="0" anchor="ctr" bIns="91450" lIns="91450" spcFirstLastPara="1" rIns="91450" wrap="square" tIns="9145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7" name="Google Shape;117;p79"/>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8" name="Shape 118"/>
        <p:cNvGrpSpPr/>
        <p:nvPr/>
      </p:nvGrpSpPr>
      <p:grpSpPr>
        <a:xfrm>
          <a:off x="0" y="0"/>
          <a:ext cx="0" cy="0"/>
          <a:chOff x="0" y="0"/>
          <a:chExt cx="0" cy="0"/>
        </a:xfrm>
      </p:grpSpPr>
      <p:sp>
        <p:nvSpPr>
          <p:cNvPr id="119" name="Google Shape;119;p80"/>
          <p:cNvSpPr/>
          <p:nvPr/>
        </p:nvSpPr>
        <p:spPr>
          <a:xfrm>
            <a:off x="4572788" y="-125"/>
            <a:ext cx="4572900" cy="5145000"/>
          </a:xfrm>
          <a:prstGeom prst="rect">
            <a:avLst/>
          </a:prstGeom>
          <a:solidFill>
            <a:schemeClr val="lt2"/>
          </a:solidFill>
          <a:ln>
            <a:noFill/>
          </a:ln>
        </p:spPr>
        <p:txBody>
          <a:bodyPr anchorCtr="0" anchor="ctr" bIns="91450" lIns="91450" spcFirstLastPara="1" rIns="91450" wrap="square" tIns="914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80"/>
          <p:cNvSpPr txBox="1"/>
          <p:nvPr>
            <p:ph type="title"/>
          </p:nvPr>
        </p:nvSpPr>
        <p:spPr>
          <a:xfrm>
            <a:off x="265546" y="1233553"/>
            <a:ext cx="4045800" cy="1482900"/>
          </a:xfrm>
          <a:prstGeom prst="rect">
            <a:avLst/>
          </a:prstGeom>
          <a:noFill/>
          <a:ln>
            <a:noFill/>
          </a:ln>
        </p:spPr>
        <p:txBody>
          <a:bodyPr anchorCtr="0" anchor="b" bIns="91450" lIns="91450" spcFirstLastPara="1" rIns="91450" wrap="square" tIns="914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21" name="Google Shape;121;p80"/>
          <p:cNvSpPr txBox="1"/>
          <p:nvPr>
            <p:ph idx="1" type="subTitle"/>
          </p:nvPr>
        </p:nvSpPr>
        <p:spPr>
          <a:xfrm>
            <a:off x="265546" y="2803933"/>
            <a:ext cx="4045800" cy="1235400"/>
          </a:xfrm>
          <a:prstGeom prst="rect">
            <a:avLst/>
          </a:prstGeom>
          <a:noFill/>
          <a:ln>
            <a:noFill/>
          </a:ln>
        </p:spPr>
        <p:txBody>
          <a:bodyPr anchorCtr="0" anchor="t" bIns="91450" lIns="91450" spcFirstLastPara="1" rIns="91450" wrap="square" tIns="9145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2" name="Google Shape;122;p80"/>
          <p:cNvSpPr txBox="1"/>
          <p:nvPr>
            <p:ph idx="2" type="body"/>
          </p:nvPr>
        </p:nvSpPr>
        <p:spPr>
          <a:xfrm>
            <a:off x="4940351" y="724297"/>
            <a:ext cx="3837600" cy="3696300"/>
          </a:xfrm>
          <a:prstGeom prst="rect">
            <a:avLst/>
          </a:prstGeom>
          <a:noFill/>
          <a:ln>
            <a:noFill/>
          </a:ln>
        </p:spPr>
        <p:txBody>
          <a:bodyPr anchorCtr="0" anchor="ctr" bIns="91450" lIns="91450" spcFirstLastPara="1" rIns="91450" wrap="square" tIns="91450">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3" name="Google Shape;123;p80"/>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4" name="Shape 124"/>
        <p:cNvGrpSpPr/>
        <p:nvPr/>
      </p:nvGrpSpPr>
      <p:grpSpPr>
        <a:xfrm>
          <a:off x="0" y="0"/>
          <a:ext cx="0" cy="0"/>
          <a:chOff x="0" y="0"/>
          <a:chExt cx="0" cy="0"/>
        </a:xfrm>
      </p:grpSpPr>
      <p:sp>
        <p:nvSpPr>
          <p:cNvPr id="125" name="Google Shape;125;p81"/>
          <p:cNvSpPr txBox="1"/>
          <p:nvPr>
            <p:ph idx="1" type="body"/>
          </p:nvPr>
        </p:nvSpPr>
        <p:spPr>
          <a:xfrm>
            <a:off x="311754" y="4231870"/>
            <a:ext cx="5999700" cy="605400"/>
          </a:xfrm>
          <a:prstGeom prst="rect">
            <a:avLst/>
          </a:prstGeom>
          <a:noFill/>
          <a:ln>
            <a:noFill/>
          </a:ln>
        </p:spPr>
        <p:txBody>
          <a:bodyPr anchorCtr="0" anchor="ctr" bIns="91450" lIns="91450" spcFirstLastPara="1" rIns="91450" wrap="square" tIns="91450">
            <a:normAutofit/>
          </a:bodyPr>
          <a:lstStyle>
            <a:lvl1pPr indent="-228600" lvl="0" marL="457200" algn="l">
              <a:lnSpc>
                <a:spcPct val="100000"/>
              </a:lnSpc>
              <a:spcBef>
                <a:spcPts val="0"/>
              </a:spcBef>
              <a:spcAft>
                <a:spcPts val="0"/>
              </a:spcAft>
              <a:buSzPts val="1800"/>
              <a:buNone/>
              <a:defRPr/>
            </a:lvl1pPr>
          </a:lstStyle>
          <a:p/>
        </p:txBody>
      </p:sp>
      <p:sp>
        <p:nvSpPr>
          <p:cNvPr id="126" name="Google Shape;126;p81"/>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7" name="Shape 127"/>
        <p:cNvGrpSpPr/>
        <p:nvPr/>
      </p:nvGrpSpPr>
      <p:grpSpPr>
        <a:xfrm>
          <a:off x="0" y="0"/>
          <a:ext cx="0" cy="0"/>
          <a:chOff x="0" y="0"/>
          <a:chExt cx="0" cy="0"/>
        </a:xfrm>
      </p:grpSpPr>
      <p:sp>
        <p:nvSpPr>
          <p:cNvPr id="128" name="Google Shape;128;p82"/>
          <p:cNvSpPr txBox="1"/>
          <p:nvPr>
            <p:ph hasCustomPrompt="1" type="title"/>
          </p:nvPr>
        </p:nvSpPr>
        <p:spPr>
          <a:xfrm>
            <a:off x="311754" y="1106464"/>
            <a:ext cx="8522100" cy="1964100"/>
          </a:xfrm>
          <a:prstGeom prst="rect">
            <a:avLst/>
          </a:prstGeom>
          <a:noFill/>
          <a:ln>
            <a:noFill/>
          </a:ln>
        </p:spPr>
        <p:txBody>
          <a:bodyPr anchorCtr="0" anchor="b" bIns="91450" lIns="91450" spcFirstLastPara="1" rIns="91450" wrap="square" tIns="9145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29" name="Google Shape;129;p82"/>
          <p:cNvSpPr txBox="1"/>
          <p:nvPr>
            <p:ph idx="1" type="body"/>
          </p:nvPr>
        </p:nvSpPr>
        <p:spPr>
          <a:xfrm>
            <a:off x="311754" y="3153190"/>
            <a:ext cx="8522100" cy="1301100"/>
          </a:xfrm>
          <a:prstGeom prst="rect">
            <a:avLst/>
          </a:prstGeom>
          <a:noFill/>
          <a:ln>
            <a:noFill/>
          </a:ln>
        </p:spPr>
        <p:txBody>
          <a:bodyPr anchorCtr="0" anchor="t" bIns="91450" lIns="91450" spcFirstLastPara="1" rIns="91450" wrap="square" tIns="91450">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30" name="Google Shape;130;p82"/>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1" name="Shape 131"/>
        <p:cNvGrpSpPr/>
        <p:nvPr/>
      </p:nvGrpSpPr>
      <p:grpSpPr>
        <a:xfrm>
          <a:off x="0" y="0"/>
          <a:ext cx="0" cy="0"/>
          <a:chOff x="0" y="0"/>
          <a:chExt cx="0" cy="0"/>
        </a:xfrm>
      </p:grpSpPr>
      <p:sp>
        <p:nvSpPr>
          <p:cNvPr id="132" name="Google Shape;132;p83"/>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3.xml"/><Relationship Id="rId10" Type="http://schemas.openxmlformats.org/officeDocument/2006/relationships/slideLayout" Target="../slideLayouts/slideLayout22.xml"/><Relationship Id="rId12" Type="http://schemas.openxmlformats.org/officeDocument/2006/relationships/theme" Target="../theme/theme1.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9"/>
          <p:cNvSpPr txBox="1"/>
          <p:nvPr>
            <p:ph type="title"/>
          </p:nvPr>
        </p:nvSpPr>
        <p:spPr>
          <a:xfrm>
            <a:off x="457280" y="206042"/>
            <a:ext cx="8231030" cy="857515"/>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9"/>
          <p:cNvSpPr txBox="1"/>
          <p:nvPr>
            <p:ph idx="1" type="body"/>
          </p:nvPr>
        </p:nvSpPr>
        <p:spPr>
          <a:xfrm>
            <a:off x="457280" y="1200521"/>
            <a:ext cx="8231030" cy="339552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9"/>
          <p:cNvSpPr txBox="1"/>
          <p:nvPr>
            <p:ph idx="10" type="dt"/>
          </p:nvPr>
        </p:nvSpPr>
        <p:spPr>
          <a:xfrm>
            <a:off x="457281" y="4768735"/>
            <a:ext cx="2133970" cy="273929"/>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9"/>
          <p:cNvSpPr txBox="1"/>
          <p:nvPr>
            <p:ph idx="11" type="ftr"/>
          </p:nvPr>
        </p:nvSpPr>
        <p:spPr>
          <a:xfrm>
            <a:off x="3124743" y="4768735"/>
            <a:ext cx="2896103" cy="273929"/>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9"/>
          <p:cNvSpPr txBox="1"/>
          <p:nvPr>
            <p:ph idx="12" type="sldNum"/>
          </p:nvPr>
        </p:nvSpPr>
        <p:spPr>
          <a:xfrm>
            <a:off x="6554339" y="4768735"/>
            <a:ext cx="2133970" cy="273929"/>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88" name="Shape 88"/>
        <p:cNvGrpSpPr/>
        <p:nvPr/>
      </p:nvGrpSpPr>
      <p:grpSpPr>
        <a:xfrm>
          <a:off x="0" y="0"/>
          <a:ext cx="0" cy="0"/>
          <a:chOff x="0" y="0"/>
          <a:chExt cx="0" cy="0"/>
        </a:xfrm>
      </p:grpSpPr>
      <p:sp>
        <p:nvSpPr>
          <p:cNvPr id="89" name="Google Shape;89;p61"/>
          <p:cNvSpPr txBox="1"/>
          <p:nvPr>
            <p:ph type="title"/>
          </p:nvPr>
        </p:nvSpPr>
        <p:spPr>
          <a:xfrm>
            <a:off x="311754" y="445161"/>
            <a:ext cx="8522100" cy="573000"/>
          </a:xfrm>
          <a:prstGeom prst="rect">
            <a:avLst/>
          </a:prstGeom>
          <a:noFill/>
          <a:ln>
            <a:noFill/>
          </a:ln>
        </p:spPr>
        <p:txBody>
          <a:bodyPr anchorCtr="0" anchor="t" bIns="91450" lIns="91450" spcFirstLastPara="1" rIns="91450" wrap="square" tIns="91450">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90" name="Google Shape;90;p61"/>
          <p:cNvSpPr txBox="1"/>
          <p:nvPr>
            <p:ph idx="1" type="body"/>
          </p:nvPr>
        </p:nvSpPr>
        <p:spPr>
          <a:xfrm>
            <a:off x="311754" y="1152828"/>
            <a:ext cx="8522100" cy="3417300"/>
          </a:xfrm>
          <a:prstGeom prst="rect">
            <a:avLst/>
          </a:prstGeom>
          <a:noFill/>
          <a:ln>
            <a:noFill/>
          </a:ln>
        </p:spPr>
        <p:txBody>
          <a:bodyPr anchorCtr="0" anchor="t" bIns="91450" lIns="91450" spcFirstLastPara="1" rIns="91450" wrap="square" tIns="91450">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91" name="Google Shape;91;p61"/>
          <p:cNvSpPr txBox="1"/>
          <p:nvPr>
            <p:ph idx="12" type="sldNum"/>
          </p:nvPr>
        </p:nvSpPr>
        <p:spPr>
          <a:xfrm>
            <a:off x="8473917" y="4664645"/>
            <a:ext cx="548700" cy="393600"/>
          </a:xfrm>
          <a:prstGeom prst="rect">
            <a:avLst/>
          </a:prstGeom>
          <a:noFill/>
          <a:ln>
            <a:noFill/>
          </a:ln>
        </p:spPr>
        <p:txBody>
          <a:bodyPr anchorCtr="0" anchor="ctr" bIns="91450" lIns="91450" spcFirstLastPara="1" rIns="91450" wrap="square" tIns="91450">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www.linkedin.com/in/galuh-ramaditya/" TargetMode="External"/><Relationship Id="rId6"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jpg"/><Relationship Id="rId5"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7.jpg"/><Relationship Id="rId5" Type="http://schemas.openxmlformats.org/officeDocument/2006/relationships/image" Target="../media/image13.jpg"/><Relationship Id="rId6" Type="http://schemas.openxmlformats.org/officeDocument/2006/relationships/image" Target="../media/image11.jpg"/><Relationship Id="rId7"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15.jpg"/><Relationship Id="rId5" Type="http://schemas.openxmlformats.org/officeDocument/2006/relationships/image" Target="../media/image1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2.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2.png"/><Relationship Id="rId4" Type="http://schemas.openxmlformats.org/officeDocument/2006/relationships/image" Target="../media/image23.png"/><Relationship Id="rId5" Type="http://schemas.openxmlformats.org/officeDocument/2006/relationships/image" Target="../media/image28.png"/><Relationship Id="rId6"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image" Target="../media/image24.png"/><Relationship Id="rId6"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2.png"/><Relationship Id="rId4" Type="http://schemas.openxmlformats.org/officeDocument/2006/relationships/hyperlink" Target="https://www.anaconda.com/download/success" TargetMode="External"/><Relationship Id="rId5" Type="http://schemas.openxmlformats.org/officeDocument/2006/relationships/hyperlink" Target="https://colab.research.google.com/" TargetMode="External"/><Relationship Id="rId6" Type="http://schemas.openxmlformats.org/officeDocument/2006/relationships/hyperlink" Target="https://www.anaconda.com/download/success"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2.png"/><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 Id="rId3" Type="http://schemas.openxmlformats.org/officeDocument/2006/relationships/image" Target="../media/image2.png"/><Relationship Id="rId4" Type="http://schemas.openxmlformats.org/officeDocument/2006/relationships/image" Target="../media/image2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image" Target="../media/image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2.png"/><Relationship Id="rId4" Type="http://schemas.openxmlformats.org/officeDocument/2006/relationships/image" Target="../media/image29.jpg"/><Relationship Id="rId5" Type="http://schemas.openxmlformats.org/officeDocument/2006/relationships/image" Target="../media/image30.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 Id="rId3"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 Id="rId3"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 Id="rId3"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 Id="rId3" Type="http://schemas.openxmlformats.org/officeDocument/2006/relationships/image" Target="../media/image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36" name="Shape 136"/>
        <p:cNvGrpSpPr/>
        <p:nvPr/>
      </p:nvGrpSpPr>
      <p:grpSpPr>
        <a:xfrm>
          <a:off x="0" y="0"/>
          <a:ext cx="0" cy="0"/>
          <a:chOff x="0" y="0"/>
          <a:chExt cx="0" cy="0"/>
        </a:xfrm>
      </p:grpSpPr>
      <p:sp>
        <p:nvSpPr>
          <p:cNvPr id="137" name="Google Shape;137;p1"/>
          <p:cNvSpPr/>
          <p:nvPr/>
        </p:nvSpPr>
        <p:spPr>
          <a:xfrm>
            <a:off x="-1050025" y="1042200"/>
            <a:ext cx="7580100" cy="41028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8" name="Google Shape;138;p1"/>
          <p:cNvSpPr txBox="1"/>
          <p:nvPr>
            <p:ph idx="1" type="subTitle"/>
          </p:nvPr>
        </p:nvSpPr>
        <p:spPr>
          <a:xfrm>
            <a:off x="508650" y="3641075"/>
            <a:ext cx="4789500" cy="7929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640"/>
              </a:spcBef>
              <a:spcAft>
                <a:spcPts val="0"/>
              </a:spcAft>
              <a:buClr>
                <a:schemeClr val="dk1"/>
              </a:buClr>
              <a:buSzPts val="1100"/>
              <a:buFont typeface="Arial"/>
              <a:buNone/>
            </a:pPr>
            <a:r>
              <a:rPr lang="en-US" sz="1800">
                <a:solidFill>
                  <a:schemeClr val="lt1"/>
                </a:solidFill>
                <a:latin typeface="Plus Jakarta Sans Medium"/>
                <a:ea typeface="Plus Jakarta Sans Medium"/>
                <a:cs typeface="Plus Jakarta Sans Medium"/>
                <a:sym typeface="Plus Jakarta Sans Medium"/>
              </a:rPr>
              <a:t>Samsung Innovation Campus 7</a:t>
            </a:r>
            <a:endParaRPr sz="1800">
              <a:solidFill>
                <a:schemeClr val="lt1"/>
              </a:solidFill>
              <a:latin typeface="Plus Jakarta Sans Medium"/>
              <a:ea typeface="Plus Jakarta Sans Medium"/>
              <a:cs typeface="Plus Jakarta Sans Medium"/>
              <a:sym typeface="Plus Jakarta Sans Medium"/>
            </a:endParaRPr>
          </a:p>
        </p:txBody>
      </p:sp>
      <p:pic>
        <p:nvPicPr>
          <p:cNvPr id="139" name="Google Shape;139;p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cxnSp>
        <p:nvCxnSpPr>
          <p:cNvPr id="140" name="Google Shape;140;p1"/>
          <p:cNvCxnSpPr/>
          <p:nvPr/>
        </p:nvCxnSpPr>
        <p:spPr>
          <a:xfrm>
            <a:off x="609925" y="4433975"/>
            <a:ext cx="3933900" cy="0"/>
          </a:xfrm>
          <a:prstGeom prst="straightConnector1">
            <a:avLst/>
          </a:prstGeom>
          <a:noFill/>
          <a:ln cap="flat" cmpd="sng" w="9525">
            <a:solidFill>
              <a:schemeClr val="lt1"/>
            </a:solidFill>
            <a:prstDash val="solid"/>
            <a:round/>
            <a:headEnd len="sm" w="sm" type="none"/>
            <a:tailEnd len="sm" w="sm" type="none"/>
          </a:ln>
        </p:spPr>
      </p:cxnSp>
      <p:sp>
        <p:nvSpPr>
          <p:cNvPr id="141" name="Google Shape;141;p1"/>
          <p:cNvSpPr/>
          <p:nvPr/>
        </p:nvSpPr>
        <p:spPr>
          <a:xfrm>
            <a:off x="1144250" y="4372475"/>
            <a:ext cx="611700" cy="123000"/>
          </a:xfrm>
          <a:prstGeom prst="roundRect">
            <a:avLst>
              <a:gd fmla="val 50000" name="adj"/>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2" name="Google Shape;142;p1"/>
          <p:cNvSpPr/>
          <p:nvPr/>
        </p:nvSpPr>
        <p:spPr>
          <a:xfrm rot="-1974178">
            <a:off x="5563413" y="2328431"/>
            <a:ext cx="1120545" cy="1120545"/>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3" name="Google Shape;143;p1"/>
          <p:cNvSpPr/>
          <p:nvPr/>
        </p:nvSpPr>
        <p:spPr>
          <a:xfrm rot="-3576283">
            <a:off x="4993794" y="3068971"/>
            <a:ext cx="3038762" cy="3137189"/>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4" name="Google Shape;144;p1"/>
          <p:cNvSpPr txBox="1"/>
          <p:nvPr>
            <p:ph type="ctrTitle"/>
          </p:nvPr>
        </p:nvSpPr>
        <p:spPr>
          <a:xfrm>
            <a:off x="455175" y="2359501"/>
            <a:ext cx="5605200" cy="14682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1800"/>
              <a:buNone/>
            </a:pPr>
            <a:r>
              <a:rPr b="1" lang="en-US" sz="4800">
                <a:solidFill>
                  <a:schemeClr val="lt1"/>
                </a:solidFill>
                <a:latin typeface="Plus Jakarta Sans"/>
                <a:ea typeface="Plus Jakarta Sans"/>
                <a:cs typeface="Plus Jakarta Sans"/>
                <a:sym typeface="Plus Jakarta Sans"/>
              </a:rPr>
              <a:t>Getting Started with Python</a:t>
            </a:r>
            <a:endParaRPr b="1" sz="4800">
              <a:solidFill>
                <a:schemeClr val="lt1"/>
              </a:solidFill>
              <a:latin typeface="Plus Jakarta Sans"/>
              <a:ea typeface="Plus Jakarta Sans"/>
              <a:cs typeface="Plus Jakarta Sans"/>
              <a:sym typeface="Plus Jakart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48" name="Shape 148"/>
        <p:cNvGrpSpPr/>
        <p:nvPr/>
      </p:nvGrpSpPr>
      <p:grpSpPr>
        <a:xfrm>
          <a:off x="0" y="0"/>
          <a:ext cx="0" cy="0"/>
          <a:chOff x="0" y="0"/>
          <a:chExt cx="0" cy="0"/>
        </a:xfrm>
      </p:grpSpPr>
      <p:pic>
        <p:nvPicPr>
          <p:cNvPr id="149" name="Google Shape;149;p2"/>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
        <p:nvSpPr>
          <p:cNvPr id="150" name="Google Shape;150;p2"/>
          <p:cNvSpPr txBox="1"/>
          <p:nvPr/>
        </p:nvSpPr>
        <p:spPr>
          <a:xfrm>
            <a:off x="503685" y="2774031"/>
            <a:ext cx="3000600" cy="525800"/>
          </a:xfrm>
          <a:prstGeom prst="rect">
            <a:avLst/>
          </a:prstGeom>
          <a:noFill/>
          <a:ln>
            <a:noFill/>
          </a:ln>
        </p:spPr>
        <p:txBody>
          <a:bodyPr anchorCtr="0" anchor="t" bIns="91450" lIns="91450" spcFirstLastPara="1" rIns="91450" wrap="square" tIns="91450">
            <a:spAutoFit/>
          </a:bodyPr>
          <a:lstStyle/>
          <a:p>
            <a:pPr indent="0" lvl="0" marL="0" marR="0" rtl="0" algn="l">
              <a:lnSpc>
                <a:spcPct val="135000"/>
              </a:lnSpc>
              <a:spcBef>
                <a:spcPts val="700"/>
              </a:spcBef>
              <a:spcAft>
                <a:spcPts val="0"/>
              </a:spcAft>
              <a:buClr>
                <a:srgbClr val="000000"/>
              </a:buClr>
              <a:buSzPts val="1700"/>
              <a:buFont typeface="Arial"/>
              <a:buNone/>
            </a:pPr>
            <a:r>
              <a:rPr b="1" i="0" lang="en-US" sz="1700" u="none" cap="none" strike="noStrike">
                <a:solidFill>
                  <a:srgbClr val="48A8C4"/>
                </a:solidFill>
                <a:latin typeface="Plus Jakarta Sans"/>
                <a:ea typeface="Plus Jakarta Sans"/>
                <a:cs typeface="Plus Jakarta Sans"/>
                <a:sym typeface="Plus Jakarta Sans"/>
              </a:rPr>
              <a:t>Mentor</a:t>
            </a:r>
            <a:endParaRPr b="1" i="0" sz="1600" u="none" cap="none" strike="noStrike">
              <a:solidFill>
                <a:srgbClr val="48A8C4"/>
              </a:solidFill>
              <a:latin typeface="Plus Jakarta Sans"/>
              <a:ea typeface="Plus Jakarta Sans"/>
              <a:cs typeface="Plus Jakarta Sans"/>
              <a:sym typeface="Plus Jakarta Sans"/>
            </a:endParaRPr>
          </a:p>
        </p:txBody>
      </p:sp>
      <p:sp>
        <p:nvSpPr>
          <p:cNvPr id="151" name="Google Shape;151;p2"/>
          <p:cNvSpPr txBox="1"/>
          <p:nvPr/>
        </p:nvSpPr>
        <p:spPr>
          <a:xfrm>
            <a:off x="503672" y="2327500"/>
            <a:ext cx="3583800" cy="577200"/>
          </a:xfrm>
          <a:prstGeom prst="rect">
            <a:avLst/>
          </a:prstGeom>
          <a:noFill/>
          <a:ln>
            <a:noFill/>
          </a:ln>
        </p:spPr>
        <p:txBody>
          <a:bodyPr anchorCtr="0" anchor="t" bIns="91450" lIns="91450" spcFirstLastPara="1" rIns="91450" wrap="square" tIns="91450">
            <a:spAutoFit/>
          </a:bodyPr>
          <a:lstStyle/>
          <a:p>
            <a:pPr indent="0" lvl="0" marL="0" marR="0" rtl="0" algn="l">
              <a:lnSpc>
                <a:spcPct val="85000"/>
              </a:lnSpc>
              <a:spcBef>
                <a:spcPts val="0"/>
              </a:spcBef>
              <a:spcAft>
                <a:spcPts val="0"/>
              </a:spcAft>
              <a:buClr>
                <a:srgbClr val="000000"/>
              </a:buClr>
              <a:buSzPts val="3000"/>
              <a:buFont typeface="Arial"/>
              <a:buNone/>
            </a:pPr>
            <a:r>
              <a:rPr b="1" i="0" lang="en-US" sz="3000" u="none" cap="none" strike="noStrike">
                <a:solidFill>
                  <a:srgbClr val="000000"/>
                </a:solidFill>
                <a:latin typeface="Plus Jakarta Sans"/>
                <a:ea typeface="Plus Jakarta Sans"/>
                <a:cs typeface="Plus Jakarta Sans"/>
                <a:sym typeface="Plus Jakarta Sans"/>
              </a:rPr>
              <a:t>Galuh Ramaditya</a:t>
            </a:r>
            <a:endParaRPr b="1" i="0" sz="3000" u="none" cap="none" strike="noStrike">
              <a:solidFill>
                <a:srgbClr val="000000"/>
              </a:solidFill>
              <a:latin typeface="Plus Jakarta Sans"/>
              <a:ea typeface="Plus Jakarta Sans"/>
              <a:cs typeface="Plus Jakarta Sans"/>
              <a:sym typeface="Plus Jakarta Sans"/>
            </a:endParaRPr>
          </a:p>
        </p:txBody>
      </p:sp>
      <p:sp>
        <p:nvSpPr>
          <p:cNvPr id="152" name="Google Shape;152;p2"/>
          <p:cNvSpPr txBox="1"/>
          <p:nvPr/>
        </p:nvSpPr>
        <p:spPr>
          <a:xfrm>
            <a:off x="503678" y="3107625"/>
            <a:ext cx="3078900" cy="4002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400"/>
              <a:buFont typeface="Arial"/>
              <a:buNone/>
            </a:pPr>
            <a:r>
              <a:rPr b="0" i="1" lang="en-US" sz="1400" u="none" cap="none" strike="noStrike">
                <a:solidFill>
                  <a:srgbClr val="000000"/>
                </a:solidFill>
                <a:latin typeface="Plus Jakarta Sans Medium"/>
                <a:ea typeface="Plus Jakarta Sans Medium"/>
                <a:cs typeface="Plus Jakarta Sans Medium"/>
                <a:sym typeface="Plus Jakarta Sans Medium"/>
              </a:rPr>
              <a:t>Data Engineer</a:t>
            </a:r>
            <a:endParaRPr b="0" i="1" sz="1400" u="none" cap="none" strike="noStrike">
              <a:solidFill>
                <a:srgbClr val="000000"/>
              </a:solidFill>
              <a:latin typeface="Plus Jakarta Sans Medium"/>
              <a:ea typeface="Plus Jakarta Sans Medium"/>
              <a:cs typeface="Plus Jakarta Sans Medium"/>
              <a:sym typeface="Plus Jakarta Sans Medium"/>
            </a:endParaRPr>
          </a:p>
        </p:txBody>
      </p:sp>
      <p:pic>
        <p:nvPicPr>
          <p:cNvPr id="153" name="Google Shape;153;p2"/>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pic>
        <p:nvPicPr>
          <p:cNvPr id="154" name="Google Shape;154;p2"/>
          <p:cNvPicPr preferRelativeResize="0"/>
          <p:nvPr/>
        </p:nvPicPr>
        <p:blipFill rotWithShape="1">
          <a:blip r:embed="rId4">
            <a:alphaModFix/>
          </a:blip>
          <a:srcRect b="0" l="0" r="0" t="0"/>
          <a:stretch/>
        </p:blipFill>
        <p:spPr>
          <a:xfrm>
            <a:off x="7630763" y="276049"/>
            <a:ext cx="1184604" cy="360062"/>
          </a:xfrm>
          <a:prstGeom prst="rect">
            <a:avLst/>
          </a:prstGeom>
          <a:noFill/>
          <a:ln>
            <a:noFill/>
          </a:ln>
        </p:spPr>
      </p:pic>
      <p:sp>
        <p:nvSpPr>
          <p:cNvPr id="155" name="Google Shape;155;p2"/>
          <p:cNvSpPr txBox="1"/>
          <p:nvPr/>
        </p:nvSpPr>
        <p:spPr>
          <a:xfrm>
            <a:off x="503675" y="4005850"/>
            <a:ext cx="3646800" cy="8958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400"/>
              <a:buFont typeface="Arial"/>
              <a:buNone/>
            </a:pPr>
            <a:r>
              <a:rPr b="1" i="1" lang="en-US" sz="1400" u="none" cap="none" strike="noStrike">
                <a:solidFill>
                  <a:srgbClr val="000000"/>
                </a:solidFill>
                <a:latin typeface="Plus Jakarta Sans"/>
                <a:ea typeface="Plus Jakarta Sans"/>
                <a:cs typeface="Plus Jakarta Sans"/>
                <a:sym typeface="Plus Jakarta Sans"/>
              </a:rPr>
              <a:t>LinkedIn:</a:t>
            </a:r>
            <a:endParaRPr b="1" i="1"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15000"/>
              </a:lnSpc>
              <a:spcBef>
                <a:spcPts val="0"/>
              </a:spcBef>
              <a:spcAft>
                <a:spcPts val="0"/>
              </a:spcAft>
              <a:buClr>
                <a:srgbClr val="000000"/>
              </a:buClr>
              <a:buSzPts val="1400"/>
              <a:buFont typeface="Arial"/>
              <a:buNone/>
            </a:pPr>
            <a:r>
              <a:rPr b="0" i="1" lang="en-US" sz="1400" u="sng" cap="none" strike="noStrike">
                <a:solidFill>
                  <a:schemeClr val="hlink"/>
                </a:solidFill>
                <a:latin typeface="Plus Jakarta Sans Medium"/>
                <a:ea typeface="Plus Jakarta Sans Medium"/>
                <a:cs typeface="Plus Jakarta Sans Medium"/>
                <a:sym typeface="Plus Jakarta Sans Medium"/>
                <a:hlinkClick r:id="rId5"/>
              </a:rPr>
              <a:t>https://www.linkedin.com/in/galuh-ramaditya/</a:t>
            </a:r>
            <a:endParaRPr b="0" i="1" sz="1400" u="none" cap="none" strike="noStrike">
              <a:solidFill>
                <a:srgbClr val="000000"/>
              </a:solidFill>
              <a:latin typeface="Plus Jakarta Sans Medium"/>
              <a:ea typeface="Plus Jakarta Sans Medium"/>
              <a:cs typeface="Plus Jakarta Sans Medium"/>
              <a:sym typeface="Plus Jakarta Sans Medium"/>
            </a:endParaRPr>
          </a:p>
        </p:txBody>
      </p:sp>
      <p:sp>
        <p:nvSpPr>
          <p:cNvPr id="156" name="Google Shape;156;p2"/>
          <p:cNvSpPr/>
          <p:nvPr/>
        </p:nvSpPr>
        <p:spPr>
          <a:xfrm rot="-3576382">
            <a:off x="-547808" y="-2388310"/>
            <a:ext cx="3914117" cy="3914117"/>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7" name="Google Shape;157;p2"/>
          <p:cNvSpPr/>
          <p:nvPr/>
        </p:nvSpPr>
        <p:spPr>
          <a:xfrm rot="-4242470">
            <a:off x="8039051" y="2355356"/>
            <a:ext cx="2301858" cy="2301858"/>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8" name="Google Shape;158;p2"/>
          <p:cNvSpPr/>
          <p:nvPr/>
        </p:nvSpPr>
        <p:spPr>
          <a:xfrm rot="-1974178">
            <a:off x="8406288" y="4307981"/>
            <a:ext cx="1120545" cy="1120545"/>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159" name="Google Shape;159;p2" title="Copy of DBB02863.jpg"/>
          <p:cNvPicPr preferRelativeResize="0"/>
          <p:nvPr/>
        </p:nvPicPr>
        <p:blipFill rotWithShape="1">
          <a:blip r:embed="rId6">
            <a:alphaModFix/>
          </a:blip>
          <a:srcRect b="25313" l="0" r="0" t="8036"/>
          <a:stretch/>
        </p:blipFill>
        <p:spPr>
          <a:xfrm>
            <a:off x="541800" y="308725"/>
            <a:ext cx="1734900" cy="1734900"/>
          </a:xfrm>
          <a:prstGeom prst="ellipse">
            <a:avLst/>
          </a:prstGeom>
          <a:noFill/>
          <a:ln>
            <a:noFill/>
          </a:ln>
        </p:spPr>
      </p:pic>
      <p:grpSp>
        <p:nvGrpSpPr>
          <p:cNvPr id="160" name="Google Shape;160;p2"/>
          <p:cNvGrpSpPr/>
          <p:nvPr/>
        </p:nvGrpSpPr>
        <p:grpSpPr>
          <a:xfrm>
            <a:off x="4812258" y="2039725"/>
            <a:ext cx="3810072" cy="1942400"/>
            <a:chOff x="466625" y="2083326"/>
            <a:chExt cx="4728310" cy="1942400"/>
          </a:xfrm>
        </p:grpSpPr>
        <p:grpSp>
          <p:nvGrpSpPr>
            <p:cNvPr id="161" name="Google Shape;161;p2"/>
            <p:cNvGrpSpPr/>
            <p:nvPr/>
          </p:nvGrpSpPr>
          <p:grpSpPr>
            <a:xfrm>
              <a:off x="571335" y="2083326"/>
              <a:ext cx="4623600" cy="570000"/>
              <a:chOff x="571335" y="2048451"/>
              <a:chExt cx="4623600" cy="570000"/>
            </a:xfrm>
          </p:grpSpPr>
          <p:sp>
            <p:nvSpPr>
              <p:cNvPr id="162" name="Google Shape;162;p2"/>
              <p:cNvSpPr txBox="1"/>
              <p:nvPr/>
            </p:nvSpPr>
            <p:spPr>
              <a:xfrm>
                <a:off x="571335" y="2279751"/>
                <a:ext cx="4623600" cy="3387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000"/>
                  <a:buFont typeface="Arial"/>
                  <a:buNone/>
                </a:pPr>
                <a:r>
                  <a:rPr b="0" i="0" lang="en-US" sz="1000" u="none" cap="none" strike="noStrike">
                    <a:solidFill>
                      <a:srgbClr val="000000"/>
                    </a:solidFill>
                    <a:latin typeface="Plus Jakarta Sans"/>
                    <a:ea typeface="Plus Jakarta Sans"/>
                    <a:cs typeface="Plus Jakarta Sans"/>
                    <a:sym typeface="Plus Jakarta Sans"/>
                  </a:rPr>
                  <a:t>at </a:t>
                </a:r>
                <a:r>
                  <a:rPr b="0" i="0" lang="en-US" sz="1000" u="none" cap="none" strike="noStrike">
                    <a:solidFill>
                      <a:schemeClr val="dk1"/>
                    </a:solidFill>
                    <a:latin typeface="Plus Jakarta Sans"/>
                    <a:ea typeface="Plus Jakarta Sans"/>
                    <a:cs typeface="Plus Jakarta Sans"/>
                    <a:sym typeface="Plus Jakarta Sans"/>
                  </a:rPr>
                  <a:t>Kredivo Group (2022-present)</a:t>
                </a:r>
                <a:endParaRPr b="0" i="0" sz="1000" u="none" cap="none" strike="noStrike">
                  <a:solidFill>
                    <a:srgbClr val="000000"/>
                  </a:solidFill>
                  <a:latin typeface="Plus Jakarta Sans"/>
                  <a:ea typeface="Plus Jakarta Sans"/>
                  <a:cs typeface="Plus Jakarta Sans"/>
                  <a:sym typeface="Plus Jakarta Sans"/>
                </a:endParaRPr>
              </a:p>
            </p:txBody>
          </p:sp>
          <p:sp>
            <p:nvSpPr>
              <p:cNvPr id="163" name="Google Shape;163;p2"/>
              <p:cNvSpPr txBox="1"/>
              <p:nvPr/>
            </p:nvSpPr>
            <p:spPr>
              <a:xfrm>
                <a:off x="571335" y="2048451"/>
                <a:ext cx="4623600" cy="3693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000000"/>
                    </a:solidFill>
                    <a:latin typeface="Plus Jakarta Sans"/>
                    <a:ea typeface="Plus Jakarta Sans"/>
                    <a:cs typeface="Plus Jakarta Sans"/>
                    <a:sym typeface="Plus Jakarta Sans"/>
                  </a:rPr>
                  <a:t>Data </a:t>
                </a:r>
                <a:r>
                  <a:rPr b="1" i="0" lang="en-US" sz="1200" u="none" cap="none" strike="noStrike">
                    <a:solidFill>
                      <a:schemeClr val="dk1"/>
                    </a:solidFill>
                    <a:latin typeface="Plus Jakarta Sans"/>
                    <a:ea typeface="Plus Jakarta Sans"/>
                    <a:cs typeface="Plus Jakarta Sans"/>
                    <a:sym typeface="Plus Jakarta Sans"/>
                  </a:rPr>
                  <a:t>Engineer</a:t>
                </a:r>
                <a:endParaRPr b="1" i="0" sz="1200" u="none" cap="none" strike="noStrike">
                  <a:solidFill>
                    <a:srgbClr val="000000"/>
                  </a:solidFill>
                  <a:latin typeface="Plus Jakarta Sans"/>
                  <a:ea typeface="Plus Jakarta Sans"/>
                  <a:cs typeface="Plus Jakarta Sans"/>
                  <a:sym typeface="Plus Jakarta Sans"/>
                </a:endParaRPr>
              </a:p>
            </p:txBody>
          </p:sp>
        </p:grpSp>
        <p:sp>
          <p:nvSpPr>
            <p:cNvPr id="164" name="Google Shape;164;p2"/>
            <p:cNvSpPr/>
            <p:nvPr/>
          </p:nvSpPr>
          <p:spPr>
            <a:xfrm>
              <a:off x="466625" y="2219450"/>
              <a:ext cx="104700" cy="104700"/>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5" name="Google Shape;165;p2"/>
            <p:cNvGrpSpPr/>
            <p:nvPr/>
          </p:nvGrpSpPr>
          <p:grpSpPr>
            <a:xfrm>
              <a:off x="571335" y="2780976"/>
              <a:ext cx="4623600" cy="570000"/>
              <a:chOff x="571335" y="2048451"/>
              <a:chExt cx="4623600" cy="570000"/>
            </a:xfrm>
          </p:grpSpPr>
          <p:sp>
            <p:nvSpPr>
              <p:cNvPr id="166" name="Google Shape;166;p2"/>
              <p:cNvSpPr txBox="1"/>
              <p:nvPr/>
            </p:nvSpPr>
            <p:spPr>
              <a:xfrm>
                <a:off x="571335" y="2279751"/>
                <a:ext cx="4623600" cy="3387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000"/>
                  <a:buFont typeface="Arial"/>
                  <a:buNone/>
                </a:pPr>
                <a:r>
                  <a:rPr b="0" i="0" lang="en-US" sz="1000" u="none" cap="none" strike="noStrike">
                    <a:solidFill>
                      <a:srgbClr val="000000"/>
                    </a:solidFill>
                    <a:latin typeface="Plus Jakarta Sans"/>
                    <a:ea typeface="Plus Jakarta Sans"/>
                    <a:cs typeface="Plus Jakarta Sans"/>
                    <a:sym typeface="Plus Jakarta Sans"/>
                  </a:rPr>
                  <a:t>at </a:t>
                </a:r>
                <a:r>
                  <a:rPr b="0" i="0" lang="en-US" sz="1000" u="none" cap="none" strike="noStrike">
                    <a:solidFill>
                      <a:schemeClr val="dk1"/>
                    </a:solidFill>
                    <a:latin typeface="Plus Jakarta Sans"/>
                    <a:ea typeface="Plus Jakarta Sans"/>
                    <a:cs typeface="Plus Jakarta Sans"/>
                    <a:sym typeface="Plus Jakarta Sans"/>
                  </a:rPr>
                  <a:t>XL (2023-2024)</a:t>
                </a:r>
                <a:endParaRPr b="0" i="0" sz="1000" u="none" cap="none" strike="noStrike">
                  <a:solidFill>
                    <a:srgbClr val="000000"/>
                  </a:solidFill>
                  <a:latin typeface="Plus Jakarta Sans"/>
                  <a:ea typeface="Plus Jakarta Sans"/>
                  <a:cs typeface="Plus Jakarta Sans"/>
                  <a:sym typeface="Plus Jakarta Sans"/>
                </a:endParaRPr>
              </a:p>
            </p:txBody>
          </p:sp>
          <p:sp>
            <p:nvSpPr>
              <p:cNvPr id="167" name="Google Shape;167;p2"/>
              <p:cNvSpPr txBox="1"/>
              <p:nvPr/>
            </p:nvSpPr>
            <p:spPr>
              <a:xfrm>
                <a:off x="571335" y="2048451"/>
                <a:ext cx="4623600" cy="3693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000000"/>
                    </a:solidFill>
                    <a:latin typeface="Plus Jakarta Sans"/>
                    <a:ea typeface="Plus Jakarta Sans"/>
                    <a:cs typeface="Plus Jakarta Sans"/>
                    <a:sym typeface="Plus Jakarta Sans"/>
                  </a:rPr>
                  <a:t>Data </a:t>
                </a:r>
                <a:r>
                  <a:rPr b="1" i="0" lang="en-US" sz="1200" u="none" cap="none" strike="noStrike">
                    <a:solidFill>
                      <a:schemeClr val="dk1"/>
                    </a:solidFill>
                    <a:latin typeface="Plus Jakarta Sans"/>
                    <a:ea typeface="Plus Jakarta Sans"/>
                    <a:cs typeface="Plus Jakarta Sans"/>
                    <a:sym typeface="Plus Jakarta Sans"/>
                  </a:rPr>
                  <a:t>Mediation</a:t>
                </a:r>
                <a:endParaRPr b="1" i="0" sz="1200" u="none" cap="none" strike="noStrike">
                  <a:solidFill>
                    <a:srgbClr val="000000"/>
                  </a:solidFill>
                  <a:latin typeface="Plus Jakarta Sans"/>
                  <a:ea typeface="Plus Jakarta Sans"/>
                  <a:cs typeface="Plus Jakarta Sans"/>
                  <a:sym typeface="Plus Jakarta Sans"/>
                </a:endParaRPr>
              </a:p>
            </p:txBody>
          </p:sp>
        </p:grpSp>
        <p:sp>
          <p:nvSpPr>
            <p:cNvPr id="168" name="Google Shape;168;p2"/>
            <p:cNvSpPr/>
            <p:nvPr/>
          </p:nvSpPr>
          <p:spPr>
            <a:xfrm>
              <a:off x="466625" y="2917100"/>
              <a:ext cx="104700" cy="104700"/>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69" name="Google Shape;169;p2"/>
            <p:cNvGrpSpPr/>
            <p:nvPr/>
          </p:nvGrpSpPr>
          <p:grpSpPr>
            <a:xfrm>
              <a:off x="571335" y="3455726"/>
              <a:ext cx="4623600" cy="570000"/>
              <a:chOff x="571335" y="2048451"/>
              <a:chExt cx="4623600" cy="570000"/>
            </a:xfrm>
          </p:grpSpPr>
          <p:sp>
            <p:nvSpPr>
              <p:cNvPr id="170" name="Google Shape;170;p2"/>
              <p:cNvSpPr txBox="1"/>
              <p:nvPr/>
            </p:nvSpPr>
            <p:spPr>
              <a:xfrm>
                <a:off x="571335" y="2279751"/>
                <a:ext cx="4623600" cy="3387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000"/>
                  <a:buFont typeface="Arial"/>
                  <a:buNone/>
                </a:pPr>
                <a:r>
                  <a:rPr b="0" i="0" lang="en-US" sz="1000" u="none" cap="none" strike="noStrike">
                    <a:solidFill>
                      <a:srgbClr val="000000"/>
                    </a:solidFill>
                    <a:latin typeface="Plus Jakarta Sans"/>
                    <a:ea typeface="Plus Jakarta Sans"/>
                    <a:cs typeface="Plus Jakarta Sans"/>
                    <a:sym typeface="Plus Jakarta Sans"/>
                  </a:rPr>
                  <a:t>at SIRCLO (2021-2022)</a:t>
                </a:r>
                <a:endParaRPr b="0" i="0" sz="1000" u="none" cap="none" strike="noStrike">
                  <a:solidFill>
                    <a:srgbClr val="000000"/>
                  </a:solidFill>
                  <a:latin typeface="Plus Jakarta Sans"/>
                  <a:ea typeface="Plus Jakarta Sans"/>
                  <a:cs typeface="Plus Jakarta Sans"/>
                  <a:sym typeface="Plus Jakarta Sans"/>
                </a:endParaRPr>
              </a:p>
            </p:txBody>
          </p:sp>
          <p:sp>
            <p:nvSpPr>
              <p:cNvPr id="171" name="Google Shape;171;p2"/>
              <p:cNvSpPr txBox="1"/>
              <p:nvPr/>
            </p:nvSpPr>
            <p:spPr>
              <a:xfrm>
                <a:off x="571335" y="2048451"/>
                <a:ext cx="4623600" cy="369300"/>
              </a:xfrm>
              <a:prstGeom prst="rect">
                <a:avLst/>
              </a:prstGeom>
              <a:noFill/>
              <a:ln>
                <a:noFill/>
              </a:ln>
            </p:spPr>
            <p:txBody>
              <a:bodyPr anchorCtr="0" anchor="t" bIns="91450" lIns="91450" spcFirstLastPara="1" rIns="91450" wrap="square" tIns="91450">
                <a:sp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rgbClr val="000000"/>
                    </a:solidFill>
                    <a:latin typeface="Plus Jakarta Sans"/>
                    <a:ea typeface="Plus Jakarta Sans"/>
                    <a:cs typeface="Plus Jakarta Sans"/>
                    <a:sym typeface="Plus Jakarta Sans"/>
                  </a:rPr>
                  <a:t>Data Engineer</a:t>
                </a:r>
                <a:endParaRPr b="1" i="0" sz="1200" u="none" cap="none" strike="noStrike">
                  <a:solidFill>
                    <a:srgbClr val="000000"/>
                  </a:solidFill>
                  <a:latin typeface="Plus Jakarta Sans"/>
                  <a:ea typeface="Plus Jakarta Sans"/>
                  <a:cs typeface="Plus Jakarta Sans"/>
                  <a:sym typeface="Plus Jakarta Sans"/>
                </a:endParaRPr>
              </a:p>
            </p:txBody>
          </p:sp>
        </p:grpSp>
        <p:sp>
          <p:nvSpPr>
            <p:cNvPr id="172" name="Google Shape;172;p2"/>
            <p:cNvSpPr/>
            <p:nvPr/>
          </p:nvSpPr>
          <p:spPr>
            <a:xfrm>
              <a:off x="466625" y="3591850"/>
              <a:ext cx="104700" cy="104700"/>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76" name="Shape 176"/>
        <p:cNvGrpSpPr/>
        <p:nvPr/>
      </p:nvGrpSpPr>
      <p:grpSpPr>
        <a:xfrm>
          <a:off x="0" y="0"/>
          <a:ext cx="0" cy="0"/>
          <a:chOff x="0" y="0"/>
          <a:chExt cx="0" cy="0"/>
        </a:xfrm>
      </p:grpSpPr>
      <p:sp>
        <p:nvSpPr>
          <p:cNvPr id="177" name="Google Shape;177;p3"/>
          <p:cNvSpPr/>
          <p:nvPr/>
        </p:nvSpPr>
        <p:spPr>
          <a:xfrm rot="-1974178">
            <a:off x="5877363" y="793656"/>
            <a:ext cx="1120545" cy="1120545"/>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78" name="Google Shape;178;p3"/>
          <p:cNvSpPr/>
          <p:nvPr/>
        </p:nvSpPr>
        <p:spPr>
          <a:xfrm rot="-4242470">
            <a:off x="6617651" y="1042306"/>
            <a:ext cx="2301858" cy="2301858"/>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79" name="Google Shape;179;p3"/>
          <p:cNvSpPr/>
          <p:nvPr/>
        </p:nvSpPr>
        <p:spPr>
          <a:xfrm rot="-3576382">
            <a:off x="5139692" y="2219689"/>
            <a:ext cx="3914117" cy="3914117"/>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180" name="Google Shape;180;p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81" name="Google Shape;181;p3"/>
          <p:cNvSpPr txBox="1"/>
          <p:nvPr>
            <p:ph type="ctrTitle"/>
          </p:nvPr>
        </p:nvSpPr>
        <p:spPr>
          <a:xfrm>
            <a:off x="520875" y="3237526"/>
            <a:ext cx="56052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1800"/>
              <a:buNone/>
            </a:pPr>
            <a:r>
              <a:rPr b="1" lang="en-US" sz="4800">
                <a:solidFill>
                  <a:srgbClr val="000000"/>
                </a:solidFill>
                <a:latin typeface="Plus Jakarta Sans"/>
                <a:ea typeface="Plus Jakarta Sans"/>
                <a:cs typeface="Plus Jakarta Sans"/>
                <a:sym typeface="Plus Jakarta Sans"/>
              </a:rPr>
              <a:t>Pengenalan Data</a:t>
            </a:r>
            <a:endParaRPr b="1" sz="4800">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85" name="Shape 185"/>
        <p:cNvGrpSpPr/>
        <p:nvPr/>
      </p:nvGrpSpPr>
      <p:grpSpPr>
        <a:xfrm>
          <a:off x="0" y="0"/>
          <a:ext cx="0" cy="0"/>
          <a:chOff x="0" y="0"/>
          <a:chExt cx="0" cy="0"/>
        </a:xfrm>
      </p:grpSpPr>
      <p:sp>
        <p:nvSpPr>
          <p:cNvPr id="186" name="Google Shape;186;p4"/>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Masalah</a:t>
            </a:r>
            <a:endParaRPr b="1" i="0" sz="3600" u="none" cap="none" strike="noStrike">
              <a:solidFill>
                <a:srgbClr val="48A8C4"/>
              </a:solidFill>
              <a:latin typeface="Plus Jakarta Sans"/>
              <a:ea typeface="Plus Jakarta Sans"/>
              <a:cs typeface="Plus Jakarta Sans"/>
              <a:sym typeface="Plus Jakarta Sans"/>
            </a:endParaRPr>
          </a:p>
        </p:txBody>
      </p:sp>
      <p:pic>
        <p:nvPicPr>
          <p:cNvPr id="187" name="Google Shape;187;p4"/>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88" name="Google Shape;188;p4"/>
          <p:cNvSpPr txBox="1"/>
          <p:nvPr/>
        </p:nvSpPr>
        <p:spPr>
          <a:xfrm>
            <a:off x="2038688" y="4248350"/>
            <a:ext cx="5220600" cy="510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Masalah umum yang dihadapi banyak bisnis, di mana informasi penting terabaikan dan peluang untuk berkembang terlewatkan.</a:t>
            </a:r>
            <a:endParaRPr b="1" i="0" sz="1400" u="none" cap="none" strike="noStrike">
              <a:solidFill>
                <a:schemeClr val="dk2"/>
              </a:solidFill>
              <a:latin typeface="Arial"/>
              <a:ea typeface="Arial"/>
              <a:cs typeface="Arial"/>
              <a:sym typeface="Arial"/>
            </a:endParaRPr>
          </a:p>
        </p:txBody>
      </p:sp>
      <p:pic>
        <p:nvPicPr>
          <p:cNvPr id="189" name="Google Shape;189;p4" title="Ilustrasi bergaya semi-realistik_ seorang pemilik toko kopi kecil berdiri di belakang meja kasir, menggaruk kepala sambil melihat buku catatan kosong. Di sekelilingnya ada tumpukan cangkir kopi, poster promo _Beli 2 Gratis 1_ di dinding, da.jpg"/>
          <p:cNvPicPr preferRelativeResize="0"/>
          <p:nvPr/>
        </p:nvPicPr>
        <p:blipFill rotWithShape="1">
          <a:blip r:embed="rId4">
            <a:alphaModFix/>
          </a:blip>
          <a:srcRect b="0" l="0" r="0" t="0"/>
          <a:stretch/>
        </p:blipFill>
        <p:spPr>
          <a:xfrm>
            <a:off x="1215036" y="1121745"/>
            <a:ext cx="3057905" cy="3057905"/>
          </a:xfrm>
          <a:prstGeom prst="rect">
            <a:avLst/>
          </a:prstGeom>
          <a:noFill/>
          <a:ln>
            <a:noFill/>
          </a:ln>
        </p:spPr>
      </p:pic>
      <p:pic>
        <p:nvPicPr>
          <p:cNvPr id="190" name="Google Shape;190;p4" title="Ilustrasi infografis kreatif_ separuh gambar menunjukkan toko kopi yang ramai dengan banyak pelanggan, namun di sisi pemilik toko, semua data penjualan di papan tulis terlihat kosong atau kabur. Ada ikon-ikon peluang bisnis (panah naik, gra.jpg"/>
          <p:cNvPicPr preferRelativeResize="0"/>
          <p:nvPr/>
        </p:nvPicPr>
        <p:blipFill rotWithShape="1">
          <a:blip r:embed="rId5">
            <a:alphaModFix/>
          </a:blip>
          <a:srcRect b="0" l="0" r="0" t="0"/>
          <a:stretch/>
        </p:blipFill>
        <p:spPr>
          <a:xfrm>
            <a:off x="4872636" y="1121745"/>
            <a:ext cx="3057905" cy="305790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94" name="Shape 194"/>
        <p:cNvGrpSpPr/>
        <p:nvPr/>
      </p:nvGrpSpPr>
      <p:grpSpPr>
        <a:xfrm>
          <a:off x="0" y="0"/>
          <a:ext cx="0" cy="0"/>
          <a:chOff x="0" y="0"/>
          <a:chExt cx="0" cy="0"/>
        </a:xfrm>
      </p:grpSpPr>
      <p:sp>
        <p:nvSpPr>
          <p:cNvPr id="195" name="Google Shape;195;p5"/>
          <p:cNvSpPr txBox="1"/>
          <p:nvPr/>
        </p:nvSpPr>
        <p:spPr>
          <a:xfrm>
            <a:off x="457200" y="1121750"/>
            <a:ext cx="5687400" cy="3285470"/>
          </a:xfrm>
          <a:prstGeom prst="rect">
            <a:avLst/>
          </a:prstGeom>
          <a:noFill/>
          <a:ln>
            <a:noFill/>
          </a:ln>
        </p:spPr>
        <p:txBody>
          <a:bodyPr anchorCtr="0" anchor="t" bIns="0" lIns="0" spcFirstLastPara="1" rIns="0" wrap="square" tIns="13950">
            <a:spAutoFit/>
          </a:bodyPr>
          <a:lstStyle/>
          <a:p>
            <a:pPr indent="0" lvl="0" marL="0" marR="0" rtl="0" algn="ctr">
              <a:lnSpc>
                <a:spcPct val="115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“Mengubah Data Menjadi Wawasan”</a:t>
            </a:r>
            <a:endParaRPr b="1" i="0" sz="14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chemeClr val="dk2"/>
                </a:solidFill>
                <a:latin typeface="Arial"/>
                <a:ea typeface="Arial"/>
                <a:cs typeface="Arial"/>
                <a:sym typeface="Arial"/>
              </a:rPr>
              <a:t>Data yang tepat:</a:t>
            </a:r>
            <a:endParaRPr b="0" i="0" sz="1400" u="none" cap="none" strike="noStrike">
              <a:solidFill>
                <a:schemeClr val="dk2"/>
              </a:solidFill>
              <a:latin typeface="Arial"/>
              <a:ea typeface="Arial"/>
              <a:cs typeface="Arial"/>
              <a:sym typeface="Arial"/>
            </a:endParaRPr>
          </a:p>
          <a:p>
            <a:pPr indent="-317500" lvl="0" marL="457200" marR="0" rtl="0" algn="l">
              <a:lnSpc>
                <a:spcPct val="115000"/>
              </a:lnSpc>
              <a:spcBef>
                <a:spcPts val="0"/>
              </a:spcBef>
              <a:spcAft>
                <a:spcPts val="0"/>
              </a:spcAft>
              <a:buClr>
                <a:schemeClr val="dk2"/>
              </a:buClr>
              <a:buSzPts val="1400"/>
              <a:buFont typeface="Arial"/>
              <a:buChar char="-"/>
            </a:pPr>
            <a:r>
              <a:rPr b="0" i="0" lang="en-US" sz="1400" u="none" cap="none" strike="noStrike">
                <a:solidFill>
                  <a:schemeClr val="dk2"/>
                </a:solidFill>
                <a:latin typeface="Arial"/>
                <a:ea typeface="Arial"/>
                <a:cs typeface="Arial"/>
                <a:sym typeface="Arial"/>
              </a:rPr>
              <a:t>Laporan penjualan harian untuk mengetahui jenis kopi mana yang paling laris.</a:t>
            </a:r>
            <a:endParaRPr b="0" i="0" sz="1400" u="none" cap="none" strike="noStrike">
              <a:solidFill>
                <a:schemeClr val="dk2"/>
              </a:solidFill>
              <a:latin typeface="Arial"/>
              <a:ea typeface="Arial"/>
              <a:cs typeface="Arial"/>
              <a:sym typeface="Arial"/>
            </a:endParaRPr>
          </a:p>
          <a:p>
            <a:pPr indent="-317500" lvl="0" marL="457200" marR="0" rtl="0" algn="l">
              <a:lnSpc>
                <a:spcPct val="115000"/>
              </a:lnSpc>
              <a:spcBef>
                <a:spcPts val="0"/>
              </a:spcBef>
              <a:spcAft>
                <a:spcPts val="0"/>
              </a:spcAft>
              <a:buClr>
                <a:schemeClr val="dk2"/>
              </a:buClr>
              <a:buSzPts val="1400"/>
              <a:buFont typeface="Arial"/>
              <a:buChar char="-"/>
            </a:pPr>
            <a:r>
              <a:rPr b="0" i="0" lang="en-US" sz="1400" u="none" cap="none" strike="noStrike">
                <a:solidFill>
                  <a:schemeClr val="dk2"/>
                </a:solidFill>
                <a:latin typeface="Arial"/>
                <a:ea typeface="Arial"/>
                <a:cs typeface="Arial"/>
                <a:sym typeface="Arial"/>
              </a:rPr>
              <a:t>Mengetahui jam-jam sibuk untuk mengoptimalkan jumlah staf.</a:t>
            </a:r>
            <a:endParaRPr b="0" i="0" sz="1400" u="none" cap="none" strike="noStrike">
              <a:solidFill>
                <a:schemeClr val="dk2"/>
              </a:solidFill>
              <a:latin typeface="Arial"/>
              <a:ea typeface="Arial"/>
              <a:cs typeface="Arial"/>
              <a:sym typeface="Arial"/>
            </a:endParaRPr>
          </a:p>
          <a:p>
            <a:pPr indent="-317500" lvl="0" marL="457200" marR="0" rtl="0" algn="l">
              <a:lnSpc>
                <a:spcPct val="115000"/>
              </a:lnSpc>
              <a:spcBef>
                <a:spcPts val="0"/>
              </a:spcBef>
              <a:spcAft>
                <a:spcPts val="0"/>
              </a:spcAft>
              <a:buClr>
                <a:schemeClr val="dk2"/>
              </a:buClr>
              <a:buSzPts val="1400"/>
              <a:buFont typeface="Arial"/>
              <a:buChar char="-"/>
            </a:pPr>
            <a:r>
              <a:rPr b="0" i="0" lang="en-US" sz="1400" u="none" cap="none" strike="noStrike">
                <a:solidFill>
                  <a:schemeClr val="dk2"/>
                </a:solidFill>
                <a:latin typeface="Arial"/>
                <a:ea typeface="Arial"/>
                <a:cs typeface="Arial"/>
                <a:sym typeface="Arial"/>
              </a:rPr>
              <a:t>Menganalisis data promosi untuk melihat seberapa besar dampaknya terhadap penjualan.</a:t>
            </a:r>
            <a:endParaRPr b="0" i="0" sz="14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Data yang terkelola dengan baik memberikan wawasan untuk membuat keputusan yang lebih strategis.</a:t>
            </a:r>
            <a:endParaRPr b="1" i="0" sz="1400" u="none" cap="none" strike="noStrike">
              <a:solidFill>
                <a:schemeClr val="dk2"/>
              </a:solidFill>
              <a:latin typeface="Arial"/>
              <a:ea typeface="Arial"/>
              <a:cs typeface="Arial"/>
              <a:sym typeface="Arial"/>
            </a:endParaRPr>
          </a:p>
        </p:txBody>
      </p:sp>
      <p:sp>
        <p:nvSpPr>
          <p:cNvPr id="196" name="Google Shape;196;p5"/>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Solusi</a:t>
            </a:r>
            <a:endParaRPr b="1" i="0" sz="3600" u="none" cap="none" strike="noStrike">
              <a:solidFill>
                <a:srgbClr val="48A8C4"/>
              </a:solidFill>
              <a:latin typeface="Plus Jakarta Sans"/>
              <a:ea typeface="Plus Jakarta Sans"/>
              <a:cs typeface="Plus Jakarta Sans"/>
              <a:sym typeface="Plus Jakarta Sans"/>
            </a:endParaRPr>
          </a:p>
        </p:txBody>
      </p:sp>
      <p:pic>
        <p:nvPicPr>
          <p:cNvPr id="197" name="Google Shape;197;p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198" name="Google Shape;198;p5"/>
          <p:cNvSpPr/>
          <p:nvPr/>
        </p:nvSpPr>
        <p:spPr>
          <a:xfrm>
            <a:off x="6144525" y="11979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02" name="Shape 202"/>
        <p:cNvGrpSpPr/>
        <p:nvPr/>
      </p:nvGrpSpPr>
      <p:grpSpPr>
        <a:xfrm>
          <a:off x="0" y="0"/>
          <a:ext cx="0" cy="0"/>
          <a:chOff x="0" y="0"/>
          <a:chExt cx="0" cy="0"/>
        </a:xfrm>
      </p:grpSpPr>
      <p:sp>
        <p:nvSpPr>
          <p:cNvPr id="203" name="Google Shape;203;p6"/>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Pengertian</a:t>
            </a:r>
            <a:endParaRPr b="1" i="0" sz="3600" u="none" cap="none" strike="noStrike">
              <a:solidFill>
                <a:srgbClr val="48A8C4"/>
              </a:solidFill>
              <a:latin typeface="Plus Jakarta Sans"/>
              <a:ea typeface="Plus Jakarta Sans"/>
              <a:cs typeface="Plus Jakarta Sans"/>
              <a:sym typeface="Plus Jakarta Sans"/>
            </a:endParaRPr>
          </a:p>
        </p:txBody>
      </p:sp>
      <p:pic>
        <p:nvPicPr>
          <p:cNvPr id="204" name="Google Shape;204;p6"/>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05" name="Google Shape;205;p6"/>
          <p:cNvSpPr txBox="1"/>
          <p:nvPr/>
        </p:nvSpPr>
        <p:spPr>
          <a:xfrm>
            <a:off x="457200" y="1121750"/>
            <a:ext cx="5661000" cy="2757150"/>
          </a:xfrm>
          <a:prstGeom prst="rect">
            <a:avLst/>
          </a:prstGeom>
          <a:noFill/>
          <a:ln>
            <a:noFill/>
          </a:ln>
        </p:spPr>
        <p:txBody>
          <a:bodyPr anchorCtr="0" anchor="t" bIns="0" lIns="0" spcFirstLastPara="1" rIns="0" wrap="square" tIns="13950">
            <a:spAutoFit/>
          </a:bodyPr>
          <a:lstStyle/>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Data</a:t>
            </a:r>
            <a:r>
              <a:rPr b="0" i="0" lang="en-US" sz="1400" u="none" cap="none" strike="noStrike">
                <a:solidFill>
                  <a:schemeClr val="dk2"/>
                </a:solidFill>
                <a:latin typeface="Arial"/>
                <a:ea typeface="Arial"/>
                <a:cs typeface="Arial"/>
                <a:sym typeface="Arial"/>
              </a:rPr>
              <a:t> adalah kumpulan </a:t>
            </a:r>
            <a:r>
              <a:rPr b="1" i="0" lang="en-US" sz="1400" u="none" cap="none" strike="noStrike">
                <a:solidFill>
                  <a:schemeClr val="dk2"/>
                </a:solidFill>
                <a:latin typeface="Arial"/>
                <a:ea typeface="Arial"/>
                <a:cs typeface="Arial"/>
                <a:sym typeface="Arial"/>
              </a:rPr>
              <a:t>fakta</a:t>
            </a:r>
            <a:r>
              <a:rPr b="0" i="0" lang="en-US" sz="1400" u="none" cap="none" strike="noStrike">
                <a:solidFill>
                  <a:schemeClr val="dk2"/>
                </a:solidFill>
                <a:latin typeface="Arial"/>
                <a:ea typeface="Arial"/>
                <a:cs typeface="Arial"/>
                <a:sym typeface="Arial"/>
              </a:rPr>
              <a:t> mentah, angka, atau informasi yang belum diolah. </a:t>
            </a:r>
            <a:endParaRPr b="0" i="0" sz="14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206" name="Google Shape;206;p6"/>
          <p:cNvSpPr/>
          <p:nvPr/>
        </p:nvSpPr>
        <p:spPr>
          <a:xfrm>
            <a:off x="6144525" y="11979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207" name="Google Shape;207;p6" title="Ilustrasi bergaya modern dan edukatif_ meja dapur dengan berbagai bahan mentah seperti tepung, gula, telur, dan mentega yang tersusun rapi. Di sampingnya ada buku resep terbuka dan peralatan memasak seperti mixer dan mangkuk besar. Di u (1).jpg"/>
          <p:cNvPicPr preferRelativeResize="0"/>
          <p:nvPr/>
        </p:nvPicPr>
        <p:blipFill rotWithShape="1">
          <a:blip r:embed="rId4">
            <a:alphaModFix/>
          </a:blip>
          <a:srcRect b="0" l="0" r="0" t="0"/>
          <a:stretch/>
        </p:blipFill>
        <p:spPr>
          <a:xfrm>
            <a:off x="6144528" y="1121750"/>
            <a:ext cx="2589974" cy="34532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11" name="Shape 211"/>
        <p:cNvGrpSpPr/>
        <p:nvPr/>
      </p:nvGrpSpPr>
      <p:grpSpPr>
        <a:xfrm>
          <a:off x="0" y="0"/>
          <a:ext cx="0" cy="0"/>
          <a:chOff x="0" y="0"/>
          <a:chExt cx="0" cy="0"/>
        </a:xfrm>
      </p:grpSpPr>
      <p:sp>
        <p:nvSpPr>
          <p:cNvPr id="212" name="Google Shape;212;p7"/>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DIKW Pyramid</a:t>
            </a:r>
            <a:endParaRPr b="1" i="0" sz="3600" u="none" cap="none" strike="noStrike">
              <a:solidFill>
                <a:srgbClr val="48A8C4"/>
              </a:solidFill>
              <a:latin typeface="Plus Jakarta Sans"/>
              <a:ea typeface="Plus Jakarta Sans"/>
              <a:cs typeface="Plus Jakarta Sans"/>
              <a:sym typeface="Plus Jakarta Sans"/>
            </a:endParaRPr>
          </a:p>
        </p:txBody>
      </p:sp>
      <p:pic>
        <p:nvPicPr>
          <p:cNvPr id="213" name="Google Shape;213;p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pic>
        <p:nvPicPr>
          <p:cNvPr id="214" name="Google Shape;214;p7"/>
          <p:cNvPicPr preferRelativeResize="0"/>
          <p:nvPr/>
        </p:nvPicPr>
        <p:blipFill rotWithShape="1">
          <a:blip r:embed="rId4">
            <a:alphaModFix/>
          </a:blip>
          <a:srcRect b="0" l="0" r="0" t="0"/>
          <a:stretch/>
        </p:blipFill>
        <p:spPr>
          <a:xfrm>
            <a:off x="457200" y="1583247"/>
            <a:ext cx="4751374" cy="2672650"/>
          </a:xfrm>
          <a:prstGeom prst="rect">
            <a:avLst/>
          </a:prstGeom>
          <a:noFill/>
          <a:ln>
            <a:noFill/>
          </a:ln>
        </p:spPr>
      </p:pic>
      <p:sp>
        <p:nvSpPr>
          <p:cNvPr id="215" name="Google Shape;215;p7"/>
          <p:cNvSpPr txBox="1"/>
          <p:nvPr/>
        </p:nvSpPr>
        <p:spPr>
          <a:xfrm>
            <a:off x="5075200" y="1135575"/>
            <a:ext cx="3740700" cy="3380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chemeClr val="dk2"/>
                </a:solidFill>
                <a:latin typeface="Arial"/>
                <a:ea typeface="Arial"/>
                <a:cs typeface="Arial"/>
                <a:sym typeface="Arial"/>
              </a:rPr>
              <a:t>Data:</a:t>
            </a:r>
            <a:endParaRPr b="1" i="0" sz="1200" u="none" cap="none" strike="noStrike">
              <a:solidFill>
                <a:schemeClr val="dk2"/>
              </a:solidFill>
              <a:latin typeface="Arial"/>
              <a:ea typeface="Arial"/>
              <a:cs typeface="Arial"/>
              <a:sym typeface="Arial"/>
            </a:endParaRPr>
          </a:p>
          <a:p>
            <a:pPr indent="-304800" lvl="0" marL="457200" marR="0" rtl="0" algn="l">
              <a:lnSpc>
                <a:spcPct val="115000"/>
              </a:lnSpc>
              <a:spcBef>
                <a:spcPts val="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Angka "50"</a:t>
            </a:r>
            <a:endParaRPr b="0" i="0" sz="1200" u="none" cap="none" strike="noStrike">
              <a:solidFill>
                <a:schemeClr val="dk2"/>
              </a:solidFill>
              <a:latin typeface="Arial"/>
              <a:ea typeface="Arial"/>
              <a:cs typeface="Arial"/>
              <a:sym typeface="Arial"/>
            </a:endParaRPr>
          </a:p>
          <a:p>
            <a:pPr indent="-304800" lvl="0" marL="457200" marR="0" rtl="0" algn="l">
              <a:lnSpc>
                <a:spcPct val="115000"/>
              </a:lnSpc>
              <a:spcBef>
                <a:spcPts val="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nama "Cappuccino"</a:t>
            </a:r>
            <a:endParaRPr b="0" i="0" sz="1200" u="none" cap="none" strike="noStrike">
              <a:solidFill>
                <a:schemeClr val="dk2"/>
              </a:solidFill>
              <a:latin typeface="Arial"/>
              <a:ea typeface="Arial"/>
              <a:cs typeface="Arial"/>
              <a:sym typeface="Arial"/>
            </a:endParaRPr>
          </a:p>
          <a:p>
            <a:pPr indent="-304800" lvl="0" marL="457200" marR="0" rtl="0" algn="l">
              <a:lnSpc>
                <a:spcPct val="115000"/>
              </a:lnSpc>
              <a:spcBef>
                <a:spcPts val="0"/>
              </a:spcBef>
              <a:spcAft>
                <a:spcPts val="0"/>
              </a:spcAft>
              <a:buClr>
                <a:schemeClr val="dk2"/>
              </a:buClr>
              <a:buSzPts val="1200"/>
              <a:buFont typeface="Arial"/>
              <a:buChar char="-"/>
            </a:pPr>
            <a:r>
              <a:rPr b="0" i="0" lang="en-US" sz="1200" u="none" cap="none" strike="noStrike">
                <a:solidFill>
                  <a:schemeClr val="dk2"/>
                </a:solidFill>
                <a:latin typeface="Arial"/>
                <a:ea typeface="Arial"/>
                <a:cs typeface="Arial"/>
                <a:sym typeface="Arial"/>
              </a:rPr>
              <a:t>harga "Rp25.000".</a:t>
            </a:r>
            <a:endParaRPr b="0" i="0" sz="12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chemeClr val="dk2"/>
                </a:solidFill>
                <a:latin typeface="Arial"/>
                <a:ea typeface="Arial"/>
                <a:cs typeface="Arial"/>
                <a:sym typeface="Arial"/>
              </a:rPr>
              <a:t>Informasi:</a:t>
            </a:r>
            <a:endParaRPr b="1" i="0" sz="12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en-US" sz="1200" u="none" cap="none" strike="noStrike">
                <a:solidFill>
                  <a:schemeClr val="dk2"/>
                </a:solidFill>
                <a:latin typeface="Arial"/>
                <a:ea typeface="Arial"/>
                <a:cs typeface="Arial"/>
                <a:sym typeface="Arial"/>
              </a:rPr>
              <a:t>"Penjualan Cappuccino hari ini adalah 50 gelas dengan total pendapatan Rp1.250.000."</a:t>
            </a:r>
            <a:endParaRPr b="0" i="0" sz="12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chemeClr val="dk2"/>
                </a:solidFill>
                <a:latin typeface="Arial"/>
                <a:ea typeface="Arial"/>
                <a:cs typeface="Arial"/>
                <a:sym typeface="Arial"/>
              </a:rPr>
              <a:t>Pengetahuan:</a:t>
            </a:r>
            <a:endParaRPr b="1" i="0" sz="12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en-US" sz="1200" u="none" cap="none" strike="noStrike">
                <a:solidFill>
                  <a:schemeClr val="dk2"/>
                </a:solidFill>
                <a:latin typeface="Arial"/>
                <a:ea typeface="Arial"/>
                <a:cs typeface="Arial"/>
                <a:sym typeface="Arial"/>
              </a:rPr>
              <a:t>"Cappuccino adalah produk paling laris di toko ini dan berkontribusi besar pada pendapatan."</a:t>
            </a:r>
            <a:endParaRPr b="0" i="0" sz="12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1" i="0" lang="en-US" sz="1200" u="none" cap="none" strike="noStrike">
                <a:solidFill>
                  <a:schemeClr val="dk2"/>
                </a:solidFill>
                <a:latin typeface="Arial"/>
                <a:ea typeface="Arial"/>
                <a:cs typeface="Arial"/>
                <a:sym typeface="Arial"/>
              </a:rPr>
              <a:t>Wawasan:</a:t>
            </a:r>
            <a:endParaRPr b="1" i="0" sz="1200" u="none" cap="none" strike="noStrike">
              <a:solidFill>
                <a:schemeClr val="dk2"/>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200"/>
              <a:buFont typeface="Arial"/>
              <a:buNone/>
            </a:pPr>
            <a:r>
              <a:rPr b="0" i="0" lang="en-US" sz="1200" u="none" cap="none" strike="noStrike">
                <a:solidFill>
                  <a:schemeClr val="dk2"/>
                </a:solidFill>
                <a:latin typeface="Arial"/>
                <a:ea typeface="Arial"/>
                <a:cs typeface="Arial"/>
                <a:sym typeface="Arial"/>
              </a:rPr>
              <a:t>"Karena Cappuccino sangat populer, kita bisa membuat promosi bundling 'Cappuccino + Kue' untuk meningkatkan penjualan produk lain."</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19" name="Shape 219"/>
        <p:cNvGrpSpPr/>
        <p:nvPr/>
      </p:nvGrpSpPr>
      <p:grpSpPr>
        <a:xfrm>
          <a:off x="0" y="0"/>
          <a:ext cx="0" cy="0"/>
          <a:chOff x="0" y="0"/>
          <a:chExt cx="0" cy="0"/>
        </a:xfrm>
      </p:grpSpPr>
      <p:sp>
        <p:nvSpPr>
          <p:cNvPr id="220" name="Google Shape;220;p8"/>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Jenis</a:t>
            </a:r>
            <a:endParaRPr b="1" i="0" sz="3600" u="none" cap="none" strike="noStrike">
              <a:solidFill>
                <a:srgbClr val="48A8C4"/>
              </a:solidFill>
              <a:latin typeface="Plus Jakarta Sans"/>
              <a:ea typeface="Plus Jakarta Sans"/>
              <a:cs typeface="Plus Jakarta Sans"/>
              <a:sym typeface="Plus Jakarta Sans"/>
            </a:endParaRPr>
          </a:p>
        </p:txBody>
      </p:sp>
      <p:pic>
        <p:nvPicPr>
          <p:cNvPr id="221" name="Google Shape;221;p8"/>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22" name="Google Shape;222;p8"/>
          <p:cNvSpPr/>
          <p:nvPr/>
        </p:nvSpPr>
        <p:spPr>
          <a:xfrm>
            <a:off x="6144525" y="11979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223" name="Google Shape;223;p8"/>
          <p:cNvPicPr preferRelativeResize="0"/>
          <p:nvPr/>
        </p:nvPicPr>
        <p:blipFill rotWithShape="1">
          <a:blip r:embed="rId4">
            <a:alphaModFix/>
          </a:blip>
          <a:srcRect b="0" l="0" r="0" t="0"/>
          <a:stretch/>
        </p:blipFill>
        <p:spPr>
          <a:xfrm>
            <a:off x="1652925" y="1675970"/>
            <a:ext cx="5839725" cy="231527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27" name="Shape 227"/>
        <p:cNvGrpSpPr/>
        <p:nvPr/>
      </p:nvGrpSpPr>
      <p:grpSpPr>
        <a:xfrm>
          <a:off x="0" y="0"/>
          <a:ext cx="0" cy="0"/>
          <a:chOff x="0" y="0"/>
          <a:chExt cx="0" cy="0"/>
        </a:xfrm>
      </p:grpSpPr>
      <p:sp>
        <p:nvSpPr>
          <p:cNvPr id="228" name="Google Shape;228;p9"/>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Big Data</a:t>
            </a:r>
            <a:endParaRPr b="1" i="0" sz="3600" u="none" cap="none" strike="noStrike">
              <a:solidFill>
                <a:srgbClr val="48A8C4"/>
              </a:solidFill>
              <a:latin typeface="Plus Jakarta Sans"/>
              <a:ea typeface="Plus Jakarta Sans"/>
              <a:cs typeface="Plus Jakarta Sans"/>
              <a:sym typeface="Plus Jakarta Sans"/>
            </a:endParaRPr>
          </a:p>
        </p:txBody>
      </p:sp>
      <p:pic>
        <p:nvPicPr>
          <p:cNvPr id="229" name="Google Shape;229;p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30" name="Google Shape;230;p9"/>
          <p:cNvSpPr/>
          <p:nvPr/>
        </p:nvSpPr>
        <p:spPr>
          <a:xfrm>
            <a:off x="6144525" y="11979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231" name="Google Shape;231;p9"/>
          <p:cNvPicPr preferRelativeResize="0"/>
          <p:nvPr/>
        </p:nvPicPr>
        <p:blipFill rotWithShape="1">
          <a:blip r:embed="rId4">
            <a:alphaModFix/>
          </a:blip>
          <a:srcRect b="0" l="0" r="0" t="0"/>
          <a:stretch/>
        </p:blipFill>
        <p:spPr>
          <a:xfrm>
            <a:off x="1241450" y="1121751"/>
            <a:ext cx="6662674" cy="3750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35" name="Shape 235"/>
        <p:cNvGrpSpPr/>
        <p:nvPr/>
      </p:nvGrpSpPr>
      <p:grpSpPr>
        <a:xfrm>
          <a:off x="0" y="0"/>
          <a:ext cx="0" cy="0"/>
          <a:chOff x="0" y="0"/>
          <a:chExt cx="0" cy="0"/>
        </a:xfrm>
      </p:grpSpPr>
      <p:sp>
        <p:nvSpPr>
          <p:cNvPr id="236" name="Google Shape;236;p10"/>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Case Study: Coffe Shop</a:t>
            </a:r>
            <a:endParaRPr b="1" i="0" sz="3600" u="none" cap="none" strike="noStrike">
              <a:solidFill>
                <a:srgbClr val="48A8C4"/>
              </a:solidFill>
              <a:latin typeface="Plus Jakarta Sans"/>
              <a:ea typeface="Plus Jakarta Sans"/>
              <a:cs typeface="Plus Jakarta Sans"/>
              <a:sym typeface="Plus Jakarta Sans"/>
            </a:endParaRPr>
          </a:p>
        </p:txBody>
      </p:sp>
      <p:pic>
        <p:nvPicPr>
          <p:cNvPr id="237" name="Google Shape;237;p10"/>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38" name="Google Shape;238;p10"/>
          <p:cNvSpPr txBox="1"/>
          <p:nvPr/>
        </p:nvSpPr>
        <p:spPr>
          <a:xfrm>
            <a:off x="457200" y="1121750"/>
            <a:ext cx="8358300" cy="4023300"/>
          </a:xfrm>
          <a:prstGeom prst="rect">
            <a:avLst/>
          </a:prstGeom>
          <a:noFill/>
          <a:ln>
            <a:noFill/>
          </a:ln>
        </p:spPr>
        <p:txBody>
          <a:bodyPr anchorCtr="0" anchor="t" bIns="91425" lIns="91425" spcFirstLastPara="1" rIns="91425" wrap="square" tIns="91425">
            <a:noAutofit/>
          </a:bodyPr>
          <a:lstStyle/>
          <a:p>
            <a:pPr indent="-311150" lvl="0" marL="457200" marR="0" rtl="0" algn="l">
              <a:lnSpc>
                <a:spcPct val="100000"/>
              </a:lnSpc>
              <a:spcBef>
                <a:spcPts val="0"/>
              </a:spcBef>
              <a:spcAft>
                <a:spcPts val="0"/>
              </a:spcAft>
              <a:buClr>
                <a:schemeClr val="dk1"/>
              </a:buClr>
              <a:buSzPts val="1300"/>
              <a:buFont typeface="Arial"/>
              <a:buChar char="-"/>
            </a:pPr>
            <a:r>
              <a:rPr b="1" i="0" lang="en-US" sz="1300" u="none" cap="none" strike="noStrike">
                <a:solidFill>
                  <a:schemeClr val="dk1"/>
                </a:solidFill>
                <a:latin typeface="Arial"/>
                <a:ea typeface="Arial"/>
                <a:cs typeface="Arial"/>
                <a:sym typeface="Arial"/>
              </a:rPr>
              <a:t>Volume</a:t>
            </a:r>
            <a:endParaRPr b="0" i="0" sz="13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Arial"/>
                <a:ea typeface="Arial"/>
                <a:cs typeface="Arial"/>
                <a:sym typeface="Arial"/>
              </a:rPr>
              <a:t>Seluruh data penjualan, stok, dan pelanggan dari 1000 cabang selama 5 tahun terakhir.</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a:p>
            <a:pPr indent="-311150" lvl="0" marL="457200" marR="0" rtl="0" algn="l">
              <a:lnSpc>
                <a:spcPct val="100000"/>
              </a:lnSpc>
              <a:spcBef>
                <a:spcPts val="0"/>
              </a:spcBef>
              <a:spcAft>
                <a:spcPts val="0"/>
              </a:spcAft>
              <a:buClr>
                <a:schemeClr val="dk1"/>
              </a:buClr>
              <a:buSzPts val="1300"/>
              <a:buFont typeface="Arial"/>
              <a:buChar char="-"/>
            </a:pPr>
            <a:r>
              <a:rPr b="1" i="0" lang="en-US" sz="1300" u="none" cap="none" strike="noStrike">
                <a:solidFill>
                  <a:schemeClr val="dk1"/>
                </a:solidFill>
                <a:latin typeface="Arial"/>
                <a:ea typeface="Arial"/>
                <a:cs typeface="Arial"/>
                <a:sym typeface="Arial"/>
              </a:rPr>
              <a:t>Velocity</a:t>
            </a:r>
            <a:endParaRPr b="0" i="0" sz="13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Arial"/>
                <a:ea typeface="Arial"/>
                <a:cs typeface="Arial"/>
                <a:sym typeface="Arial"/>
              </a:rPr>
              <a:t>Data pesanan yang masuk secara real-time dan notifikasi dari aplikasi pemesanan online yang terus-menerus mengalir.</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a:p>
            <a:pPr indent="-311150" lvl="0" marL="457200" marR="0" rtl="0" algn="l">
              <a:lnSpc>
                <a:spcPct val="100000"/>
              </a:lnSpc>
              <a:spcBef>
                <a:spcPts val="0"/>
              </a:spcBef>
              <a:spcAft>
                <a:spcPts val="0"/>
              </a:spcAft>
              <a:buClr>
                <a:schemeClr val="dk1"/>
              </a:buClr>
              <a:buSzPts val="1300"/>
              <a:buFont typeface="Arial"/>
              <a:buChar char="-"/>
            </a:pPr>
            <a:r>
              <a:rPr b="1" i="0" lang="en-US" sz="1300" u="none" cap="none" strike="noStrike">
                <a:solidFill>
                  <a:schemeClr val="dk1"/>
                </a:solidFill>
                <a:latin typeface="Arial"/>
                <a:ea typeface="Arial"/>
                <a:cs typeface="Arial"/>
                <a:sym typeface="Arial"/>
              </a:rPr>
              <a:t>Variety</a:t>
            </a:r>
            <a:endParaRPr b="0" i="0" sz="13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Arial"/>
                <a:ea typeface="Arial"/>
                <a:cs typeface="Arial"/>
                <a:sym typeface="Arial"/>
              </a:rPr>
              <a:t>Meliputi data transaksi (terstruktur), gambar produk dari kamera pengawas (tidak terstruktur), dan review pelanggan (teks tidak terstruktur).</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a:p>
            <a:pPr indent="-311150" lvl="0" marL="457200" marR="0" rtl="0" algn="l">
              <a:lnSpc>
                <a:spcPct val="100000"/>
              </a:lnSpc>
              <a:spcBef>
                <a:spcPts val="0"/>
              </a:spcBef>
              <a:spcAft>
                <a:spcPts val="0"/>
              </a:spcAft>
              <a:buClr>
                <a:schemeClr val="dk1"/>
              </a:buClr>
              <a:buSzPts val="1300"/>
              <a:buFont typeface="Arial"/>
              <a:buChar char="-"/>
            </a:pPr>
            <a:r>
              <a:rPr b="1" i="0" lang="en-US" sz="1300" u="none" cap="none" strike="noStrike">
                <a:solidFill>
                  <a:schemeClr val="dk1"/>
                </a:solidFill>
                <a:latin typeface="Arial"/>
                <a:ea typeface="Arial"/>
                <a:cs typeface="Arial"/>
                <a:sym typeface="Arial"/>
              </a:rPr>
              <a:t>Veracity</a:t>
            </a:r>
            <a:endParaRPr b="0" i="0" sz="13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Arial"/>
                <a:ea typeface="Arial"/>
                <a:cs typeface="Arial"/>
                <a:sym typeface="Arial"/>
              </a:rPr>
              <a:t>Memastikan semua data penjualan yang dicatat oleh sistem POS adalah akurat dan tidak ada duplikasi.</a:t>
            </a:r>
            <a:endParaRPr b="0"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chemeClr val="dk1"/>
              </a:solidFill>
              <a:latin typeface="Arial"/>
              <a:ea typeface="Arial"/>
              <a:cs typeface="Arial"/>
              <a:sym typeface="Arial"/>
            </a:endParaRPr>
          </a:p>
          <a:p>
            <a:pPr indent="-311150" lvl="0" marL="457200" marR="0" rtl="0" algn="l">
              <a:lnSpc>
                <a:spcPct val="100000"/>
              </a:lnSpc>
              <a:spcBef>
                <a:spcPts val="0"/>
              </a:spcBef>
              <a:spcAft>
                <a:spcPts val="0"/>
              </a:spcAft>
              <a:buClr>
                <a:schemeClr val="dk1"/>
              </a:buClr>
              <a:buSzPts val="1300"/>
              <a:buFont typeface="Arial"/>
              <a:buChar char="-"/>
            </a:pPr>
            <a:r>
              <a:rPr b="1" i="0" lang="en-US" sz="1300" u="none" cap="none" strike="noStrike">
                <a:solidFill>
                  <a:schemeClr val="dk1"/>
                </a:solidFill>
                <a:latin typeface="Arial"/>
                <a:ea typeface="Arial"/>
                <a:cs typeface="Arial"/>
                <a:sym typeface="Arial"/>
              </a:rPr>
              <a:t>Value</a:t>
            </a:r>
            <a:endParaRPr b="0" i="0" sz="1300" u="none" cap="none" strike="noStrike">
              <a:solidFill>
                <a:schemeClr val="dk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1300"/>
              <a:buFont typeface="Arial"/>
              <a:buNone/>
            </a:pPr>
            <a:r>
              <a:rPr b="0" i="0" lang="en-US" sz="1300" u="none" cap="none" strike="noStrike">
                <a:solidFill>
                  <a:schemeClr val="dk1"/>
                </a:solidFill>
                <a:latin typeface="Arial"/>
                <a:ea typeface="Arial"/>
                <a:cs typeface="Arial"/>
                <a:sym typeface="Arial"/>
              </a:rPr>
              <a:t>Menganalisis data ini untuk menemukan tren, membuat rekomendasi produk yang dipersonalisasi, dan mengoptimalkan manajemen stok, yang semuanya meningkatkan keuntungan.</a:t>
            </a:r>
            <a:endParaRPr b="0" i="0" sz="13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42" name="Shape 242"/>
        <p:cNvGrpSpPr/>
        <p:nvPr/>
      </p:nvGrpSpPr>
      <p:grpSpPr>
        <a:xfrm>
          <a:off x="0" y="0"/>
          <a:ext cx="0" cy="0"/>
          <a:chOff x="0" y="0"/>
          <a:chExt cx="0" cy="0"/>
        </a:xfrm>
      </p:grpSpPr>
      <p:sp>
        <p:nvSpPr>
          <p:cNvPr id="243" name="Google Shape;243;p11"/>
          <p:cNvSpPr txBox="1"/>
          <p:nvPr/>
        </p:nvSpPr>
        <p:spPr>
          <a:xfrm>
            <a:off x="6478600" y="1617425"/>
            <a:ext cx="2441400" cy="995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Arial"/>
                <a:ea typeface="Arial"/>
                <a:cs typeface="Arial"/>
                <a:sym typeface="Arial"/>
              </a:rPr>
              <a:t>Efisiensi Operasional</a:t>
            </a:r>
            <a:endParaRPr b="0" i="0" sz="1600" u="none" cap="none" strike="noStrike">
              <a:solidFill>
                <a:schemeClr val="dk2"/>
              </a:solidFill>
              <a:latin typeface="Arial"/>
              <a:ea typeface="Arial"/>
              <a:cs typeface="Arial"/>
              <a:sym typeface="Arial"/>
            </a:endParaRPr>
          </a:p>
        </p:txBody>
      </p:sp>
      <p:sp>
        <p:nvSpPr>
          <p:cNvPr id="244" name="Google Shape;244;p11"/>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Manfaat</a:t>
            </a:r>
            <a:endParaRPr b="1" i="0" sz="3600" u="none" cap="none" strike="noStrike">
              <a:solidFill>
                <a:srgbClr val="48A8C4"/>
              </a:solidFill>
              <a:latin typeface="Plus Jakarta Sans"/>
              <a:ea typeface="Plus Jakarta Sans"/>
              <a:cs typeface="Plus Jakarta Sans"/>
              <a:sym typeface="Plus Jakarta Sans"/>
            </a:endParaRPr>
          </a:p>
        </p:txBody>
      </p:sp>
      <p:sp>
        <p:nvSpPr>
          <p:cNvPr id="245" name="Google Shape;245;p11"/>
          <p:cNvSpPr txBox="1"/>
          <p:nvPr/>
        </p:nvSpPr>
        <p:spPr>
          <a:xfrm>
            <a:off x="227125" y="3598600"/>
            <a:ext cx="2441400" cy="995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Arial"/>
                <a:ea typeface="Arial"/>
                <a:cs typeface="Arial"/>
                <a:sym typeface="Arial"/>
              </a:rPr>
              <a:t>Prediksi Masa Depan</a:t>
            </a:r>
            <a:endParaRPr b="0" i="0" sz="1600" u="none" cap="none" strike="noStrike">
              <a:solidFill>
                <a:schemeClr val="dk2"/>
              </a:solidFill>
              <a:latin typeface="Arial"/>
              <a:ea typeface="Arial"/>
              <a:cs typeface="Arial"/>
              <a:sym typeface="Arial"/>
            </a:endParaRPr>
          </a:p>
        </p:txBody>
      </p:sp>
      <p:pic>
        <p:nvPicPr>
          <p:cNvPr id="246" name="Google Shape;246;p1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pic>
        <p:nvPicPr>
          <p:cNvPr id="247" name="Google Shape;247;p11" title="19197511.jpg"/>
          <p:cNvPicPr preferRelativeResize="0"/>
          <p:nvPr/>
        </p:nvPicPr>
        <p:blipFill rotWithShape="1">
          <a:blip r:embed="rId4">
            <a:alphaModFix/>
          </a:blip>
          <a:srcRect b="0" l="0" r="0" t="0"/>
          <a:stretch/>
        </p:blipFill>
        <p:spPr>
          <a:xfrm>
            <a:off x="2668599" y="1200864"/>
            <a:ext cx="1828803" cy="1828797"/>
          </a:xfrm>
          <a:prstGeom prst="rect">
            <a:avLst/>
          </a:prstGeom>
          <a:noFill/>
          <a:ln>
            <a:noFill/>
          </a:ln>
        </p:spPr>
      </p:pic>
      <p:pic>
        <p:nvPicPr>
          <p:cNvPr id="248" name="Google Shape;248;p11" title="Jan-Business_report_1.jpg"/>
          <p:cNvPicPr preferRelativeResize="0"/>
          <p:nvPr/>
        </p:nvPicPr>
        <p:blipFill rotWithShape="1">
          <a:blip r:embed="rId5">
            <a:alphaModFix/>
          </a:blip>
          <a:srcRect b="0" l="0" r="0" t="0"/>
          <a:stretch/>
        </p:blipFill>
        <p:spPr>
          <a:xfrm>
            <a:off x="2668600" y="3182050"/>
            <a:ext cx="1828797" cy="1828797"/>
          </a:xfrm>
          <a:prstGeom prst="rect">
            <a:avLst/>
          </a:prstGeom>
          <a:noFill/>
          <a:ln>
            <a:noFill/>
          </a:ln>
        </p:spPr>
      </p:pic>
      <p:pic>
        <p:nvPicPr>
          <p:cNvPr id="249" name="Google Shape;249;p11" title="OrgUVC-L_Tech-26_Single-09.jpg"/>
          <p:cNvPicPr preferRelativeResize="0"/>
          <p:nvPr/>
        </p:nvPicPr>
        <p:blipFill rotWithShape="1">
          <a:blip r:embed="rId6">
            <a:alphaModFix/>
          </a:blip>
          <a:srcRect b="0" l="0" r="0" t="0"/>
          <a:stretch/>
        </p:blipFill>
        <p:spPr>
          <a:xfrm>
            <a:off x="4649788" y="1200870"/>
            <a:ext cx="1828803" cy="1828803"/>
          </a:xfrm>
          <a:prstGeom prst="rect">
            <a:avLst/>
          </a:prstGeom>
          <a:noFill/>
          <a:ln>
            <a:noFill/>
          </a:ln>
        </p:spPr>
      </p:pic>
      <p:pic>
        <p:nvPicPr>
          <p:cNvPr id="250" name="Google Shape;250;p11" title="2112.i301.030.S.m004.c13.UI and UX designers concepts isometric composition.jpg"/>
          <p:cNvPicPr preferRelativeResize="0"/>
          <p:nvPr/>
        </p:nvPicPr>
        <p:blipFill rotWithShape="1">
          <a:blip r:embed="rId7">
            <a:alphaModFix/>
          </a:blip>
          <a:srcRect b="0" l="0" r="0" t="0"/>
          <a:stretch/>
        </p:blipFill>
        <p:spPr>
          <a:xfrm>
            <a:off x="4649796" y="3182049"/>
            <a:ext cx="1828803" cy="1828803"/>
          </a:xfrm>
          <a:prstGeom prst="rect">
            <a:avLst/>
          </a:prstGeom>
          <a:noFill/>
          <a:ln>
            <a:noFill/>
          </a:ln>
        </p:spPr>
      </p:pic>
      <p:sp>
        <p:nvSpPr>
          <p:cNvPr id="251" name="Google Shape;251;p11"/>
          <p:cNvSpPr txBox="1"/>
          <p:nvPr/>
        </p:nvSpPr>
        <p:spPr>
          <a:xfrm>
            <a:off x="227125" y="1617425"/>
            <a:ext cx="2441400" cy="9957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Arial"/>
                <a:ea typeface="Arial"/>
                <a:cs typeface="Arial"/>
                <a:sym typeface="Arial"/>
              </a:rPr>
              <a:t>Pengambilan Keputusan yang Lebih Baik</a:t>
            </a:r>
            <a:endParaRPr b="0" i="0" sz="1600" u="none" cap="none" strike="noStrike">
              <a:solidFill>
                <a:schemeClr val="dk2"/>
              </a:solidFill>
              <a:latin typeface="Arial"/>
              <a:ea typeface="Arial"/>
              <a:cs typeface="Arial"/>
              <a:sym typeface="Arial"/>
            </a:endParaRPr>
          </a:p>
        </p:txBody>
      </p:sp>
      <p:sp>
        <p:nvSpPr>
          <p:cNvPr id="252" name="Google Shape;252;p11"/>
          <p:cNvSpPr txBox="1"/>
          <p:nvPr/>
        </p:nvSpPr>
        <p:spPr>
          <a:xfrm>
            <a:off x="6478600" y="3598600"/>
            <a:ext cx="2441400" cy="995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2"/>
                </a:solidFill>
                <a:latin typeface="Arial"/>
                <a:ea typeface="Arial"/>
                <a:cs typeface="Arial"/>
                <a:sym typeface="Arial"/>
              </a:rPr>
              <a:t>Personalisasi Layanan</a:t>
            </a:r>
            <a:endParaRPr b="0" i="0" sz="1600" u="none" cap="none" strike="noStrike">
              <a:solidFill>
                <a:schemeClr val="dk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56" name="Shape 256"/>
        <p:cNvGrpSpPr/>
        <p:nvPr/>
      </p:nvGrpSpPr>
      <p:grpSpPr>
        <a:xfrm>
          <a:off x="0" y="0"/>
          <a:ext cx="0" cy="0"/>
          <a:chOff x="0" y="0"/>
          <a:chExt cx="0" cy="0"/>
        </a:xfrm>
      </p:grpSpPr>
      <p:sp>
        <p:nvSpPr>
          <p:cNvPr id="257" name="Google Shape;257;p12"/>
          <p:cNvSpPr txBox="1"/>
          <p:nvPr>
            <p:ph type="ctrTitle"/>
          </p:nvPr>
        </p:nvSpPr>
        <p:spPr>
          <a:xfrm>
            <a:off x="4863675" y="3098975"/>
            <a:ext cx="4281900" cy="838200"/>
          </a:xfrm>
          <a:prstGeom prst="rect">
            <a:avLst/>
          </a:prstGeom>
          <a:noFill/>
          <a:ln>
            <a:noFill/>
          </a:ln>
        </p:spPr>
        <p:txBody>
          <a:bodyPr anchorCtr="0" anchor="b" bIns="91450" lIns="91450" spcFirstLastPara="1" rIns="91450" wrap="square" tIns="91450">
            <a:normAutofit/>
          </a:bodyPr>
          <a:lstStyle/>
          <a:p>
            <a:pPr indent="0" lvl="0" marL="0" rtl="0" algn="l">
              <a:lnSpc>
                <a:spcPct val="85000"/>
              </a:lnSpc>
              <a:spcBef>
                <a:spcPts val="0"/>
              </a:spcBef>
              <a:spcAft>
                <a:spcPts val="0"/>
              </a:spcAft>
              <a:buSzPts val="5778"/>
              <a:buNone/>
            </a:pPr>
            <a:r>
              <a:rPr b="1" lang="en-US" sz="4800">
                <a:latin typeface="Plus Jakarta Sans"/>
                <a:ea typeface="Plus Jakarta Sans"/>
                <a:cs typeface="Plus Jakarta Sans"/>
                <a:sym typeface="Plus Jakarta Sans"/>
              </a:rPr>
              <a:t>Pertanyaan?</a:t>
            </a:r>
            <a:endParaRPr b="1" sz="4800">
              <a:latin typeface="Plus Jakarta Sans"/>
              <a:ea typeface="Plus Jakarta Sans"/>
              <a:cs typeface="Plus Jakarta Sans"/>
              <a:sym typeface="Plus Jakarta Sans"/>
            </a:endParaRPr>
          </a:p>
        </p:txBody>
      </p:sp>
      <p:grpSp>
        <p:nvGrpSpPr>
          <p:cNvPr id="258" name="Google Shape;258;p12"/>
          <p:cNvGrpSpPr/>
          <p:nvPr/>
        </p:nvGrpSpPr>
        <p:grpSpPr>
          <a:xfrm>
            <a:off x="161" y="-214211"/>
            <a:ext cx="2765532" cy="2691752"/>
            <a:chOff x="9584423" y="-302695"/>
            <a:chExt cx="4822201" cy="4822201"/>
          </a:xfrm>
        </p:grpSpPr>
        <p:sp>
          <p:nvSpPr>
            <p:cNvPr id="259" name="Google Shape;259;p12"/>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60" name="Google Shape;260;p12"/>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61" name="Google Shape;261;p12"/>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62" name="Google Shape;262;p12"/>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263" name="Google Shape;263;p12"/>
          <p:cNvGrpSpPr/>
          <p:nvPr/>
        </p:nvGrpSpPr>
        <p:grpSpPr>
          <a:xfrm>
            <a:off x="-840830" y="1116257"/>
            <a:ext cx="5795400" cy="5795400"/>
            <a:chOff x="4094945" y="667082"/>
            <a:chExt cx="5795400" cy="5795400"/>
          </a:xfrm>
        </p:grpSpPr>
        <p:sp>
          <p:nvSpPr>
            <p:cNvPr id="264" name="Google Shape;264;p12"/>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65" name="Google Shape;265;p12"/>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66" name="Google Shape;266;p12"/>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67" name="Google Shape;267;p12"/>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268" name="Google Shape;268;p12"/>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272" name="Shape 272"/>
        <p:cNvGrpSpPr/>
        <p:nvPr/>
      </p:nvGrpSpPr>
      <p:grpSpPr>
        <a:xfrm>
          <a:off x="0" y="0"/>
          <a:ext cx="0" cy="0"/>
          <a:chOff x="0" y="0"/>
          <a:chExt cx="0" cy="0"/>
        </a:xfrm>
      </p:grpSpPr>
      <p:sp>
        <p:nvSpPr>
          <p:cNvPr id="273" name="Google Shape;273;p13"/>
          <p:cNvSpPr txBox="1"/>
          <p:nvPr>
            <p:ph type="ctrTitle"/>
          </p:nvPr>
        </p:nvSpPr>
        <p:spPr>
          <a:xfrm>
            <a:off x="336100" y="2352200"/>
            <a:ext cx="84750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990"/>
              <a:buNone/>
            </a:pPr>
            <a:r>
              <a:rPr b="1" lang="en-US" sz="3420">
                <a:solidFill>
                  <a:schemeClr val="lt1"/>
                </a:solidFill>
                <a:latin typeface="Plus Jakarta Sans"/>
                <a:ea typeface="Plus Jakarta Sans"/>
                <a:cs typeface="Plus Jakarta Sans"/>
                <a:sym typeface="Plus Jakarta Sans"/>
              </a:rPr>
              <a:t>It’s Kahoot Time..</a:t>
            </a:r>
            <a:endParaRPr b="1" sz="3420">
              <a:solidFill>
                <a:schemeClr val="lt1"/>
              </a:solidFill>
              <a:latin typeface="Plus Jakarta Sans"/>
              <a:ea typeface="Plus Jakarta Sans"/>
              <a:cs typeface="Plus Jakarta Sans"/>
              <a:sym typeface="Plus Jakarta Sans"/>
            </a:endParaRPr>
          </a:p>
        </p:txBody>
      </p:sp>
      <p:pic>
        <p:nvPicPr>
          <p:cNvPr id="274" name="Google Shape;274;p13"/>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78" name="Shape 278"/>
        <p:cNvGrpSpPr/>
        <p:nvPr/>
      </p:nvGrpSpPr>
      <p:grpSpPr>
        <a:xfrm>
          <a:off x="0" y="0"/>
          <a:ext cx="0" cy="0"/>
          <a:chOff x="0" y="0"/>
          <a:chExt cx="0" cy="0"/>
        </a:xfrm>
      </p:grpSpPr>
      <p:sp>
        <p:nvSpPr>
          <p:cNvPr id="279" name="Google Shape;279;p14"/>
          <p:cNvSpPr/>
          <p:nvPr/>
        </p:nvSpPr>
        <p:spPr>
          <a:xfrm rot="-1974178">
            <a:off x="5877363" y="793656"/>
            <a:ext cx="1120545" cy="1120545"/>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0" name="Google Shape;280;p14"/>
          <p:cNvSpPr/>
          <p:nvPr/>
        </p:nvSpPr>
        <p:spPr>
          <a:xfrm rot="-4242470">
            <a:off x="6617651" y="1042306"/>
            <a:ext cx="2301858" cy="2301858"/>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81" name="Google Shape;281;p14"/>
          <p:cNvSpPr/>
          <p:nvPr/>
        </p:nvSpPr>
        <p:spPr>
          <a:xfrm rot="-3576382">
            <a:off x="5139692" y="2219688"/>
            <a:ext cx="3914117" cy="3914117"/>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282" name="Google Shape;282;p14"/>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83" name="Google Shape;283;p14"/>
          <p:cNvSpPr txBox="1"/>
          <p:nvPr>
            <p:ph type="ctrTitle"/>
          </p:nvPr>
        </p:nvSpPr>
        <p:spPr>
          <a:xfrm>
            <a:off x="520875" y="3237526"/>
            <a:ext cx="56052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1800"/>
              <a:buNone/>
            </a:pPr>
            <a:r>
              <a:rPr b="1" lang="en-US" sz="4800">
                <a:solidFill>
                  <a:srgbClr val="000000"/>
                </a:solidFill>
                <a:latin typeface="Plus Jakarta Sans"/>
                <a:ea typeface="Plus Jakarta Sans"/>
                <a:cs typeface="Plus Jakarta Sans"/>
                <a:sym typeface="Plus Jakarta Sans"/>
              </a:rPr>
              <a:t>Pengantar Machine Learning</a:t>
            </a:r>
            <a:endParaRPr b="1" sz="4800">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87" name="Shape 287"/>
        <p:cNvGrpSpPr/>
        <p:nvPr/>
      </p:nvGrpSpPr>
      <p:grpSpPr>
        <a:xfrm>
          <a:off x="0" y="0"/>
          <a:ext cx="0" cy="0"/>
          <a:chOff x="0" y="0"/>
          <a:chExt cx="0" cy="0"/>
        </a:xfrm>
      </p:grpSpPr>
      <p:sp>
        <p:nvSpPr>
          <p:cNvPr id="288" name="Google Shape;288;p15"/>
          <p:cNvSpPr txBox="1"/>
          <p:nvPr/>
        </p:nvSpPr>
        <p:spPr>
          <a:xfrm>
            <a:off x="1962488" y="4248350"/>
            <a:ext cx="5220600" cy="510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Bagaimana kita bisa membuat komputer memprediksi dan menemukan pola dari data secara otomatis, tanpa harus menulis setiap aturan satu per satu?</a:t>
            </a:r>
            <a:endParaRPr b="1" i="0" sz="1400" u="none" cap="none" strike="noStrike">
              <a:solidFill>
                <a:schemeClr val="dk2"/>
              </a:solidFill>
              <a:latin typeface="Arial"/>
              <a:ea typeface="Arial"/>
              <a:cs typeface="Arial"/>
              <a:sym typeface="Arial"/>
            </a:endParaRPr>
          </a:p>
        </p:txBody>
      </p:sp>
      <p:sp>
        <p:nvSpPr>
          <p:cNvPr id="289" name="Google Shape;289;p15"/>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Masalah</a:t>
            </a:r>
            <a:endParaRPr b="1" i="0" sz="3600" u="none" cap="none" strike="noStrike">
              <a:solidFill>
                <a:srgbClr val="48A8C4"/>
              </a:solidFill>
              <a:latin typeface="Plus Jakarta Sans"/>
              <a:ea typeface="Plus Jakarta Sans"/>
              <a:cs typeface="Plus Jakarta Sans"/>
              <a:sym typeface="Plus Jakarta Sans"/>
            </a:endParaRPr>
          </a:p>
        </p:txBody>
      </p:sp>
      <p:pic>
        <p:nvPicPr>
          <p:cNvPr id="290" name="Google Shape;290;p1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pic>
        <p:nvPicPr>
          <p:cNvPr id="291" name="Google Shape;291;p15" title="Ilustrasi digital bergaya flat design, menampilkan seorang pemilik coffee shop duduk di meja kasir dengan wajah bingung. Di meja terdapat tumpukan struk transaksi, grafik penjualan di layar laptop, dan jendela menunjukkan hujan deras di lua.jpg"/>
          <p:cNvPicPr preferRelativeResize="0"/>
          <p:nvPr/>
        </p:nvPicPr>
        <p:blipFill rotWithShape="1">
          <a:blip r:embed="rId4">
            <a:alphaModFix/>
          </a:blip>
          <a:srcRect b="0" l="0" r="0" t="0"/>
          <a:stretch/>
        </p:blipFill>
        <p:spPr>
          <a:xfrm>
            <a:off x="1215036" y="1121745"/>
            <a:ext cx="3057905" cy="3057905"/>
          </a:xfrm>
          <a:prstGeom prst="rect">
            <a:avLst/>
          </a:prstGeom>
          <a:noFill/>
          <a:ln>
            <a:noFill/>
          </a:ln>
        </p:spPr>
      </p:pic>
      <p:pic>
        <p:nvPicPr>
          <p:cNvPr id="292" name="Google Shape;292;p15" title="Ilustrasi digital bergaya flat design yang melanjutkan adegan pertama di coffee shop yang sama. Pemilik kini menatap ratusan struk yang bertebaran di meja, berusaha mencari pola produk yang sering dibeli bersamaan dengan Kopi Latte. Wajahny.jpg"/>
          <p:cNvPicPr preferRelativeResize="0"/>
          <p:nvPr/>
        </p:nvPicPr>
        <p:blipFill rotWithShape="1">
          <a:blip r:embed="rId5">
            <a:alphaModFix/>
          </a:blip>
          <a:srcRect b="0" l="0" r="0" t="0"/>
          <a:stretch/>
        </p:blipFill>
        <p:spPr>
          <a:xfrm>
            <a:off x="4872636" y="1121745"/>
            <a:ext cx="3057905" cy="305790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296" name="Shape 296"/>
        <p:cNvGrpSpPr/>
        <p:nvPr/>
      </p:nvGrpSpPr>
      <p:grpSpPr>
        <a:xfrm>
          <a:off x="0" y="0"/>
          <a:ext cx="0" cy="0"/>
          <a:chOff x="0" y="0"/>
          <a:chExt cx="0" cy="0"/>
        </a:xfrm>
      </p:grpSpPr>
      <p:sp>
        <p:nvSpPr>
          <p:cNvPr id="297" name="Google Shape;297;p16"/>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Solusi</a:t>
            </a:r>
            <a:endParaRPr b="1" i="0" sz="3600" u="none" cap="none" strike="noStrike">
              <a:solidFill>
                <a:srgbClr val="48A8C4"/>
              </a:solidFill>
              <a:latin typeface="Plus Jakarta Sans"/>
              <a:ea typeface="Plus Jakarta Sans"/>
              <a:cs typeface="Plus Jakarta Sans"/>
              <a:sym typeface="Plus Jakarta Sans"/>
            </a:endParaRPr>
          </a:p>
        </p:txBody>
      </p:sp>
      <p:pic>
        <p:nvPicPr>
          <p:cNvPr id="298" name="Google Shape;298;p16"/>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299" name="Google Shape;299;p16"/>
          <p:cNvSpPr txBox="1"/>
          <p:nvPr/>
        </p:nvSpPr>
        <p:spPr>
          <a:xfrm>
            <a:off x="457200" y="1121750"/>
            <a:ext cx="5661000" cy="3739200"/>
          </a:xfrm>
          <a:prstGeom prst="rect">
            <a:avLst/>
          </a:prstGeom>
          <a:noFill/>
          <a:ln>
            <a:noFill/>
          </a:ln>
        </p:spPr>
        <p:txBody>
          <a:bodyPr anchorCtr="0" anchor="t" bIns="0" lIns="0" spcFirstLastPara="1" rIns="0" wrap="square" tIns="13950">
            <a:spAutoFit/>
          </a:bodyPr>
          <a:lstStyle/>
          <a:p>
            <a:pPr indent="0" lvl="0" marL="0" marR="0" rtl="0" algn="ctr">
              <a:lnSpc>
                <a:spcPct val="150000"/>
              </a:lnSpc>
              <a:spcBef>
                <a:spcPts val="0"/>
              </a:spcBef>
              <a:spcAft>
                <a:spcPts val="0"/>
              </a:spcAft>
              <a:buClr>
                <a:srgbClr val="000000"/>
              </a:buClr>
              <a:buSzPts val="1400"/>
              <a:buFont typeface="Arial"/>
              <a:buNone/>
            </a:pPr>
            <a:r>
              <a:rPr b="1" i="0" lang="en-US" sz="1100" u="none" cap="none" strike="noStrike">
                <a:solidFill>
                  <a:schemeClr val="dk2"/>
                </a:solidFill>
                <a:latin typeface="Arial"/>
                <a:ea typeface="Arial"/>
                <a:cs typeface="Arial"/>
                <a:sym typeface="Arial"/>
              </a:rPr>
              <a:t>Machine Learning (ML)</a:t>
            </a:r>
            <a:endParaRPr b="1" i="0" sz="1100" u="none" cap="none" strike="noStrike">
              <a:solidFill>
                <a:schemeClr val="dk2"/>
              </a:solidFill>
              <a:latin typeface="Arial"/>
              <a:ea typeface="Arial"/>
              <a:cs typeface="Arial"/>
              <a:sym typeface="Arial"/>
            </a:endParaRPr>
          </a:p>
          <a:p>
            <a:pPr indent="0" lvl="0" marL="0" marR="0" rtl="0" algn="ctr">
              <a:lnSpc>
                <a:spcPct val="150000"/>
              </a:lnSpc>
              <a:spcBef>
                <a:spcPts val="0"/>
              </a:spcBef>
              <a:spcAft>
                <a:spcPts val="0"/>
              </a:spcAft>
              <a:buClr>
                <a:srgbClr val="000000"/>
              </a:buClr>
              <a:buSzPts val="1400"/>
              <a:buFont typeface="Arial"/>
              <a:buNone/>
            </a:pPr>
            <a:r>
              <a:t/>
            </a:r>
            <a:endParaRPr b="1" i="0" sz="11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0" i="0" lang="en-US" sz="1100" u="none" cap="none" strike="noStrike">
                <a:solidFill>
                  <a:schemeClr val="dk2"/>
                </a:solidFill>
                <a:latin typeface="Arial"/>
                <a:ea typeface="Arial"/>
                <a:cs typeface="Arial"/>
                <a:sym typeface="Arial"/>
              </a:rPr>
              <a:t>"Mesin" yang bisa </a:t>
            </a:r>
            <a:r>
              <a:rPr b="1" i="0" lang="en-US" sz="1100" u="none" cap="none" strike="noStrike">
                <a:solidFill>
                  <a:schemeClr val="dk2"/>
                </a:solidFill>
                <a:latin typeface="Arial"/>
                <a:ea typeface="Arial"/>
                <a:cs typeface="Arial"/>
                <a:sym typeface="Arial"/>
              </a:rPr>
              <a:t>belajar</a:t>
            </a:r>
            <a:r>
              <a:rPr b="0" i="0" lang="en-US" sz="1100" u="none" cap="none" strike="noStrike">
                <a:solidFill>
                  <a:schemeClr val="dk2"/>
                </a:solidFill>
                <a:latin typeface="Arial"/>
                <a:ea typeface="Arial"/>
                <a:cs typeface="Arial"/>
                <a:sym typeface="Arial"/>
              </a:rPr>
              <a:t> dari </a:t>
            </a:r>
            <a:r>
              <a:rPr b="1" i="0" lang="en-US" sz="1100" u="none" cap="none" strike="noStrike">
                <a:solidFill>
                  <a:schemeClr val="dk2"/>
                </a:solidFill>
                <a:latin typeface="Arial"/>
                <a:ea typeface="Arial"/>
                <a:cs typeface="Arial"/>
                <a:sym typeface="Arial"/>
              </a:rPr>
              <a:t>data historis</a:t>
            </a:r>
            <a:r>
              <a:rPr b="0" i="0" lang="en-US" sz="1100" u="none" cap="none" strike="noStrike">
                <a:solidFill>
                  <a:schemeClr val="dk2"/>
                </a:solidFill>
                <a:latin typeface="Arial"/>
                <a:ea typeface="Arial"/>
                <a:cs typeface="Arial"/>
                <a:sym typeface="Arial"/>
              </a:rPr>
              <a:t> untuk </a:t>
            </a:r>
            <a:r>
              <a:rPr b="1" i="0" lang="en-US" sz="1100" u="none" cap="none" strike="noStrike">
                <a:solidFill>
                  <a:schemeClr val="dk2"/>
                </a:solidFill>
                <a:latin typeface="Arial"/>
                <a:ea typeface="Arial"/>
                <a:cs typeface="Arial"/>
                <a:sym typeface="Arial"/>
              </a:rPr>
              <a:t>menemukan pola</a:t>
            </a:r>
            <a:r>
              <a:rPr b="0" i="0" lang="en-US" sz="1100" u="none" cap="none" strike="noStrike">
                <a:solidFill>
                  <a:schemeClr val="dk2"/>
                </a:solidFill>
                <a:latin typeface="Arial"/>
                <a:ea typeface="Arial"/>
                <a:cs typeface="Arial"/>
                <a:sym typeface="Arial"/>
              </a:rPr>
              <a:t>-pola yang rumit, dan </a:t>
            </a:r>
            <a:r>
              <a:rPr b="1" i="0" lang="en-US" sz="1100" u="none" cap="none" strike="noStrike">
                <a:solidFill>
                  <a:schemeClr val="dk2"/>
                </a:solidFill>
                <a:latin typeface="Arial"/>
                <a:ea typeface="Arial"/>
                <a:cs typeface="Arial"/>
                <a:sym typeface="Arial"/>
              </a:rPr>
              <a:t>membuat prediksi atau keputusan</a:t>
            </a:r>
            <a:r>
              <a:rPr b="0" i="0" lang="en-US" sz="1100" u="none" cap="none" strike="noStrike">
                <a:solidFill>
                  <a:schemeClr val="dk2"/>
                </a:solidFill>
                <a:latin typeface="Arial"/>
                <a:ea typeface="Arial"/>
                <a:cs typeface="Arial"/>
                <a:sym typeface="Arial"/>
              </a:rPr>
              <a:t> tanpa perlu diprogram secara eksplisit.</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rPr b="0" i="0" lang="en-US" sz="1100" u="none" cap="none" strike="noStrike">
                <a:solidFill>
                  <a:schemeClr val="dk2"/>
                </a:solidFill>
                <a:latin typeface="Arial"/>
                <a:ea typeface="Arial"/>
                <a:cs typeface="Arial"/>
                <a:sym typeface="Arial"/>
              </a:rPr>
              <a:t>Kita bisa:</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0"/>
              </a:spcBef>
              <a:spcAft>
                <a:spcPts val="0"/>
              </a:spcAft>
              <a:buClr>
                <a:schemeClr val="dk2"/>
              </a:buClr>
              <a:buSzPts val="1100"/>
              <a:buFont typeface="Arial"/>
              <a:buChar char="-"/>
            </a:pPr>
            <a:r>
              <a:rPr b="1" i="0" lang="en-US" sz="1100" u="none" cap="none" strike="noStrike">
                <a:solidFill>
                  <a:schemeClr val="dk2"/>
                </a:solidFill>
                <a:latin typeface="Arial"/>
                <a:ea typeface="Arial"/>
                <a:cs typeface="Arial"/>
                <a:sym typeface="Arial"/>
              </a:rPr>
              <a:t>Mendeteksi Pola Kompleks</a:t>
            </a:r>
            <a:br>
              <a:rPr b="0" i="0" lang="en-US" sz="1100" u="none" cap="none" strike="noStrike">
                <a:solidFill>
                  <a:schemeClr val="dk2"/>
                </a:solidFill>
                <a:latin typeface="Arial"/>
                <a:ea typeface="Arial"/>
                <a:cs typeface="Arial"/>
                <a:sym typeface="Arial"/>
              </a:rPr>
            </a:br>
            <a:r>
              <a:rPr b="0" i="0" lang="en-US" sz="1100" u="none" cap="none" strike="noStrike">
                <a:solidFill>
                  <a:schemeClr val="dk2"/>
                </a:solidFill>
                <a:latin typeface="Arial"/>
                <a:ea typeface="Arial"/>
                <a:cs typeface="Arial"/>
                <a:sym typeface="Arial"/>
              </a:rPr>
              <a:t>Bisa menemukan hubungan yang sangat kompleks antara ratusan variabel.</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0"/>
              </a:spcBef>
              <a:spcAft>
                <a:spcPts val="0"/>
              </a:spcAft>
              <a:buClr>
                <a:schemeClr val="dk2"/>
              </a:buClr>
              <a:buSzPts val="1100"/>
              <a:buFont typeface="Arial"/>
              <a:buChar char="-"/>
            </a:pPr>
            <a:r>
              <a:rPr b="1" i="0" lang="en-US" sz="1100" u="none" cap="none" strike="noStrike">
                <a:solidFill>
                  <a:schemeClr val="dk2"/>
                </a:solidFill>
                <a:latin typeface="Arial"/>
                <a:ea typeface="Arial"/>
                <a:cs typeface="Arial"/>
                <a:sym typeface="Arial"/>
              </a:rPr>
              <a:t>Membuat Prediksi Otomatis</a:t>
            </a:r>
            <a:br>
              <a:rPr b="0" i="0" lang="en-US" sz="1100" u="none" cap="none" strike="noStrike">
                <a:solidFill>
                  <a:schemeClr val="dk2"/>
                </a:solidFill>
                <a:latin typeface="Arial"/>
                <a:ea typeface="Arial"/>
                <a:cs typeface="Arial"/>
                <a:sym typeface="Arial"/>
              </a:rPr>
            </a:br>
            <a:r>
              <a:rPr b="0" i="0" lang="en-US" sz="1100" u="none" cap="none" strike="noStrike">
                <a:solidFill>
                  <a:schemeClr val="dk2"/>
                </a:solidFill>
                <a:latin typeface="Arial"/>
                <a:ea typeface="Arial"/>
                <a:cs typeface="Arial"/>
                <a:sym typeface="Arial"/>
              </a:rPr>
              <a:t>Model yang secara otomatis memprediksi probabilitas seorang nasabah akan gagal bayar.</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400"/>
              <a:buFont typeface="Arial"/>
              <a:buNone/>
            </a:pPr>
            <a:r>
              <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0"/>
              </a:spcBef>
              <a:spcAft>
                <a:spcPts val="0"/>
              </a:spcAft>
              <a:buClr>
                <a:schemeClr val="dk2"/>
              </a:buClr>
              <a:buSzPts val="1100"/>
              <a:buFont typeface="Arial"/>
              <a:buChar char="-"/>
            </a:pPr>
            <a:r>
              <a:rPr b="1" i="0" lang="en-US" sz="1100" u="none" cap="none" strike="noStrike">
                <a:solidFill>
                  <a:schemeClr val="dk2"/>
                </a:solidFill>
                <a:latin typeface="Arial"/>
                <a:ea typeface="Arial"/>
                <a:cs typeface="Arial"/>
                <a:sym typeface="Arial"/>
              </a:rPr>
              <a:t>Mengurangi Human Error</a:t>
            </a:r>
            <a:endParaRPr b="0" i="0" sz="1100" u="none" cap="none" strike="noStrike">
              <a:solidFill>
                <a:schemeClr val="dk2"/>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100"/>
              <a:buFont typeface="Arial"/>
              <a:buNone/>
            </a:pPr>
            <a:r>
              <a:rPr b="0" i="0" lang="en-US" sz="1100" u="none" cap="none" strike="noStrike">
                <a:solidFill>
                  <a:schemeClr val="dk2"/>
                </a:solidFill>
                <a:latin typeface="Arial"/>
                <a:ea typeface="Arial"/>
                <a:cs typeface="Arial"/>
                <a:sym typeface="Arial"/>
              </a:rPr>
              <a:t>Keputusan yang dihasilkan oleh model ML lebih konsisten dan objektif.</a:t>
            </a:r>
            <a:endParaRPr b="0" i="0" sz="1100" u="none" cap="none" strike="noStrike">
              <a:solidFill>
                <a:schemeClr val="dk2"/>
              </a:solidFill>
              <a:latin typeface="Arial"/>
              <a:ea typeface="Arial"/>
              <a:cs typeface="Arial"/>
              <a:sym typeface="Arial"/>
            </a:endParaRPr>
          </a:p>
        </p:txBody>
      </p:sp>
      <p:sp>
        <p:nvSpPr>
          <p:cNvPr id="300" name="Google Shape;300;p16"/>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04" name="Shape 304"/>
        <p:cNvGrpSpPr/>
        <p:nvPr/>
      </p:nvGrpSpPr>
      <p:grpSpPr>
        <a:xfrm>
          <a:off x="0" y="0"/>
          <a:ext cx="0" cy="0"/>
          <a:chOff x="0" y="0"/>
          <a:chExt cx="0" cy="0"/>
        </a:xfrm>
      </p:grpSpPr>
      <p:sp>
        <p:nvSpPr>
          <p:cNvPr id="305" name="Google Shape;305;p17"/>
          <p:cNvSpPr txBox="1"/>
          <p:nvPr/>
        </p:nvSpPr>
        <p:spPr>
          <a:xfrm>
            <a:off x="457200" y="1121750"/>
            <a:ext cx="5661000" cy="3746700"/>
          </a:xfrm>
          <a:prstGeom prst="rect">
            <a:avLst/>
          </a:prstGeom>
          <a:noFill/>
          <a:ln>
            <a:noFill/>
          </a:ln>
        </p:spPr>
        <p:txBody>
          <a:bodyPr anchorCtr="0" anchor="t" bIns="0" lIns="0" spcFirstLastPara="1" rIns="0" wrap="square" tIns="13950">
            <a:spAutoFit/>
          </a:bodyPr>
          <a:lstStyle/>
          <a:p>
            <a:pPr indent="0" lvl="0" marL="0" marR="0" rtl="0" algn="l">
              <a:lnSpc>
                <a:spcPct val="150000"/>
              </a:lnSpc>
              <a:spcBef>
                <a:spcPts val="1200"/>
              </a:spcBef>
              <a:spcAft>
                <a:spcPts val="0"/>
              </a:spcAft>
              <a:buClr>
                <a:schemeClr val="dk1"/>
              </a:buClr>
              <a:buSzPts val="1100"/>
              <a:buFont typeface="Arial"/>
              <a:buNone/>
            </a:pPr>
            <a:r>
              <a:rPr b="1" i="0" lang="en-US" sz="1100" u="none" cap="none" strike="noStrike">
                <a:solidFill>
                  <a:schemeClr val="dk2"/>
                </a:solidFill>
                <a:latin typeface="Arial"/>
                <a:ea typeface="Arial"/>
                <a:cs typeface="Arial"/>
                <a:sym typeface="Arial"/>
              </a:rPr>
              <a:t>Traditional Programming</a:t>
            </a:r>
            <a:endParaRPr b="1"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chemeClr val="dk1"/>
              </a:buClr>
              <a:buSzPts val="1100"/>
              <a:buFont typeface="Arial"/>
              <a:buNone/>
            </a:pPr>
            <a:r>
              <a:rPr b="0" i="0" lang="en-US" sz="1100" u="none" cap="none" strike="noStrike">
                <a:solidFill>
                  <a:schemeClr val="dk2"/>
                </a:solidFill>
                <a:latin typeface="Arial"/>
                <a:ea typeface="Arial"/>
                <a:cs typeface="Arial"/>
                <a:sym typeface="Arial"/>
              </a:rPr>
              <a:t>Dalam pemrograman tradisional, seorang </a:t>
            </a:r>
            <a:r>
              <a:rPr b="0" i="1" lang="en-US" sz="1100" u="none" cap="none" strike="noStrike">
                <a:solidFill>
                  <a:schemeClr val="dk2"/>
                </a:solidFill>
                <a:latin typeface="Arial"/>
                <a:ea typeface="Arial"/>
                <a:cs typeface="Arial"/>
                <a:sym typeface="Arial"/>
              </a:rPr>
              <a:t>developer</a:t>
            </a:r>
            <a:r>
              <a:rPr b="0" i="0" lang="en-US" sz="1100" u="none" cap="none" strike="noStrike">
                <a:solidFill>
                  <a:schemeClr val="dk2"/>
                </a:solidFill>
                <a:latin typeface="Arial"/>
                <a:ea typeface="Arial"/>
                <a:cs typeface="Arial"/>
                <a:sym typeface="Arial"/>
              </a:rPr>
              <a:t> harus menulis setiap aturan secara eksplisit.</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1200"/>
              </a:spcBef>
              <a:spcAft>
                <a:spcPts val="0"/>
              </a:spcAft>
              <a:buClr>
                <a:schemeClr val="dk2"/>
              </a:buClr>
              <a:buSzPts val="1100"/>
              <a:buFont typeface="Arial"/>
              <a:buChar char="●"/>
            </a:pPr>
            <a:r>
              <a:rPr b="1" i="0" lang="en-US" sz="1100" u="none" cap="none" strike="noStrike">
                <a:solidFill>
                  <a:schemeClr val="dk2"/>
                </a:solidFill>
                <a:latin typeface="Arial"/>
                <a:ea typeface="Arial"/>
                <a:cs typeface="Arial"/>
                <a:sym typeface="Arial"/>
              </a:rPr>
              <a:t>Input:</a:t>
            </a:r>
            <a:r>
              <a:rPr b="0" i="0" lang="en-US" sz="1100" u="none" cap="none" strike="noStrike">
                <a:solidFill>
                  <a:schemeClr val="dk2"/>
                </a:solidFill>
                <a:latin typeface="Arial"/>
                <a:ea typeface="Arial"/>
                <a:cs typeface="Arial"/>
                <a:sym typeface="Arial"/>
              </a:rPr>
              <a:t> Data transaksi.</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0"/>
              </a:spcBef>
              <a:spcAft>
                <a:spcPts val="0"/>
              </a:spcAft>
              <a:buClr>
                <a:schemeClr val="dk2"/>
              </a:buClr>
              <a:buSzPts val="1100"/>
              <a:buFont typeface="Arial"/>
              <a:buChar char="●"/>
            </a:pPr>
            <a:r>
              <a:rPr b="1" i="0" lang="en-US" sz="1100" u="none" cap="none" strike="noStrike">
                <a:solidFill>
                  <a:schemeClr val="dk2"/>
                </a:solidFill>
                <a:latin typeface="Arial"/>
                <a:ea typeface="Arial"/>
                <a:cs typeface="Arial"/>
                <a:sym typeface="Arial"/>
              </a:rPr>
              <a:t>Program:</a:t>
            </a:r>
            <a:r>
              <a:rPr b="0" i="0" lang="en-US" sz="1100" u="none" cap="none" strike="noStrike">
                <a:solidFill>
                  <a:schemeClr val="dk2"/>
                </a:solidFill>
                <a:latin typeface="Arial"/>
                <a:ea typeface="Arial"/>
                <a:cs typeface="Arial"/>
                <a:sym typeface="Arial"/>
              </a:rPr>
              <a:t> Aturan yang ditulis oleh manusia.</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0"/>
              </a:spcBef>
              <a:spcAft>
                <a:spcPts val="0"/>
              </a:spcAft>
              <a:buClr>
                <a:schemeClr val="dk2"/>
              </a:buClr>
              <a:buSzPts val="1100"/>
              <a:buFont typeface="Arial"/>
              <a:buChar char="●"/>
            </a:pPr>
            <a:r>
              <a:rPr b="1" i="0" lang="en-US" sz="1100" u="none" cap="none" strike="noStrike">
                <a:solidFill>
                  <a:schemeClr val="dk2"/>
                </a:solidFill>
                <a:latin typeface="Arial"/>
                <a:ea typeface="Arial"/>
                <a:cs typeface="Arial"/>
                <a:sym typeface="Arial"/>
              </a:rPr>
              <a:t>Output:</a:t>
            </a:r>
            <a:r>
              <a:rPr b="0" i="0" lang="en-US" sz="1100" u="none" cap="none" strike="noStrike">
                <a:solidFill>
                  <a:schemeClr val="dk2"/>
                </a:solidFill>
                <a:latin typeface="Arial"/>
                <a:ea typeface="Arial"/>
                <a:cs typeface="Arial"/>
                <a:sym typeface="Arial"/>
              </a:rPr>
              <a:t> Rekomendasi.</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chemeClr val="dk1"/>
              </a:buClr>
              <a:buSzPts val="1100"/>
              <a:buFont typeface="Arial"/>
              <a:buNone/>
            </a:pPr>
            <a:r>
              <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chemeClr val="dk1"/>
              </a:buClr>
              <a:buSzPts val="1100"/>
              <a:buFont typeface="Arial"/>
              <a:buNone/>
            </a:pPr>
            <a:r>
              <a:rPr b="1" i="0" lang="en-US" sz="1100" u="none" cap="none" strike="noStrike">
                <a:solidFill>
                  <a:schemeClr val="dk2"/>
                </a:solidFill>
                <a:latin typeface="Arial"/>
                <a:ea typeface="Arial"/>
                <a:cs typeface="Arial"/>
                <a:sym typeface="Arial"/>
              </a:rPr>
              <a:t>Keterbatasan:</a:t>
            </a:r>
            <a:r>
              <a:rPr b="0" i="0" lang="en-US" sz="1100" u="none" cap="none" strike="noStrike">
                <a:solidFill>
                  <a:schemeClr val="dk2"/>
                </a:solidFill>
                <a:latin typeface="Arial"/>
                <a:ea typeface="Arial"/>
                <a:cs typeface="Arial"/>
                <a:sym typeface="Arial"/>
              </a:rPr>
              <a:t> Aturan ini sangat kaku dan tidak bisa beradaptasi. Jika ada produk baru atau preferensi pelanggan berubah, Anda harus mengubah kode secara manual. Program ini hanya bisa merekomendasikan apa yang sudah Anda ketahui dan masukkan ke dalam kode.</a:t>
            </a:r>
            <a:endParaRPr b="0" i="0" sz="1100" u="none" cap="none" strike="noStrike">
              <a:solidFill>
                <a:schemeClr val="dk2"/>
              </a:solidFill>
              <a:latin typeface="Arial"/>
              <a:ea typeface="Arial"/>
              <a:cs typeface="Arial"/>
              <a:sym typeface="Arial"/>
            </a:endParaRPr>
          </a:p>
          <a:p>
            <a:pPr indent="0" lvl="0" marL="457200" marR="0" rtl="0" algn="l">
              <a:lnSpc>
                <a:spcPct val="150000"/>
              </a:lnSpc>
              <a:spcBef>
                <a:spcPts val="1200"/>
              </a:spcBef>
              <a:spcAft>
                <a:spcPts val="1200"/>
              </a:spcAft>
              <a:buClr>
                <a:srgbClr val="000000"/>
              </a:buClr>
              <a:buSzPts val="1100"/>
              <a:buFont typeface="Arial"/>
              <a:buNone/>
            </a:pPr>
            <a:r>
              <a:t/>
            </a:r>
            <a:endParaRPr b="1" i="0" sz="1100" u="none" cap="none" strike="noStrike">
              <a:solidFill>
                <a:schemeClr val="dk2"/>
              </a:solidFill>
              <a:latin typeface="Arial"/>
              <a:ea typeface="Arial"/>
              <a:cs typeface="Arial"/>
              <a:sym typeface="Arial"/>
            </a:endParaRPr>
          </a:p>
        </p:txBody>
      </p:sp>
      <p:sp>
        <p:nvSpPr>
          <p:cNvPr id="306" name="Google Shape;306;p17"/>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2400" u="none" cap="none" strike="noStrike">
                <a:solidFill>
                  <a:srgbClr val="48A8C4"/>
                </a:solidFill>
                <a:latin typeface="Plus Jakarta Sans"/>
                <a:ea typeface="Plus Jakarta Sans"/>
                <a:cs typeface="Plus Jakarta Sans"/>
                <a:sym typeface="Plus Jakarta Sans"/>
              </a:rPr>
              <a:t>Machine Learning vs. Traditional Programming</a:t>
            </a:r>
            <a:endParaRPr b="1" i="0" sz="2400" u="none" cap="none" strike="noStrike">
              <a:solidFill>
                <a:srgbClr val="48A8C4"/>
              </a:solidFill>
              <a:latin typeface="Plus Jakarta Sans"/>
              <a:ea typeface="Plus Jakarta Sans"/>
              <a:cs typeface="Plus Jakarta Sans"/>
              <a:sym typeface="Plus Jakarta Sans"/>
            </a:endParaRPr>
          </a:p>
        </p:txBody>
      </p:sp>
      <p:pic>
        <p:nvPicPr>
          <p:cNvPr id="307" name="Google Shape;307;p1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08" name="Google Shape;308;p17"/>
          <p:cNvSpPr/>
          <p:nvPr/>
        </p:nvSpPr>
        <p:spPr>
          <a:xfrm>
            <a:off x="6144525" y="11979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09" name="Google Shape;309;p17"/>
          <p:cNvSpPr txBox="1"/>
          <p:nvPr/>
        </p:nvSpPr>
        <p:spPr>
          <a:xfrm>
            <a:off x="6144525" y="1121750"/>
            <a:ext cx="3000000" cy="3309300"/>
          </a:xfrm>
          <a:prstGeom prst="rect">
            <a:avLst/>
          </a:prstGeom>
          <a:solidFill>
            <a:schemeClr val="dk2"/>
          </a:solidFill>
          <a:ln>
            <a:noFill/>
          </a:ln>
        </p:spPr>
        <p:txBody>
          <a:bodyPr anchorCtr="0" anchor="t" bIns="91425" lIns="91425" spcFirstLastPara="1" rIns="91425" wrap="square" tIns="91425">
            <a:spAutoFit/>
          </a:bodyPr>
          <a:lstStyle/>
          <a:p>
            <a:pPr indent="0" lvl="0" marL="0" marR="0" rtl="0" algn="l">
              <a:lnSpc>
                <a:spcPct val="150000"/>
              </a:lnSpc>
              <a:spcBef>
                <a:spcPts val="1200"/>
              </a:spcBef>
              <a:spcAft>
                <a:spcPts val="0"/>
              </a:spcAft>
              <a:buClr>
                <a:srgbClr val="000000"/>
              </a:buClr>
              <a:buSzPts val="1100"/>
              <a:buFont typeface="Arial"/>
              <a:buNone/>
            </a:pPr>
            <a:r>
              <a:rPr b="1" i="0" lang="en-US" sz="1100" u="none" cap="none" strike="noStrike">
                <a:solidFill>
                  <a:schemeClr val="lt2"/>
                </a:solidFill>
                <a:latin typeface="Arial"/>
                <a:ea typeface="Arial"/>
                <a:cs typeface="Arial"/>
                <a:sym typeface="Arial"/>
              </a:rPr>
              <a:t>Contoh Kasus:</a:t>
            </a:r>
            <a:r>
              <a:rPr b="0" i="0" lang="en-US" sz="1100" u="none" cap="none" strike="noStrike">
                <a:solidFill>
                  <a:schemeClr val="lt2"/>
                </a:solidFill>
                <a:latin typeface="Arial"/>
                <a:ea typeface="Arial"/>
                <a:cs typeface="Arial"/>
                <a:sym typeface="Arial"/>
              </a:rPr>
              <a:t> Jika Anda ingin merekomendasikan produk, Anda harus menulis logika seperti ini:</a:t>
            </a:r>
            <a:endParaRPr b="0" i="0" sz="1100" u="none" cap="none" strike="noStrike">
              <a:solidFill>
                <a:schemeClr val="lt2"/>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100"/>
              <a:buFont typeface="Arial"/>
              <a:buNone/>
            </a:pPr>
            <a:r>
              <a:rPr b="0" i="0" lang="en-US" sz="1100" u="none" cap="none" strike="noStrike">
                <a:solidFill>
                  <a:schemeClr val="lt2"/>
                </a:solidFill>
                <a:latin typeface="Arial"/>
                <a:ea typeface="Arial"/>
                <a:cs typeface="Arial"/>
                <a:sym typeface="Arial"/>
              </a:rPr>
              <a:t>IF pelanggan membeli "Kopi Latte":</a:t>
            </a:r>
            <a:endParaRPr b="0" i="0" sz="1100" u="none" cap="none" strike="noStrike">
              <a:solidFill>
                <a:schemeClr val="lt2"/>
              </a:solidFill>
              <a:latin typeface="Arial"/>
              <a:ea typeface="Arial"/>
              <a:cs typeface="Arial"/>
              <a:sym typeface="Arial"/>
            </a:endParaRPr>
          </a:p>
          <a:p>
            <a:pPr indent="457200" lvl="0" marL="0" marR="0" rtl="0" algn="l">
              <a:lnSpc>
                <a:spcPct val="150000"/>
              </a:lnSpc>
              <a:spcBef>
                <a:spcPts val="1200"/>
              </a:spcBef>
              <a:spcAft>
                <a:spcPts val="0"/>
              </a:spcAft>
              <a:buClr>
                <a:srgbClr val="000000"/>
              </a:buClr>
              <a:buSzPts val="1100"/>
              <a:buFont typeface="Arial"/>
              <a:buNone/>
            </a:pPr>
            <a:r>
              <a:rPr b="0" i="0" lang="en-US" sz="1100" u="none" cap="none" strike="noStrike">
                <a:solidFill>
                  <a:schemeClr val="lt2"/>
                </a:solidFill>
                <a:latin typeface="Arial"/>
                <a:ea typeface="Arial"/>
                <a:cs typeface="Arial"/>
                <a:sym typeface="Arial"/>
              </a:rPr>
              <a:t>REKOMENDASIKAN "Donat".</a:t>
            </a:r>
            <a:endParaRPr b="0" i="0" sz="1100" u="none" cap="none" strike="noStrike">
              <a:solidFill>
                <a:schemeClr val="lt2"/>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100"/>
              <a:buFont typeface="Arial"/>
              <a:buNone/>
            </a:pPr>
            <a:r>
              <a:rPr b="0" i="0" lang="en-US" sz="1100" u="none" cap="none" strike="noStrike">
                <a:solidFill>
                  <a:schemeClr val="lt2"/>
                </a:solidFill>
                <a:latin typeface="Arial"/>
                <a:ea typeface="Arial"/>
                <a:cs typeface="Arial"/>
                <a:sym typeface="Arial"/>
              </a:rPr>
              <a:t>ELSE IF pelanggan membeli "Cappuccino":</a:t>
            </a:r>
            <a:endParaRPr b="0" i="0" sz="1100" u="none" cap="none" strike="noStrike">
              <a:solidFill>
                <a:schemeClr val="lt2"/>
              </a:solidFill>
              <a:latin typeface="Arial"/>
              <a:ea typeface="Arial"/>
              <a:cs typeface="Arial"/>
              <a:sym typeface="Arial"/>
            </a:endParaRPr>
          </a:p>
          <a:p>
            <a:pPr indent="457200" lvl="0" marL="0" marR="0" rtl="0" algn="l">
              <a:lnSpc>
                <a:spcPct val="150000"/>
              </a:lnSpc>
              <a:spcBef>
                <a:spcPts val="1200"/>
              </a:spcBef>
              <a:spcAft>
                <a:spcPts val="0"/>
              </a:spcAft>
              <a:buClr>
                <a:srgbClr val="000000"/>
              </a:buClr>
              <a:buSzPts val="1100"/>
              <a:buFont typeface="Arial"/>
              <a:buNone/>
            </a:pPr>
            <a:r>
              <a:rPr b="0" i="0" lang="en-US" sz="1100" u="none" cap="none" strike="noStrike">
                <a:solidFill>
                  <a:schemeClr val="lt2"/>
                </a:solidFill>
                <a:latin typeface="Arial"/>
                <a:ea typeface="Arial"/>
                <a:cs typeface="Arial"/>
                <a:sym typeface="Arial"/>
              </a:rPr>
              <a:t>REKOMENDASIKAN "Croissant".</a:t>
            </a:r>
            <a:endParaRPr b="0" i="0" sz="1100" u="none" cap="none" strike="noStrike">
              <a:solidFill>
                <a:schemeClr val="lt2"/>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100"/>
              <a:buFont typeface="Arial"/>
              <a:buNone/>
            </a:pPr>
            <a:r>
              <a:rPr b="0" i="0" lang="en-US" sz="1100" u="none" cap="none" strike="noStrike">
                <a:solidFill>
                  <a:schemeClr val="lt2"/>
                </a:solidFill>
                <a:latin typeface="Arial"/>
                <a:ea typeface="Arial"/>
                <a:cs typeface="Arial"/>
                <a:sym typeface="Arial"/>
              </a:rPr>
              <a:t>ELSE:</a:t>
            </a:r>
            <a:endParaRPr b="0" i="0" sz="1100" u="none" cap="none" strike="noStrike">
              <a:solidFill>
                <a:schemeClr val="lt2"/>
              </a:solidFill>
              <a:latin typeface="Arial"/>
              <a:ea typeface="Arial"/>
              <a:cs typeface="Arial"/>
              <a:sym typeface="Arial"/>
            </a:endParaRPr>
          </a:p>
          <a:p>
            <a:pPr indent="457200" lvl="0" marL="0" marR="0" rtl="0" algn="l">
              <a:lnSpc>
                <a:spcPct val="150000"/>
              </a:lnSpc>
              <a:spcBef>
                <a:spcPts val="1200"/>
              </a:spcBef>
              <a:spcAft>
                <a:spcPts val="1200"/>
              </a:spcAft>
              <a:buClr>
                <a:srgbClr val="000000"/>
              </a:buClr>
              <a:buSzPts val="1100"/>
              <a:buFont typeface="Arial"/>
              <a:buNone/>
            </a:pPr>
            <a:r>
              <a:rPr b="0" i="0" lang="en-US" sz="1100" u="none" cap="none" strike="noStrike">
                <a:solidFill>
                  <a:schemeClr val="lt2"/>
                </a:solidFill>
                <a:latin typeface="Arial"/>
                <a:ea typeface="Arial"/>
                <a:cs typeface="Arial"/>
                <a:sym typeface="Arial"/>
              </a:rPr>
              <a:t>REKOMENDASIKAN "Menu Promo".</a:t>
            </a:r>
            <a:endParaRPr b="0" i="0" sz="1100" u="none" cap="none" strike="noStrike">
              <a:solidFill>
                <a:schemeClr val="lt2"/>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13" name="Shape 313"/>
        <p:cNvGrpSpPr/>
        <p:nvPr/>
      </p:nvGrpSpPr>
      <p:grpSpPr>
        <a:xfrm>
          <a:off x="0" y="0"/>
          <a:ext cx="0" cy="0"/>
          <a:chOff x="0" y="0"/>
          <a:chExt cx="0" cy="0"/>
        </a:xfrm>
      </p:grpSpPr>
      <p:sp>
        <p:nvSpPr>
          <p:cNvPr id="314" name="Google Shape;314;p18"/>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2400" u="none" cap="none" strike="noStrike">
                <a:solidFill>
                  <a:srgbClr val="48A8C4"/>
                </a:solidFill>
                <a:latin typeface="Plus Jakarta Sans"/>
                <a:ea typeface="Plus Jakarta Sans"/>
                <a:cs typeface="Plus Jakarta Sans"/>
                <a:sym typeface="Plus Jakarta Sans"/>
              </a:rPr>
              <a:t>Machine Learning vs. Traditional Programming</a:t>
            </a:r>
            <a:endParaRPr b="1" i="0" sz="2400" u="none" cap="none" strike="noStrike">
              <a:solidFill>
                <a:srgbClr val="48A8C4"/>
              </a:solidFill>
              <a:latin typeface="Plus Jakarta Sans"/>
              <a:ea typeface="Plus Jakarta Sans"/>
              <a:cs typeface="Plus Jakarta Sans"/>
              <a:sym typeface="Plus Jakarta Sans"/>
            </a:endParaRPr>
          </a:p>
        </p:txBody>
      </p:sp>
      <p:pic>
        <p:nvPicPr>
          <p:cNvPr id="315" name="Google Shape;315;p18"/>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16" name="Google Shape;316;p18"/>
          <p:cNvSpPr/>
          <p:nvPr/>
        </p:nvSpPr>
        <p:spPr>
          <a:xfrm>
            <a:off x="6118200" y="1188025"/>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17" name="Google Shape;317;p18"/>
          <p:cNvSpPr txBox="1"/>
          <p:nvPr/>
        </p:nvSpPr>
        <p:spPr>
          <a:xfrm>
            <a:off x="457200" y="1085550"/>
            <a:ext cx="5661000" cy="3746700"/>
          </a:xfrm>
          <a:prstGeom prst="rect">
            <a:avLst/>
          </a:prstGeom>
          <a:noFill/>
          <a:ln>
            <a:noFill/>
          </a:ln>
        </p:spPr>
        <p:txBody>
          <a:bodyPr anchorCtr="0" anchor="t" bIns="0" lIns="0" spcFirstLastPara="1" rIns="0" wrap="square" tIns="13950">
            <a:spAutoFit/>
          </a:bodyPr>
          <a:lstStyle/>
          <a:p>
            <a:pPr indent="0" lvl="0" marL="0" marR="0" rtl="0" algn="l">
              <a:lnSpc>
                <a:spcPct val="150000"/>
              </a:lnSpc>
              <a:spcBef>
                <a:spcPts val="1200"/>
              </a:spcBef>
              <a:spcAft>
                <a:spcPts val="0"/>
              </a:spcAft>
              <a:buClr>
                <a:srgbClr val="000000"/>
              </a:buClr>
              <a:buSzPts val="1100"/>
              <a:buFont typeface="Arial"/>
              <a:buNone/>
            </a:pPr>
            <a:r>
              <a:rPr b="1" i="0" lang="en-US" sz="1100" u="none" cap="none" strike="noStrike">
                <a:solidFill>
                  <a:schemeClr val="dk2"/>
                </a:solidFill>
                <a:latin typeface="Arial"/>
                <a:ea typeface="Arial"/>
                <a:cs typeface="Arial"/>
                <a:sym typeface="Arial"/>
              </a:rPr>
              <a:t>Machine Learning</a:t>
            </a:r>
            <a:endParaRPr b="1"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100"/>
              <a:buFont typeface="Arial"/>
              <a:buNone/>
            </a:pPr>
            <a:r>
              <a:rPr b="0" i="0" lang="en-US" sz="1100" u="none" cap="none" strike="noStrike">
                <a:solidFill>
                  <a:schemeClr val="dk2"/>
                </a:solidFill>
                <a:latin typeface="Arial"/>
                <a:ea typeface="Arial"/>
                <a:cs typeface="Arial"/>
                <a:sym typeface="Arial"/>
              </a:rPr>
              <a:t>Dalam Machine Learning, prosesnya dibalik. Kita memberikan data dan membiarkan algoritma menemukan polanya.</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1200"/>
              </a:spcBef>
              <a:spcAft>
                <a:spcPts val="0"/>
              </a:spcAft>
              <a:buClr>
                <a:schemeClr val="dk2"/>
              </a:buClr>
              <a:buSzPts val="1100"/>
              <a:buFont typeface="Arial"/>
              <a:buChar char="●"/>
            </a:pPr>
            <a:r>
              <a:rPr b="1" i="0" lang="en-US" sz="1100" u="none" cap="none" strike="noStrike">
                <a:solidFill>
                  <a:schemeClr val="dk2"/>
                </a:solidFill>
                <a:latin typeface="Arial"/>
                <a:ea typeface="Arial"/>
                <a:cs typeface="Arial"/>
                <a:sym typeface="Arial"/>
              </a:rPr>
              <a:t>Input:</a:t>
            </a:r>
            <a:r>
              <a:rPr b="0" i="0" lang="en-US" sz="1100" u="none" cap="none" strike="noStrike">
                <a:solidFill>
                  <a:schemeClr val="dk2"/>
                </a:solidFill>
                <a:latin typeface="Arial"/>
                <a:ea typeface="Arial"/>
                <a:cs typeface="Arial"/>
                <a:sym typeface="Arial"/>
              </a:rPr>
              <a:t> Data transaksi historis (pelanggan, produk yang dibeli bersamaan).</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0"/>
              </a:spcBef>
              <a:spcAft>
                <a:spcPts val="0"/>
              </a:spcAft>
              <a:buClr>
                <a:schemeClr val="dk2"/>
              </a:buClr>
              <a:buSzPts val="1100"/>
              <a:buFont typeface="Arial"/>
              <a:buChar char="●"/>
            </a:pPr>
            <a:r>
              <a:rPr b="1" i="0" lang="en-US" sz="1100" u="none" cap="none" strike="noStrike">
                <a:solidFill>
                  <a:schemeClr val="dk2"/>
                </a:solidFill>
                <a:latin typeface="Arial"/>
                <a:ea typeface="Arial"/>
                <a:cs typeface="Arial"/>
                <a:sym typeface="Arial"/>
              </a:rPr>
              <a:t>Program:</a:t>
            </a:r>
            <a:r>
              <a:rPr b="0" i="0" lang="en-US" sz="1100" u="none" cap="none" strike="noStrike">
                <a:solidFill>
                  <a:schemeClr val="dk2"/>
                </a:solidFill>
                <a:latin typeface="Arial"/>
                <a:ea typeface="Arial"/>
                <a:cs typeface="Arial"/>
                <a:sym typeface="Arial"/>
              </a:rPr>
              <a:t> Model yang "belajar" dari data.</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0"/>
              </a:spcBef>
              <a:spcAft>
                <a:spcPts val="0"/>
              </a:spcAft>
              <a:buClr>
                <a:schemeClr val="dk2"/>
              </a:buClr>
              <a:buSzPts val="1100"/>
              <a:buFont typeface="Arial"/>
              <a:buChar char="●"/>
            </a:pPr>
            <a:r>
              <a:rPr b="1" i="0" lang="en-US" sz="1100" u="none" cap="none" strike="noStrike">
                <a:solidFill>
                  <a:schemeClr val="dk2"/>
                </a:solidFill>
                <a:latin typeface="Arial"/>
                <a:ea typeface="Arial"/>
                <a:cs typeface="Arial"/>
                <a:sym typeface="Arial"/>
              </a:rPr>
              <a:t>Output:</a:t>
            </a:r>
            <a:r>
              <a:rPr b="0" i="0" lang="en-US" sz="1100" u="none" cap="none" strike="noStrike">
                <a:solidFill>
                  <a:schemeClr val="dk2"/>
                </a:solidFill>
                <a:latin typeface="Arial"/>
                <a:ea typeface="Arial"/>
                <a:cs typeface="Arial"/>
                <a:sym typeface="Arial"/>
              </a:rPr>
              <a:t> Aturan (pola atau model).</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100"/>
              <a:buFont typeface="Arial"/>
              <a:buNone/>
            </a:pPr>
            <a:r>
              <a:rPr b="1" i="0" lang="en-US" sz="1100" u="none" cap="none" strike="noStrike">
                <a:solidFill>
                  <a:schemeClr val="dk2"/>
                </a:solidFill>
                <a:latin typeface="Arial"/>
                <a:ea typeface="Arial"/>
                <a:cs typeface="Arial"/>
                <a:sym typeface="Arial"/>
              </a:rPr>
              <a:t>Keunggulan:</a:t>
            </a:r>
            <a:r>
              <a:rPr b="0" i="0" lang="en-US" sz="1100" u="none" cap="none" strike="noStrike">
                <a:solidFill>
                  <a:schemeClr val="dk2"/>
                </a:solidFill>
                <a:latin typeface="Arial"/>
                <a:ea typeface="Arial"/>
                <a:cs typeface="Arial"/>
                <a:sym typeface="Arial"/>
              </a:rPr>
              <a:t> Model ini secara otomatis menemukan pola yang mungkin tidak pernah terpikirkan oleh manusia, bahkan dari jutaan data. Model akan merekomendasikan "Muffin" jika ada pelanggan membeli "Teh Matcha" tanpa perlu Anda menulis aturan itu. Jika tren berubah, Anda hanya perlu melatih ulang model dengan data terbaru.</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1200"/>
              </a:spcAft>
              <a:buClr>
                <a:srgbClr val="000000"/>
              </a:buClr>
              <a:buSzPts val="1100"/>
              <a:buFont typeface="Arial"/>
              <a:buNone/>
            </a:pPr>
            <a:r>
              <a:t/>
            </a:r>
            <a:endParaRPr b="1" i="0" sz="1100" u="none" cap="none" strike="noStrike">
              <a:solidFill>
                <a:schemeClr val="dk2"/>
              </a:solidFill>
              <a:latin typeface="Arial"/>
              <a:ea typeface="Arial"/>
              <a:cs typeface="Arial"/>
              <a:sym typeface="Arial"/>
            </a:endParaRPr>
          </a:p>
        </p:txBody>
      </p:sp>
      <p:sp>
        <p:nvSpPr>
          <p:cNvPr id="318" name="Google Shape;318;p18"/>
          <p:cNvSpPr txBox="1"/>
          <p:nvPr/>
        </p:nvSpPr>
        <p:spPr>
          <a:xfrm>
            <a:off x="6226375" y="1170950"/>
            <a:ext cx="3000000" cy="4063500"/>
          </a:xfrm>
          <a:prstGeom prst="rect">
            <a:avLst/>
          </a:prstGeom>
          <a:solidFill>
            <a:schemeClr val="dk2"/>
          </a:solidFill>
          <a:ln>
            <a:noFill/>
          </a:ln>
        </p:spPr>
        <p:txBody>
          <a:bodyPr anchorCtr="0" anchor="t" bIns="91425" lIns="91425" spcFirstLastPara="1" rIns="91425" wrap="square" tIns="91425">
            <a:spAutoFit/>
          </a:bodyPr>
          <a:lstStyle/>
          <a:p>
            <a:pPr indent="0" lvl="0" marL="0" marR="0" rtl="0" algn="l">
              <a:lnSpc>
                <a:spcPct val="150000"/>
              </a:lnSpc>
              <a:spcBef>
                <a:spcPts val="1200"/>
              </a:spcBef>
              <a:spcAft>
                <a:spcPts val="0"/>
              </a:spcAft>
              <a:buClr>
                <a:srgbClr val="000000"/>
              </a:buClr>
              <a:buSzPts val="1100"/>
              <a:buFont typeface="Arial"/>
              <a:buNone/>
            </a:pPr>
            <a:r>
              <a:rPr b="1" i="0" lang="en-US" sz="1100" u="none" cap="none" strike="noStrike">
                <a:solidFill>
                  <a:schemeClr val="lt2"/>
                </a:solidFill>
                <a:latin typeface="Arial"/>
                <a:ea typeface="Arial"/>
                <a:cs typeface="Arial"/>
                <a:sym typeface="Arial"/>
              </a:rPr>
              <a:t>Contoh Kasus:</a:t>
            </a:r>
            <a:endParaRPr b="1" i="0" sz="1100" u="none" cap="none" strike="noStrike">
              <a:solidFill>
                <a:schemeClr val="lt2"/>
              </a:solidFill>
              <a:latin typeface="Arial"/>
              <a:ea typeface="Arial"/>
              <a:cs typeface="Arial"/>
              <a:sym typeface="Arial"/>
            </a:endParaRPr>
          </a:p>
          <a:p>
            <a:pPr indent="-298450" lvl="0" marL="457200" marR="0" rtl="0" algn="l">
              <a:lnSpc>
                <a:spcPct val="150000"/>
              </a:lnSpc>
              <a:spcBef>
                <a:spcPts val="1200"/>
              </a:spcBef>
              <a:spcAft>
                <a:spcPts val="0"/>
              </a:spcAft>
              <a:buClr>
                <a:schemeClr val="lt2"/>
              </a:buClr>
              <a:buSzPts val="1100"/>
              <a:buFont typeface="Arial"/>
              <a:buAutoNum type="arabicPeriod"/>
            </a:pPr>
            <a:r>
              <a:rPr b="1" i="0" lang="en-US" sz="1100" u="none" cap="none" strike="noStrike">
                <a:solidFill>
                  <a:schemeClr val="lt2"/>
                </a:solidFill>
                <a:latin typeface="Arial"/>
                <a:ea typeface="Arial"/>
                <a:cs typeface="Arial"/>
                <a:sym typeface="Arial"/>
              </a:rPr>
              <a:t>Pengumpulan Data:</a:t>
            </a:r>
            <a:r>
              <a:rPr b="0" i="0" lang="en-US" sz="1100" u="none" cap="none" strike="noStrike">
                <a:solidFill>
                  <a:schemeClr val="lt2"/>
                </a:solidFill>
                <a:latin typeface="Arial"/>
                <a:ea typeface="Arial"/>
                <a:cs typeface="Arial"/>
                <a:sym typeface="Arial"/>
              </a:rPr>
              <a:t> Kumpulkan ribuan data transaksi: [Pelanggan A, Beli Kopi Latte &amp; Donat], [Pelanggan B, Beli Cappuccino &amp; Croissant], dan seterusnya.</a:t>
            </a:r>
            <a:endParaRPr b="0" i="0" sz="1100" u="none" cap="none" strike="noStrike">
              <a:solidFill>
                <a:schemeClr val="lt2"/>
              </a:solidFill>
              <a:latin typeface="Arial"/>
              <a:ea typeface="Arial"/>
              <a:cs typeface="Arial"/>
              <a:sym typeface="Arial"/>
            </a:endParaRPr>
          </a:p>
          <a:p>
            <a:pPr indent="-298450" lvl="0" marL="457200" marR="0" rtl="0" algn="l">
              <a:lnSpc>
                <a:spcPct val="150000"/>
              </a:lnSpc>
              <a:spcBef>
                <a:spcPts val="0"/>
              </a:spcBef>
              <a:spcAft>
                <a:spcPts val="0"/>
              </a:spcAft>
              <a:buClr>
                <a:schemeClr val="lt2"/>
              </a:buClr>
              <a:buSzPts val="1100"/>
              <a:buFont typeface="Arial"/>
              <a:buAutoNum type="arabicPeriod"/>
            </a:pPr>
            <a:r>
              <a:rPr b="1" i="0" lang="en-US" sz="1100" u="none" cap="none" strike="noStrike">
                <a:solidFill>
                  <a:schemeClr val="lt2"/>
                </a:solidFill>
                <a:latin typeface="Arial"/>
                <a:ea typeface="Arial"/>
                <a:cs typeface="Arial"/>
                <a:sym typeface="Arial"/>
              </a:rPr>
              <a:t>Pelatihan Model:</a:t>
            </a:r>
            <a:r>
              <a:rPr b="0" i="0" lang="en-US" sz="1100" u="none" cap="none" strike="noStrike">
                <a:solidFill>
                  <a:schemeClr val="lt2"/>
                </a:solidFill>
                <a:latin typeface="Arial"/>
                <a:ea typeface="Arial"/>
                <a:cs typeface="Arial"/>
                <a:sym typeface="Arial"/>
              </a:rPr>
              <a:t> Berikan data ini ke algoritma Machine Learning (misalnya, </a:t>
            </a:r>
            <a:r>
              <a:rPr b="1" i="0" lang="en-US" sz="1100" u="none" cap="none" strike="noStrike">
                <a:solidFill>
                  <a:schemeClr val="lt2"/>
                </a:solidFill>
                <a:latin typeface="Arial"/>
                <a:ea typeface="Arial"/>
                <a:cs typeface="Arial"/>
                <a:sym typeface="Arial"/>
              </a:rPr>
              <a:t>Association Rule Mining</a:t>
            </a:r>
            <a:r>
              <a:rPr b="0" i="0" lang="en-US" sz="1100" u="none" cap="none" strike="noStrike">
                <a:solidFill>
                  <a:schemeClr val="lt2"/>
                </a:solidFill>
                <a:latin typeface="Arial"/>
                <a:ea typeface="Arial"/>
                <a:cs typeface="Arial"/>
                <a:sym typeface="Arial"/>
              </a:rPr>
              <a:t>).</a:t>
            </a:r>
            <a:endParaRPr b="0" i="0" sz="1100" u="none" cap="none" strike="noStrike">
              <a:solidFill>
                <a:schemeClr val="lt2"/>
              </a:solidFill>
              <a:latin typeface="Arial"/>
              <a:ea typeface="Arial"/>
              <a:cs typeface="Arial"/>
              <a:sym typeface="Arial"/>
            </a:endParaRPr>
          </a:p>
          <a:p>
            <a:pPr indent="-298450" lvl="0" marL="457200" marR="0" rtl="0" algn="l">
              <a:lnSpc>
                <a:spcPct val="150000"/>
              </a:lnSpc>
              <a:spcBef>
                <a:spcPts val="0"/>
              </a:spcBef>
              <a:spcAft>
                <a:spcPts val="0"/>
              </a:spcAft>
              <a:buClr>
                <a:schemeClr val="lt2"/>
              </a:buClr>
              <a:buSzPts val="1100"/>
              <a:buFont typeface="Arial"/>
              <a:buAutoNum type="arabicPeriod"/>
            </a:pPr>
            <a:r>
              <a:rPr b="1" i="0" lang="en-US" sz="1100" u="none" cap="none" strike="noStrike">
                <a:solidFill>
                  <a:schemeClr val="lt2"/>
                </a:solidFill>
                <a:latin typeface="Arial"/>
                <a:ea typeface="Arial"/>
                <a:cs typeface="Arial"/>
                <a:sym typeface="Arial"/>
              </a:rPr>
              <a:t>Hasil Model:</a:t>
            </a:r>
            <a:r>
              <a:rPr b="0" i="0" lang="en-US" sz="1100" u="none" cap="none" strike="noStrike">
                <a:solidFill>
                  <a:schemeClr val="lt2"/>
                </a:solidFill>
                <a:latin typeface="Arial"/>
                <a:ea typeface="Arial"/>
                <a:cs typeface="Arial"/>
                <a:sym typeface="Arial"/>
              </a:rPr>
              <a:t> Model akan menemukan pola seperti:</a:t>
            </a:r>
            <a:endParaRPr b="0" i="0" sz="1100" u="none" cap="none" strike="noStrike">
              <a:solidFill>
                <a:schemeClr val="lt2"/>
              </a:solidFill>
              <a:latin typeface="Arial"/>
              <a:ea typeface="Arial"/>
              <a:cs typeface="Arial"/>
              <a:sym typeface="Arial"/>
            </a:endParaRPr>
          </a:p>
          <a:p>
            <a:pPr indent="-298450" lvl="1" marL="914400" marR="0" rtl="0" algn="l">
              <a:lnSpc>
                <a:spcPct val="150000"/>
              </a:lnSpc>
              <a:spcBef>
                <a:spcPts val="0"/>
              </a:spcBef>
              <a:spcAft>
                <a:spcPts val="0"/>
              </a:spcAft>
              <a:buClr>
                <a:schemeClr val="lt2"/>
              </a:buClr>
              <a:buSzPts val="1100"/>
              <a:buFont typeface="Arial"/>
              <a:buChar char="○"/>
            </a:pPr>
            <a:r>
              <a:rPr b="0" i="0" lang="en-US" sz="1100" u="none" cap="none" strike="noStrike">
                <a:solidFill>
                  <a:schemeClr val="lt2"/>
                </a:solidFill>
                <a:latin typeface="Arial"/>
                <a:ea typeface="Arial"/>
                <a:cs typeface="Arial"/>
                <a:sym typeface="Arial"/>
              </a:rPr>
              <a:t>Kopi Latte -&gt; Donat</a:t>
            </a:r>
            <a:endParaRPr b="0" i="0" sz="1100" u="none" cap="none" strike="noStrike">
              <a:solidFill>
                <a:schemeClr val="lt2"/>
              </a:solidFill>
              <a:latin typeface="Arial"/>
              <a:ea typeface="Arial"/>
              <a:cs typeface="Arial"/>
              <a:sym typeface="Arial"/>
            </a:endParaRPr>
          </a:p>
          <a:p>
            <a:pPr indent="-298450" lvl="1" marL="914400" marR="0" rtl="0" algn="l">
              <a:lnSpc>
                <a:spcPct val="150000"/>
              </a:lnSpc>
              <a:spcBef>
                <a:spcPts val="0"/>
              </a:spcBef>
              <a:spcAft>
                <a:spcPts val="0"/>
              </a:spcAft>
              <a:buClr>
                <a:schemeClr val="lt2"/>
              </a:buClr>
              <a:buSzPts val="1100"/>
              <a:buFont typeface="Arial"/>
              <a:buChar char="○"/>
            </a:pPr>
            <a:r>
              <a:rPr b="0" i="0" lang="en-US" sz="1100" u="none" cap="none" strike="noStrike">
                <a:solidFill>
                  <a:schemeClr val="lt2"/>
                </a:solidFill>
                <a:latin typeface="Arial"/>
                <a:ea typeface="Arial"/>
                <a:cs typeface="Arial"/>
                <a:sym typeface="Arial"/>
              </a:rPr>
              <a:t>Cappuccino -&gt; Croissant</a:t>
            </a:r>
            <a:endParaRPr b="0" i="0" sz="1100" u="none" cap="none" strike="noStrike">
              <a:solidFill>
                <a:schemeClr val="lt2"/>
              </a:solidFill>
              <a:latin typeface="Arial"/>
              <a:ea typeface="Arial"/>
              <a:cs typeface="Arial"/>
              <a:sym typeface="Arial"/>
            </a:endParaRPr>
          </a:p>
          <a:p>
            <a:pPr indent="-298450" lvl="1" marL="914400" marR="0" rtl="0" algn="l">
              <a:lnSpc>
                <a:spcPct val="150000"/>
              </a:lnSpc>
              <a:spcBef>
                <a:spcPts val="0"/>
              </a:spcBef>
              <a:spcAft>
                <a:spcPts val="0"/>
              </a:spcAft>
              <a:buClr>
                <a:schemeClr val="lt2"/>
              </a:buClr>
              <a:buSzPts val="1100"/>
              <a:buFont typeface="Arial"/>
              <a:buChar char="○"/>
            </a:pPr>
            <a:r>
              <a:rPr b="0" i="0" lang="en-US" sz="1100" u="none" cap="none" strike="noStrike">
                <a:solidFill>
                  <a:schemeClr val="lt2"/>
                </a:solidFill>
                <a:latin typeface="Arial"/>
                <a:ea typeface="Arial"/>
                <a:cs typeface="Arial"/>
                <a:sym typeface="Arial"/>
              </a:rPr>
              <a:t>Teh Matcha -&gt; Muffin</a:t>
            </a:r>
            <a:endParaRPr b="0" i="0" sz="1400" u="none" cap="none" strike="noStrike">
              <a:solidFill>
                <a:schemeClr val="lt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22" name="Shape 322"/>
        <p:cNvGrpSpPr/>
        <p:nvPr/>
      </p:nvGrpSpPr>
      <p:grpSpPr>
        <a:xfrm>
          <a:off x="0" y="0"/>
          <a:ext cx="0" cy="0"/>
          <a:chOff x="0" y="0"/>
          <a:chExt cx="0" cy="0"/>
        </a:xfrm>
      </p:grpSpPr>
      <p:sp>
        <p:nvSpPr>
          <p:cNvPr id="323" name="Google Shape;323;p20"/>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Tipe Machine Learning</a:t>
            </a:r>
            <a:endParaRPr b="1" i="0" sz="3600" u="none" cap="none" strike="noStrike">
              <a:solidFill>
                <a:srgbClr val="48A8C4"/>
              </a:solidFill>
              <a:latin typeface="Plus Jakarta Sans"/>
              <a:ea typeface="Plus Jakarta Sans"/>
              <a:cs typeface="Plus Jakarta Sans"/>
              <a:sym typeface="Plus Jakarta Sans"/>
            </a:endParaRPr>
          </a:p>
        </p:txBody>
      </p:sp>
      <p:pic>
        <p:nvPicPr>
          <p:cNvPr id="324" name="Google Shape;324;p20"/>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25" name="Google Shape;325;p20"/>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326" name="Google Shape;326;p20" title="The-main-types-of-machine-learning-Main-approaches-include-classification-and-regression_PhotoGrid.png"/>
          <p:cNvPicPr preferRelativeResize="0"/>
          <p:nvPr/>
        </p:nvPicPr>
        <p:blipFill rotWithShape="1">
          <a:blip r:embed="rId4">
            <a:alphaModFix/>
          </a:blip>
          <a:srcRect b="0" l="0" r="10" t="0"/>
          <a:stretch/>
        </p:blipFill>
        <p:spPr>
          <a:xfrm>
            <a:off x="1067063" y="1121750"/>
            <a:ext cx="7011451" cy="37944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30" name="Shape 330"/>
        <p:cNvGrpSpPr/>
        <p:nvPr/>
      </p:nvGrpSpPr>
      <p:grpSpPr>
        <a:xfrm>
          <a:off x="0" y="0"/>
          <a:ext cx="0" cy="0"/>
          <a:chOff x="0" y="0"/>
          <a:chExt cx="0" cy="0"/>
        </a:xfrm>
      </p:grpSpPr>
      <p:sp>
        <p:nvSpPr>
          <p:cNvPr id="331" name="Google Shape;331;p19"/>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2400" u="none" cap="none" strike="noStrike">
                <a:solidFill>
                  <a:srgbClr val="48A8C4"/>
                </a:solidFill>
                <a:latin typeface="Plus Jakarta Sans"/>
                <a:ea typeface="Plus Jakarta Sans"/>
                <a:cs typeface="Plus Jakarta Sans"/>
                <a:sym typeface="Plus Jakarta Sans"/>
              </a:rPr>
              <a:t>Machine Learning vs. Traditional Programming</a:t>
            </a:r>
            <a:endParaRPr b="1" i="0" sz="2400" u="none" cap="none" strike="noStrike">
              <a:solidFill>
                <a:srgbClr val="48A8C4"/>
              </a:solidFill>
              <a:latin typeface="Plus Jakarta Sans"/>
              <a:ea typeface="Plus Jakarta Sans"/>
              <a:cs typeface="Plus Jakarta Sans"/>
              <a:sym typeface="Plus Jakarta Sans"/>
            </a:endParaRPr>
          </a:p>
        </p:txBody>
      </p:sp>
      <p:pic>
        <p:nvPicPr>
          <p:cNvPr id="332" name="Google Shape;332;p1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33" name="Google Shape;333;p19"/>
          <p:cNvSpPr/>
          <p:nvPr/>
        </p:nvSpPr>
        <p:spPr>
          <a:xfrm>
            <a:off x="6144525" y="11979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334" name="Google Shape;334;p19"/>
          <p:cNvPicPr preferRelativeResize="0"/>
          <p:nvPr/>
        </p:nvPicPr>
        <p:blipFill rotWithShape="1">
          <a:blip r:embed="rId4">
            <a:alphaModFix/>
          </a:blip>
          <a:srcRect b="15236" l="6745" r="6992" t="14901"/>
          <a:stretch/>
        </p:blipFill>
        <p:spPr>
          <a:xfrm>
            <a:off x="5674677" y="3053675"/>
            <a:ext cx="3470896" cy="2091400"/>
          </a:xfrm>
          <a:prstGeom prst="rect">
            <a:avLst/>
          </a:prstGeom>
          <a:noFill/>
          <a:ln>
            <a:noFill/>
          </a:ln>
        </p:spPr>
      </p:pic>
      <p:graphicFrame>
        <p:nvGraphicFramePr>
          <p:cNvPr id="335" name="Google Shape;335;p19"/>
          <p:cNvGraphicFramePr/>
          <p:nvPr/>
        </p:nvGraphicFramePr>
        <p:xfrm>
          <a:off x="0" y="1121750"/>
          <a:ext cx="3000000" cy="3000000"/>
        </p:xfrm>
        <a:graphic>
          <a:graphicData uri="http://schemas.openxmlformats.org/drawingml/2006/table">
            <a:tbl>
              <a:tblPr>
                <a:noFill/>
                <a:tableStyleId>{E797E2A8-8722-435A-93A3-9CF2C875E82C}</a:tableStyleId>
              </a:tblPr>
              <a:tblGrid>
                <a:gridCol w="933225"/>
                <a:gridCol w="2767800"/>
                <a:gridCol w="2767800"/>
              </a:tblGrid>
              <a:tr h="2000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Traditional Programming</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Machine Learning</a:t>
                      </a:r>
                      <a:endParaRPr b="1" sz="1200" u="none" cap="none" strike="noStrike"/>
                    </a:p>
                  </a:txBody>
                  <a:tcPr marT="91425" marB="91425" marR="91425" marL="91425"/>
                </a:tc>
              </a:tr>
              <a:tr h="2000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Logika</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Aturan eksplisit ditulis oleh manusia.</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Aturan ditemukan oleh algoritma dari data.</a:t>
                      </a:r>
                      <a:endParaRPr sz="1200" u="none" cap="none" strike="noStrike"/>
                    </a:p>
                  </a:txBody>
                  <a:tcPr marT="91425" marB="91425" marR="91425" marL="91425"/>
                </a:tc>
              </a:tr>
              <a:tr h="2000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Adaptasi</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Memerlukan perubahan kode manual.</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Dapat dilatih ulang dengan data baru.</a:t>
                      </a:r>
                      <a:endParaRPr sz="1200" u="none" cap="none" strike="noStrike"/>
                    </a:p>
                  </a:txBody>
                  <a:tcPr marT="91425" marB="91425" marR="91425" marL="91425"/>
                </a:tc>
              </a:tr>
              <a:tr h="2000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Tujuan</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Menyelesaikan masalah terdefinisi jelas.</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Mengidentifikasi pola &amp; membuat prediksi.</a:t>
                      </a:r>
                      <a:endParaRPr sz="1200" u="none" cap="none" strike="noStrike"/>
                    </a:p>
                  </a:txBody>
                  <a:tcPr marT="91425" marB="91425" marR="91425" marL="91425"/>
                </a:tc>
              </a:tr>
              <a:tr h="20002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t>Performa</a:t>
                      </a:r>
                      <a:endParaRPr b="1"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Terbatas pada aturan yang sudah ditentukan.</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t>Meningkat seiring dengan bertambahnya data.</a:t>
                      </a:r>
                      <a:endParaRPr sz="1200" u="none" cap="none" strike="noStrike"/>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39" name="Shape 339"/>
        <p:cNvGrpSpPr/>
        <p:nvPr/>
      </p:nvGrpSpPr>
      <p:grpSpPr>
        <a:xfrm>
          <a:off x="0" y="0"/>
          <a:ext cx="0" cy="0"/>
          <a:chOff x="0" y="0"/>
          <a:chExt cx="0" cy="0"/>
        </a:xfrm>
      </p:grpSpPr>
      <p:sp>
        <p:nvSpPr>
          <p:cNvPr id="340" name="Google Shape;340;p21"/>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Posisi Machine Learning</a:t>
            </a:r>
            <a:endParaRPr b="1" i="0" sz="3600" u="none" cap="none" strike="noStrike">
              <a:solidFill>
                <a:srgbClr val="48A8C4"/>
              </a:solidFill>
              <a:latin typeface="Plus Jakarta Sans"/>
              <a:ea typeface="Plus Jakarta Sans"/>
              <a:cs typeface="Plus Jakarta Sans"/>
              <a:sym typeface="Plus Jakarta Sans"/>
            </a:endParaRPr>
          </a:p>
        </p:txBody>
      </p:sp>
      <p:pic>
        <p:nvPicPr>
          <p:cNvPr id="341" name="Google Shape;341;p2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42" name="Google Shape;342;p21"/>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343" name="Google Shape;343;p21"/>
          <p:cNvPicPr preferRelativeResize="0"/>
          <p:nvPr/>
        </p:nvPicPr>
        <p:blipFill rotWithShape="1">
          <a:blip r:embed="rId4">
            <a:alphaModFix/>
          </a:blip>
          <a:srcRect b="0" l="0" r="0" t="0"/>
          <a:stretch/>
        </p:blipFill>
        <p:spPr>
          <a:xfrm>
            <a:off x="1093388" y="1265620"/>
            <a:ext cx="5839725" cy="3392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47" name="Shape 347"/>
        <p:cNvGrpSpPr/>
        <p:nvPr/>
      </p:nvGrpSpPr>
      <p:grpSpPr>
        <a:xfrm>
          <a:off x="0" y="0"/>
          <a:ext cx="0" cy="0"/>
          <a:chOff x="0" y="0"/>
          <a:chExt cx="0" cy="0"/>
        </a:xfrm>
      </p:grpSpPr>
      <p:sp>
        <p:nvSpPr>
          <p:cNvPr id="348" name="Google Shape;348;p22"/>
          <p:cNvSpPr txBox="1"/>
          <p:nvPr>
            <p:ph type="ctrTitle"/>
          </p:nvPr>
        </p:nvSpPr>
        <p:spPr>
          <a:xfrm>
            <a:off x="4863675" y="3098975"/>
            <a:ext cx="4281900" cy="838200"/>
          </a:xfrm>
          <a:prstGeom prst="rect">
            <a:avLst/>
          </a:prstGeom>
          <a:noFill/>
          <a:ln>
            <a:noFill/>
          </a:ln>
        </p:spPr>
        <p:txBody>
          <a:bodyPr anchorCtr="0" anchor="b" bIns="91450" lIns="91450" spcFirstLastPara="1" rIns="91450" wrap="square" tIns="91450">
            <a:normAutofit/>
          </a:bodyPr>
          <a:lstStyle/>
          <a:p>
            <a:pPr indent="0" lvl="0" marL="0" rtl="0" algn="l">
              <a:lnSpc>
                <a:spcPct val="85000"/>
              </a:lnSpc>
              <a:spcBef>
                <a:spcPts val="0"/>
              </a:spcBef>
              <a:spcAft>
                <a:spcPts val="0"/>
              </a:spcAft>
              <a:buSzPts val="5778"/>
              <a:buNone/>
            </a:pPr>
            <a:r>
              <a:rPr b="1" lang="en-US" sz="4800">
                <a:latin typeface="Plus Jakarta Sans"/>
                <a:ea typeface="Plus Jakarta Sans"/>
                <a:cs typeface="Plus Jakarta Sans"/>
                <a:sym typeface="Plus Jakarta Sans"/>
              </a:rPr>
              <a:t>Pertanyaan?</a:t>
            </a:r>
            <a:endParaRPr b="1" sz="4800">
              <a:latin typeface="Plus Jakarta Sans"/>
              <a:ea typeface="Plus Jakarta Sans"/>
              <a:cs typeface="Plus Jakarta Sans"/>
              <a:sym typeface="Plus Jakarta Sans"/>
            </a:endParaRPr>
          </a:p>
        </p:txBody>
      </p:sp>
      <p:grpSp>
        <p:nvGrpSpPr>
          <p:cNvPr id="349" name="Google Shape;349;p22"/>
          <p:cNvGrpSpPr/>
          <p:nvPr/>
        </p:nvGrpSpPr>
        <p:grpSpPr>
          <a:xfrm>
            <a:off x="161" y="-214211"/>
            <a:ext cx="2765532" cy="2691752"/>
            <a:chOff x="9584423" y="-302695"/>
            <a:chExt cx="4822201" cy="4822201"/>
          </a:xfrm>
        </p:grpSpPr>
        <p:sp>
          <p:nvSpPr>
            <p:cNvPr id="350" name="Google Shape;350;p22"/>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1" name="Google Shape;351;p22"/>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2" name="Google Shape;352;p22"/>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3" name="Google Shape;353;p22"/>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354" name="Google Shape;354;p22"/>
          <p:cNvGrpSpPr/>
          <p:nvPr/>
        </p:nvGrpSpPr>
        <p:grpSpPr>
          <a:xfrm>
            <a:off x="-840830" y="1116257"/>
            <a:ext cx="5795400" cy="5795400"/>
            <a:chOff x="4094945" y="667082"/>
            <a:chExt cx="5795400" cy="5795400"/>
          </a:xfrm>
        </p:grpSpPr>
        <p:sp>
          <p:nvSpPr>
            <p:cNvPr id="355" name="Google Shape;355;p22"/>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6" name="Google Shape;356;p22"/>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7" name="Google Shape;357;p22"/>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58" name="Google Shape;358;p22"/>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359" name="Google Shape;359;p22"/>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363" name="Shape 363"/>
        <p:cNvGrpSpPr/>
        <p:nvPr/>
      </p:nvGrpSpPr>
      <p:grpSpPr>
        <a:xfrm>
          <a:off x="0" y="0"/>
          <a:ext cx="0" cy="0"/>
          <a:chOff x="0" y="0"/>
          <a:chExt cx="0" cy="0"/>
        </a:xfrm>
      </p:grpSpPr>
      <p:sp>
        <p:nvSpPr>
          <p:cNvPr id="364" name="Google Shape;364;p23"/>
          <p:cNvSpPr txBox="1"/>
          <p:nvPr>
            <p:ph type="ctrTitle"/>
          </p:nvPr>
        </p:nvSpPr>
        <p:spPr>
          <a:xfrm>
            <a:off x="336100" y="2352200"/>
            <a:ext cx="84750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990"/>
              <a:buNone/>
            </a:pPr>
            <a:r>
              <a:rPr b="1" lang="en-US" sz="3420">
                <a:solidFill>
                  <a:schemeClr val="lt1"/>
                </a:solidFill>
                <a:latin typeface="Plus Jakarta Sans"/>
                <a:ea typeface="Plus Jakarta Sans"/>
                <a:cs typeface="Plus Jakarta Sans"/>
                <a:sym typeface="Plus Jakarta Sans"/>
              </a:rPr>
              <a:t>It’s Kahoot Time..</a:t>
            </a:r>
            <a:endParaRPr b="1" sz="3420">
              <a:solidFill>
                <a:schemeClr val="lt1"/>
              </a:solidFill>
              <a:latin typeface="Plus Jakarta Sans"/>
              <a:ea typeface="Plus Jakarta Sans"/>
              <a:cs typeface="Plus Jakarta Sans"/>
              <a:sym typeface="Plus Jakarta Sans"/>
            </a:endParaRPr>
          </a:p>
        </p:txBody>
      </p:sp>
      <p:pic>
        <p:nvPicPr>
          <p:cNvPr id="365" name="Google Shape;365;p23"/>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69" name="Shape 369"/>
        <p:cNvGrpSpPr/>
        <p:nvPr/>
      </p:nvGrpSpPr>
      <p:grpSpPr>
        <a:xfrm>
          <a:off x="0" y="0"/>
          <a:ext cx="0" cy="0"/>
          <a:chOff x="0" y="0"/>
          <a:chExt cx="0" cy="0"/>
        </a:xfrm>
      </p:grpSpPr>
      <p:sp>
        <p:nvSpPr>
          <p:cNvPr id="370" name="Google Shape;370;p24"/>
          <p:cNvSpPr/>
          <p:nvPr/>
        </p:nvSpPr>
        <p:spPr>
          <a:xfrm rot="-1974178">
            <a:off x="5877363" y="793656"/>
            <a:ext cx="1120545" cy="1120545"/>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1" name="Google Shape;371;p24"/>
          <p:cNvSpPr/>
          <p:nvPr/>
        </p:nvSpPr>
        <p:spPr>
          <a:xfrm rot="-4242470">
            <a:off x="6617651" y="1042306"/>
            <a:ext cx="2301858" cy="2301858"/>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72" name="Google Shape;372;p24"/>
          <p:cNvSpPr/>
          <p:nvPr/>
        </p:nvSpPr>
        <p:spPr>
          <a:xfrm rot="-3576382">
            <a:off x="5139692" y="2219688"/>
            <a:ext cx="3914117" cy="3914117"/>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373" name="Google Shape;373;p24"/>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74" name="Google Shape;374;p24"/>
          <p:cNvSpPr txBox="1"/>
          <p:nvPr>
            <p:ph type="ctrTitle"/>
          </p:nvPr>
        </p:nvSpPr>
        <p:spPr>
          <a:xfrm>
            <a:off x="520875" y="3237526"/>
            <a:ext cx="56052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1800"/>
              <a:buNone/>
            </a:pPr>
            <a:r>
              <a:rPr b="1" lang="en-US" sz="4800">
                <a:solidFill>
                  <a:srgbClr val="000000"/>
                </a:solidFill>
                <a:latin typeface="Plus Jakarta Sans"/>
                <a:ea typeface="Plus Jakarta Sans"/>
                <a:cs typeface="Plus Jakarta Sans"/>
                <a:sym typeface="Plus Jakarta Sans"/>
              </a:rPr>
              <a:t>Mengapa Python?</a:t>
            </a:r>
            <a:endParaRPr b="1" sz="4800">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78" name="Shape 378"/>
        <p:cNvGrpSpPr/>
        <p:nvPr/>
      </p:nvGrpSpPr>
      <p:grpSpPr>
        <a:xfrm>
          <a:off x="0" y="0"/>
          <a:ext cx="0" cy="0"/>
          <a:chOff x="0" y="0"/>
          <a:chExt cx="0" cy="0"/>
        </a:xfrm>
      </p:grpSpPr>
      <p:sp>
        <p:nvSpPr>
          <p:cNvPr id="379" name="Google Shape;379;p25"/>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Bahasa Pemrograman</a:t>
            </a:r>
            <a:endParaRPr b="1" i="0" sz="3600" u="none" cap="none" strike="noStrike">
              <a:solidFill>
                <a:srgbClr val="48A8C4"/>
              </a:solidFill>
              <a:latin typeface="Plus Jakarta Sans"/>
              <a:ea typeface="Plus Jakarta Sans"/>
              <a:cs typeface="Plus Jakarta Sans"/>
              <a:sym typeface="Plus Jakarta Sans"/>
            </a:endParaRPr>
          </a:p>
        </p:txBody>
      </p:sp>
      <p:pic>
        <p:nvPicPr>
          <p:cNvPr id="380" name="Google Shape;380;p2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81" name="Google Shape;381;p25"/>
          <p:cNvSpPr txBox="1"/>
          <p:nvPr/>
        </p:nvSpPr>
        <p:spPr>
          <a:xfrm>
            <a:off x="1962475" y="4017350"/>
            <a:ext cx="5220600" cy="845700"/>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“Kenapa Python?”</a:t>
            </a:r>
            <a:endParaRPr b="1" i="0" sz="1400" u="none" cap="none" strike="noStrike">
              <a:solidFill>
                <a:schemeClr val="dk2"/>
              </a:solidFill>
              <a:latin typeface="Arial"/>
              <a:ea typeface="Arial"/>
              <a:cs typeface="Arial"/>
              <a:sym typeface="Arial"/>
            </a:endParaRPr>
          </a:p>
        </p:txBody>
      </p:sp>
      <p:pic>
        <p:nvPicPr>
          <p:cNvPr id="382" name="Google Shape;382;p25" title="programming-languages-for-data-science-1-1024x576_PhotoGrid.png"/>
          <p:cNvPicPr preferRelativeResize="0"/>
          <p:nvPr/>
        </p:nvPicPr>
        <p:blipFill rotWithShape="1">
          <a:blip r:embed="rId4">
            <a:alphaModFix/>
          </a:blip>
          <a:srcRect b="0" l="0" r="0" t="0"/>
          <a:stretch/>
        </p:blipFill>
        <p:spPr>
          <a:xfrm>
            <a:off x="1836415" y="1283876"/>
            <a:ext cx="5472749" cy="307841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86" name="Shape 386"/>
        <p:cNvGrpSpPr/>
        <p:nvPr/>
      </p:nvGrpSpPr>
      <p:grpSpPr>
        <a:xfrm>
          <a:off x="0" y="0"/>
          <a:ext cx="0" cy="0"/>
          <a:chOff x="0" y="0"/>
          <a:chExt cx="0" cy="0"/>
        </a:xfrm>
      </p:grpSpPr>
      <p:sp>
        <p:nvSpPr>
          <p:cNvPr id="387" name="Google Shape;387;p26"/>
          <p:cNvSpPr txBox="1"/>
          <p:nvPr/>
        </p:nvSpPr>
        <p:spPr>
          <a:xfrm>
            <a:off x="457200" y="1121750"/>
            <a:ext cx="8358300" cy="4063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200"/>
              </a:spcBef>
              <a:spcAft>
                <a:spcPts val="0"/>
              </a:spcAft>
              <a:buClr>
                <a:srgbClr val="000000"/>
              </a:buClr>
              <a:buSzPts val="1100"/>
              <a:buFont typeface="Arial"/>
              <a:buNone/>
            </a:pPr>
            <a:r>
              <a:rPr b="0" i="0" lang="en-US" sz="1100" u="none" cap="none" strike="noStrike">
                <a:solidFill>
                  <a:schemeClr val="dk2"/>
                </a:solidFill>
                <a:latin typeface="Arial"/>
                <a:ea typeface="Arial"/>
                <a:cs typeface="Arial"/>
                <a:sym typeface="Arial"/>
              </a:rPr>
              <a:t>Python umum di dunia teknologi karena tiga pilar utama:</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1200"/>
              </a:spcBef>
              <a:spcAft>
                <a:spcPts val="0"/>
              </a:spcAft>
              <a:buClr>
                <a:schemeClr val="dk2"/>
              </a:buClr>
              <a:buSzPts val="1100"/>
              <a:buFont typeface="Arial"/>
              <a:buAutoNum type="arabicPeriod"/>
            </a:pPr>
            <a:r>
              <a:rPr b="1" i="0" lang="en-US" sz="1100" u="none" cap="none" strike="noStrike">
                <a:solidFill>
                  <a:schemeClr val="dk2"/>
                </a:solidFill>
                <a:latin typeface="Arial"/>
                <a:ea typeface="Arial"/>
                <a:cs typeface="Arial"/>
                <a:sym typeface="Arial"/>
              </a:rPr>
              <a:t>Kemudahan dan Kecepatan Pengembangan</a:t>
            </a:r>
            <a:endParaRPr b="1" i="0" sz="1100" u="none" cap="none" strike="noStrike">
              <a:solidFill>
                <a:schemeClr val="dk2"/>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100"/>
              <a:buFont typeface="Arial"/>
              <a:buNone/>
            </a:pPr>
            <a:r>
              <a:rPr b="0" i="0" lang="en-US" sz="1100" u="none" cap="none" strike="noStrike">
                <a:solidFill>
                  <a:schemeClr val="dk2"/>
                </a:solidFill>
                <a:latin typeface="Arial"/>
                <a:ea typeface="Arial"/>
                <a:cs typeface="Arial"/>
                <a:sym typeface="Arial"/>
              </a:rPr>
              <a:t>Sintaks Python yang mudah dibaca dan ringkas mengurangi waktu yang diperlukan untuk menulis, membaca, dan memelihara kode.</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0"/>
              </a:spcBef>
              <a:spcAft>
                <a:spcPts val="0"/>
              </a:spcAft>
              <a:buClr>
                <a:schemeClr val="dk2"/>
              </a:buClr>
              <a:buSzPts val="1100"/>
              <a:buFont typeface="Arial"/>
              <a:buAutoNum type="arabicPeriod"/>
            </a:pPr>
            <a:r>
              <a:rPr b="1" i="0" lang="en-US" sz="1100" u="none" cap="none" strike="noStrike">
                <a:solidFill>
                  <a:schemeClr val="dk2"/>
                </a:solidFill>
                <a:latin typeface="Arial"/>
                <a:ea typeface="Arial"/>
                <a:cs typeface="Arial"/>
                <a:sym typeface="Arial"/>
              </a:rPr>
              <a:t>Dukungan Komunitas dan Fleksibilitas</a:t>
            </a:r>
            <a:endParaRPr b="1" i="0" sz="1100" u="none" cap="none" strike="noStrike">
              <a:solidFill>
                <a:schemeClr val="dk2"/>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100"/>
              <a:buFont typeface="Arial"/>
              <a:buNone/>
            </a:pPr>
            <a:r>
              <a:rPr b="0" i="0" lang="en-US" sz="1100" u="none" cap="none" strike="noStrike">
                <a:solidFill>
                  <a:schemeClr val="dk2"/>
                </a:solidFill>
                <a:latin typeface="Arial"/>
                <a:ea typeface="Arial"/>
                <a:cs typeface="Arial"/>
                <a:sym typeface="Arial"/>
              </a:rPr>
              <a:t>Python memiliki komunitas yang sangat aktif dan besar, yang berarti banyak sumber daya dan dukungan yang tersedia. Fleksibilitasnya memungkinkan Python berintegrasi dengan bahasa lain (seperti C++ dan Java) untuk performa tinggi, dan yang paling penting.</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0"/>
              </a:spcBef>
              <a:spcAft>
                <a:spcPts val="0"/>
              </a:spcAft>
              <a:buClr>
                <a:schemeClr val="dk2"/>
              </a:buClr>
              <a:buSzPts val="1100"/>
              <a:buFont typeface="Arial"/>
              <a:buAutoNum type="arabicPeriod"/>
            </a:pPr>
            <a:r>
              <a:rPr b="1" i="0" lang="en-US" sz="1100" u="none" cap="none" strike="noStrike">
                <a:solidFill>
                  <a:schemeClr val="dk2"/>
                </a:solidFill>
                <a:latin typeface="Arial"/>
                <a:ea typeface="Arial"/>
                <a:cs typeface="Arial"/>
                <a:sym typeface="Arial"/>
              </a:rPr>
              <a:t>Ekosistem Library yang Luas</a:t>
            </a:r>
            <a:endParaRPr b="1" i="0" sz="1100" u="none" cap="none" strike="noStrike">
              <a:solidFill>
                <a:schemeClr val="dk2"/>
              </a:solidFill>
              <a:latin typeface="Arial"/>
              <a:ea typeface="Arial"/>
              <a:cs typeface="Arial"/>
              <a:sym typeface="Arial"/>
            </a:endParaRPr>
          </a:p>
          <a:p>
            <a:pPr indent="0" lvl="0" marL="457200" marR="0" rtl="0" algn="l">
              <a:lnSpc>
                <a:spcPct val="150000"/>
              </a:lnSpc>
              <a:spcBef>
                <a:spcPts val="0"/>
              </a:spcBef>
              <a:spcAft>
                <a:spcPts val="0"/>
              </a:spcAft>
              <a:buClr>
                <a:srgbClr val="000000"/>
              </a:buClr>
              <a:buSzPts val="1100"/>
              <a:buFont typeface="Arial"/>
              <a:buNone/>
            </a:pPr>
            <a:r>
              <a:rPr b="0" i="0" lang="en-US" sz="1100" u="none" cap="none" strike="noStrike">
                <a:solidFill>
                  <a:schemeClr val="dk2"/>
                </a:solidFill>
                <a:latin typeface="Arial"/>
                <a:ea typeface="Arial"/>
                <a:cs typeface="Arial"/>
                <a:sym typeface="Arial"/>
              </a:rPr>
              <a:t>Ini adalah kekuatan terbesar Python. Untuk setiap masalah di bidang data, hampir pasti ada </a:t>
            </a:r>
            <a:r>
              <a:rPr b="0" i="1" lang="en-US" sz="1100" u="none" cap="none" strike="noStrike">
                <a:solidFill>
                  <a:schemeClr val="dk2"/>
                </a:solidFill>
                <a:latin typeface="Arial"/>
                <a:ea typeface="Arial"/>
                <a:cs typeface="Arial"/>
                <a:sym typeface="Arial"/>
              </a:rPr>
              <a:t>library</a:t>
            </a:r>
            <a:r>
              <a:rPr b="0" i="0" lang="en-US" sz="1100" u="none" cap="none" strike="noStrike">
                <a:solidFill>
                  <a:schemeClr val="dk2"/>
                </a:solidFill>
                <a:latin typeface="Arial"/>
                <a:ea typeface="Arial"/>
                <a:cs typeface="Arial"/>
                <a:sym typeface="Arial"/>
              </a:rPr>
              <a:t> Python yang bisa menyelesaikannya.</a:t>
            </a:r>
            <a:endParaRPr b="0"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1" i="0" lang="en-US" sz="1100" u="none" cap="none" strike="noStrike">
                <a:solidFill>
                  <a:schemeClr val="dk2"/>
                </a:solidFill>
                <a:latin typeface="Arial"/>
                <a:ea typeface="Arial"/>
                <a:cs typeface="Arial"/>
                <a:sym typeface="Arial"/>
              </a:rPr>
              <a:t>Untuk AI &amp; ML:</a:t>
            </a:r>
            <a:r>
              <a:rPr b="0" i="0" lang="en-US" sz="1100" u="none" cap="none" strike="noStrike">
                <a:solidFill>
                  <a:schemeClr val="dk2"/>
                </a:solidFill>
                <a:latin typeface="Arial"/>
                <a:ea typeface="Arial"/>
                <a:cs typeface="Arial"/>
                <a:sym typeface="Arial"/>
              </a:rPr>
              <a:t> Ada </a:t>
            </a:r>
            <a:r>
              <a:rPr b="1" i="0" lang="en-US" sz="1100" u="none" cap="none" strike="noStrike">
                <a:solidFill>
                  <a:schemeClr val="dk2"/>
                </a:solidFill>
                <a:latin typeface="Arial"/>
                <a:ea typeface="Arial"/>
                <a:cs typeface="Arial"/>
                <a:sym typeface="Arial"/>
              </a:rPr>
              <a:t>Scikit-learn</a:t>
            </a:r>
            <a:r>
              <a:rPr b="0" i="0" lang="en-US" sz="1100" u="none" cap="none" strike="noStrike">
                <a:solidFill>
                  <a:schemeClr val="dk2"/>
                </a:solidFill>
                <a:latin typeface="Arial"/>
                <a:ea typeface="Arial"/>
                <a:cs typeface="Arial"/>
                <a:sym typeface="Arial"/>
              </a:rPr>
              <a:t> (untuk model ML klasik), </a:t>
            </a:r>
            <a:r>
              <a:rPr b="1" i="0" lang="en-US" sz="1100" u="none" cap="none" strike="noStrike">
                <a:solidFill>
                  <a:schemeClr val="dk2"/>
                </a:solidFill>
                <a:latin typeface="Arial"/>
                <a:ea typeface="Arial"/>
                <a:cs typeface="Arial"/>
                <a:sym typeface="Arial"/>
              </a:rPr>
              <a:t>TensorFlow</a:t>
            </a:r>
            <a:r>
              <a:rPr b="0" i="0" lang="en-US" sz="1100" u="none" cap="none" strike="noStrike">
                <a:solidFill>
                  <a:schemeClr val="dk2"/>
                </a:solidFill>
                <a:latin typeface="Arial"/>
                <a:ea typeface="Arial"/>
                <a:cs typeface="Arial"/>
                <a:sym typeface="Arial"/>
              </a:rPr>
              <a:t> dan </a:t>
            </a:r>
            <a:r>
              <a:rPr b="1" i="0" lang="en-US" sz="1100" u="none" cap="none" strike="noStrike">
                <a:solidFill>
                  <a:schemeClr val="dk2"/>
                </a:solidFill>
                <a:latin typeface="Arial"/>
                <a:ea typeface="Arial"/>
                <a:cs typeface="Arial"/>
                <a:sym typeface="Arial"/>
              </a:rPr>
              <a:t>PyTorch</a:t>
            </a:r>
            <a:r>
              <a:rPr b="0" i="0" lang="en-US" sz="1100" u="none" cap="none" strike="noStrike">
                <a:solidFill>
                  <a:schemeClr val="dk2"/>
                </a:solidFill>
                <a:latin typeface="Arial"/>
                <a:ea typeface="Arial"/>
                <a:cs typeface="Arial"/>
                <a:sym typeface="Arial"/>
              </a:rPr>
              <a:t> (untuk </a:t>
            </a:r>
            <a:r>
              <a:rPr b="0" i="1" lang="en-US" sz="1100" u="none" cap="none" strike="noStrike">
                <a:solidFill>
                  <a:schemeClr val="dk2"/>
                </a:solidFill>
                <a:latin typeface="Arial"/>
                <a:ea typeface="Arial"/>
                <a:cs typeface="Arial"/>
                <a:sym typeface="Arial"/>
              </a:rPr>
              <a:t>deep learning</a:t>
            </a:r>
            <a:r>
              <a:rPr b="0" i="0" lang="en-US" sz="1100" u="none" cap="none" strike="noStrike">
                <a:solidFill>
                  <a:schemeClr val="dk2"/>
                </a:solidFill>
                <a:latin typeface="Arial"/>
                <a:ea typeface="Arial"/>
                <a:cs typeface="Arial"/>
                <a:sym typeface="Arial"/>
              </a:rPr>
              <a:t> dan jaringan saraf tiruan / Neural Network), dan </a:t>
            </a:r>
            <a:r>
              <a:rPr b="1" i="0" lang="en-US" sz="1100" u="none" cap="none" strike="noStrike">
                <a:solidFill>
                  <a:schemeClr val="dk2"/>
                </a:solidFill>
                <a:latin typeface="Arial"/>
                <a:ea typeface="Arial"/>
                <a:cs typeface="Arial"/>
                <a:sym typeface="Arial"/>
              </a:rPr>
              <a:t>NLTK</a:t>
            </a:r>
            <a:r>
              <a:rPr b="0" i="0" lang="en-US" sz="1100" u="none" cap="none" strike="noStrike">
                <a:solidFill>
                  <a:schemeClr val="dk2"/>
                </a:solidFill>
                <a:latin typeface="Arial"/>
                <a:ea typeface="Arial"/>
                <a:cs typeface="Arial"/>
                <a:sym typeface="Arial"/>
              </a:rPr>
              <a:t> (untuk pemrosesan bahasa alami / NLP).</a:t>
            </a:r>
            <a:endParaRPr b="0"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1" i="0" lang="en-US" sz="1100" u="none" cap="none" strike="noStrike">
                <a:solidFill>
                  <a:schemeClr val="dk2"/>
                </a:solidFill>
                <a:latin typeface="Arial"/>
                <a:ea typeface="Arial"/>
                <a:cs typeface="Arial"/>
                <a:sym typeface="Arial"/>
              </a:rPr>
              <a:t>Untuk Data Analisis:</a:t>
            </a:r>
            <a:r>
              <a:rPr b="0" i="0" lang="en-US" sz="1100" u="none" cap="none" strike="noStrike">
                <a:solidFill>
                  <a:schemeClr val="dk2"/>
                </a:solidFill>
                <a:latin typeface="Arial"/>
                <a:ea typeface="Arial"/>
                <a:cs typeface="Arial"/>
                <a:sym typeface="Arial"/>
              </a:rPr>
              <a:t> Ada </a:t>
            </a:r>
            <a:r>
              <a:rPr b="1" i="0" lang="en-US" sz="1100" u="none" cap="none" strike="noStrike">
                <a:solidFill>
                  <a:schemeClr val="dk2"/>
                </a:solidFill>
                <a:latin typeface="Arial"/>
                <a:ea typeface="Arial"/>
                <a:cs typeface="Arial"/>
                <a:sym typeface="Arial"/>
              </a:rPr>
              <a:t>Pandas</a:t>
            </a:r>
            <a:r>
              <a:rPr b="0" i="0" lang="en-US" sz="1100" u="none" cap="none" strike="noStrike">
                <a:solidFill>
                  <a:schemeClr val="dk2"/>
                </a:solidFill>
                <a:latin typeface="Arial"/>
                <a:ea typeface="Arial"/>
                <a:cs typeface="Arial"/>
                <a:sym typeface="Arial"/>
              </a:rPr>
              <a:t> (untuk manipulasi data) dan </a:t>
            </a:r>
            <a:r>
              <a:rPr b="1" i="0" lang="en-US" sz="1100" u="none" cap="none" strike="noStrike">
                <a:solidFill>
                  <a:schemeClr val="dk2"/>
                </a:solidFill>
                <a:latin typeface="Arial"/>
                <a:ea typeface="Arial"/>
                <a:cs typeface="Arial"/>
                <a:sym typeface="Arial"/>
              </a:rPr>
              <a:t>NumPy</a:t>
            </a:r>
            <a:r>
              <a:rPr b="0" i="0" lang="en-US" sz="1100" u="none" cap="none" strike="noStrike">
                <a:solidFill>
                  <a:schemeClr val="dk2"/>
                </a:solidFill>
                <a:latin typeface="Arial"/>
                <a:ea typeface="Arial"/>
                <a:cs typeface="Arial"/>
                <a:sym typeface="Arial"/>
              </a:rPr>
              <a:t> (untuk komputasi numerik).</a:t>
            </a:r>
            <a:endParaRPr b="0"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1" i="0" lang="en-US" sz="1100" u="none" cap="none" strike="noStrike">
                <a:solidFill>
                  <a:schemeClr val="dk2"/>
                </a:solidFill>
                <a:latin typeface="Arial"/>
                <a:ea typeface="Arial"/>
                <a:cs typeface="Arial"/>
                <a:sym typeface="Arial"/>
              </a:rPr>
              <a:t>Untuk Visualisasi:</a:t>
            </a:r>
            <a:r>
              <a:rPr b="0" i="0" lang="en-US" sz="1100" u="none" cap="none" strike="noStrike">
                <a:solidFill>
                  <a:schemeClr val="dk2"/>
                </a:solidFill>
                <a:latin typeface="Arial"/>
                <a:ea typeface="Arial"/>
                <a:cs typeface="Arial"/>
                <a:sym typeface="Arial"/>
              </a:rPr>
              <a:t> Ada </a:t>
            </a:r>
            <a:r>
              <a:rPr b="1" i="0" lang="en-US" sz="1100" u="none" cap="none" strike="noStrike">
                <a:solidFill>
                  <a:schemeClr val="dk2"/>
                </a:solidFill>
                <a:latin typeface="Arial"/>
                <a:ea typeface="Arial"/>
                <a:cs typeface="Arial"/>
                <a:sym typeface="Arial"/>
              </a:rPr>
              <a:t>Matplotlib</a:t>
            </a:r>
            <a:r>
              <a:rPr b="0" i="0" lang="en-US" sz="1100" u="none" cap="none" strike="noStrike">
                <a:solidFill>
                  <a:schemeClr val="dk2"/>
                </a:solidFill>
                <a:latin typeface="Arial"/>
                <a:ea typeface="Arial"/>
                <a:cs typeface="Arial"/>
                <a:sym typeface="Arial"/>
              </a:rPr>
              <a:t> dan </a:t>
            </a:r>
            <a:r>
              <a:rPr b="1" i="0" lang="en-US" sz="1100" u="none" cap="none" strike="noStrike">
                <a:solidFill>
                  <a:schemeClr val="dk2"/>
                </a:solidFill>
                <a:latin typeface="Arial"/>
                <a:ea typeface="Arial"/>
                <a:cs typeface="Arial"/>
                <a:sym typeface="Arial"/>
              </a:rPr>
              <a:t>Seaborn</a:t>
            </a:r>
            <a:r>
              <a:rPr b="0" i="0" lang="en-US" sz="1100" u="none" cap="none" strike="noStrike">
                <a:solidFill>
                  <a:schemeClr val="dk2"/>
                </a:solidFill>
                <a:latin typeface="Arial"/>
                <a:ea typeface="Arial"/>
                <a:cs typeface="Arial"/>
                <a:sym typeface="Arial"/>
              </a:rPr>
              <a:t> (untuk membuat grafik yang informatif).</a:t>
            </a:r>
            <a:endParaRPr b="0" i="0" sz="1100" u="none" cap="none" strike="noStrike">
              <a:solidFill>
                <a:schemeClr val="dk2"/>
              </a:solidFill>
              <a:latin typeface="Arial"/>
              <a:ea typeface="Arial"/>
              <a:cs typeface="Arial"/>
              <a:sym typeface="Arial"/>
            </a:endParaRPr>
          </a:p>
        </p:txBody>
      </p:sp>
      <p:sp>
        <p:nvSpPr>
          <p:cNvPr id="388" name="Google Shape;388;p26"/>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Kenapa Python?</a:t>
            </a:r>
            <a:endParaRPr b="1" i="0" sz="3600" u="none" cap="none" strike="noStrike">
              <a:solidFill>
                <a:srgbClr val="48A8C4"/>
              </a:solidFill>
              <a:latin typeface="Plus Jakarta Sans"/>
              <a:ea typeface="Plus Jakarta Sans"/>
              <a:cs typeface="Plus Jakarta Sans"/>
              <a:sym typeface="Plus Jakarta Sans"/>
            </a:endParaRPr>
          </a:p>
        </p:txBody>
      </p:sp>
      <p:pic>
        <p:nvPicPr>
          <p:cNvPr id="389" name="Google Shape;389;p26"/>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393" name="Shape 393"/>
        <p:cNvGrpSpPr/>
        <p:nvPr/>
      </p:nvGrpSpPr>
      <p:grpSpPr>
        <a:xfrm>
          <a:off x="0" y="0"/>
          <a:ext cx="0" cy="0"/>
          <a:chOff x="0" y="0"/>
          <a:chExt cx="0" cy="0"/>
        </a:xfrm>
      </p:grpSpPr>
      <p:sp>
        <p:nvSpPr>
          <p:cNvPr id="394" name="Google Shape;394;p27"/>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Kenapa Python?</a:t>
            </a:r>
            <a:endParaRPr b="1" i="0" sz="3600" u="none" cap="none" strike="noStrike">
              <a:solidFill>
                <a:srgbClr val="48A8C4"/>
              </a:solidFill>
              <a:latin typeface="Plus Jakarta Sans"/>
              <a:ea typeface="Plus Jakarta Sans"/>
              <a:cs typeface="Plus Jakarta Sans"/>
              <a:sym typeface="Plus Jakarta Sans"/>
            </a:endParaRPr>
          </a:p>
        </p:txBody>
      </p:sp>
      <p:pic>
        <p:nvPicPr>
          <p:cNvPr id="395" name="Google Shape;395;p2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396" name="Google Shape;396;p27"/>
          <p:cNvSpPr txBox="1"/>
          <p:nvPr/>
        </p:nvSpPr>
        <p:spPr>
          <a:xfrm>
            <a:off x="1962475" y="1121750"/>
            <a:ext cx="5220600" cy="374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3000" u="none" cap="none" strike="noStrike">
                <a:solidFill>
                  <a:schemeClr val="dk2"/>
                </a:solidFill>
                <a:latin typeface="Arial"/>
                <a:ea typeface="Arial"/>
                <a:cs typeface="Arial"/>
                <a:sym typeface="Arial"/>
              </a:rPr>
              <a:t>Mudah</a:t>
            </a:r>
            <a:endParaRPr b="1" i="0" sz="30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1" i="0" sz="30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US" sz="2000" u="none" cap="none" strike="noStrike">
                <a:solidFill>
                  <a:schemeClr val="dk2"/>
                </a:solidFill>
                <a:latin typeface="Arial"/>
                <a:ea typeface="Arial"/>
                <a:cs typeface="Arial"/>
                <a:sym typeface="Arial"/>
              </a:rPr>
              <a:t>Komunitasnya Besar</a:t>
            </a:r>
            <a:endParaRPr b="1" i="0" sz="20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1" i="0" sz="30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dk2"/>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Banyak library penunjang</a:t>
            </a:r>
            <a:endParaRPr b="1" i="0" sz="1400" u="none" cap="none" strike="noStrike">
              <a:solidFill>
                <a:schemeClr val="dk2"/>
              </a:solidFill>
              <a:latin typeface="Arial"/>
              <a:ea typeface="Arial"/>
              <a:cs typeface="Arial"/>
              <a:sym typeface="Arial"/>
            </a:endParaRPr>
          </a:p>
        </p:txBody>
      </p:sp>
      <p:sp>
        <p:nvSpPr>
          <p:cNvPr id="397" name="Google Shape;397;p27"/>
          <p:cNvSpPr/>
          <p:nvPr/>
        </p:nvSpPr>
        <p:spPr>
          <a:xfrm>
            <a:off x="4418050" y="2359300"/>
            <a:ext cx="311100" cy="428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p27"/>
          <p:cNvSpPr/>
          <p:nvPr/>
        </p:nvSpPr>
        <p:spPr>
          <a:xfrm>
            <a:off x="4417225" y="3396775"/>
            <a:ext cx="311100" cy="4281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27"/>
          <p:cNvSpPr/>
          <p:nvPr/>
        </p:nvSpPr>
        <p:spPr>
          <a:xfrm rot="-5400000">
            <a:off x="5193625" y="2600125"/>
            <a:ext cx="2314800" cy="868800"/>
          </a:xfrm>
          <a:prstGeom prst="curvedUp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27"/>
          <p:cNvSpPr/>
          <p:nvPr/>
        </p:nvSpPr>
        <p:spPr>
          <a:xfrm flipH="1" rot="5400000">
            <a:off x="1637125" y="2600125"/>
            <a:ext cx="2314800" cy="868800"/>
          </a:xfrm>
          <a:prstGeom prst="curvedUp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04" name="Shape 404"/>
        <p:cNvGrpSpPr/>
        <p:nvPr/>
      </p:nvGrpSpPr>
      <p:grpSpPr>
        <a:xfrm>
          <a:off x="0" y="0"/>
          <a:ext cx="0" cy="0"/>
          <a:chOff x="0" y="0"/>
          <a:chExt cx="0" cy="0"/>
        </a:xfrm>
      </p:grpSpPr>
      <p:sp>
        <p:nvSpPr>
          <p:cNvPr id="405" name="Google Shape;405;p28"/>
          <p:cNvSpPr txBox="1"/>
          <p:nvPr>
            <p:ph type="ctrTitle"/>
          </p:nvPr>
        </p:nvSpPr>
        <p:spPr>
          <a:xfrm>
            <a:off x="4863675" y="3098975"/>
            <a:ext cx="4281900" cy="838200"/>
          </a:xfrm>
          <a:prstGeom prst="rect">
            <a:avLst/>
          </a:prstGeom>
          <a:noFill/>
          <a:ln>
            <a:noFill/>
          </a:ln>
        </p:spPr>
        <p:txBody>
          <a:bodyPr anchorCtr="0" anchor="b" bIns="91450" lIns="91450" spcFirstLastPara="1" rIns="91450" wrap="square" tIns="91450">
            <a:normAutofit/>
          </a:bodyPr>
          <a:lstStyle/>
          <a:p>
            <a:pPr indent="0" lvl="0" marL="0" rtl="0" algn="l">
              <a:lnSpc>
                <a:spcPct val="85000"/>
              </a:lnSpc>
              <a:spcBef>
                <a:spcPts val="0"/>
              </a:spcBef>
              <a:spcAft>
                <a:spcPts val="0"/>
              </a:spcAft>
              <a:buSzPts val="5778"/>
              <a:buNone/>
            </a:pPr>
            <a:r>
              <a:rPr b="1" lang="en-US" sz="4800">
                <a:latin typeface="Plus Jakarta Sans"/>
                <a:ea typeface="Plus Jakarta Sans"/>
                <a:cs typeface="Plus Jakarta Sans"/>
                <a:sym typeface="Plus Jakarta Sans"/>
              </a:rPr>
              <a:t>Pertanyaan?</a:t>
            </a:r>
            <a:endParaRPr b="1" sz="4800">
              <a:latin typeface="Plus Jakarta Sans"/>
              <a:ea typeface="Plus Jakarta Sans"/>
              <a:cs typeface="Plus Jakarta Sans"/>
              <a:sym typeface="Plus Jakarta Sans"/>
            </a:endParaRPr>
          </a:p>
        </p:txBody>
      </p:sp>
      <p:grpSp>
        <p:nvGrpSpPr>
          <p:cNvPr id="406" name="Google Shape;406;p28"/>
          <p:cNvGrpSpPr/>
          <p:nvPr/>
        </p:nvGrpSpPr>
        <p:grpSpPr>
          <a:xfrm>
            <a:off x="160" y="-214211"/>
            <a:ext cx="2765532" cy="2691752"/>
            <a:chOff x="9584423" y="-302695"/>
            <a:chExt cx="4822201" cy="4822201"/>
          </a:xfrm>
        </p:grpSpPr>
        <p:sp>
          <p:nvSpPr>
            <p:cNvPr id="407" name="Google Shape;407;p28"/>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8" name="Google Shape;408;p28"/>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9" name="Google Shape;409;p28"/>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10" name="Google Shape;410;p28"/>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411" name="Google Shape;411;p28"/>
          <p:cNvGrpSpPr/>
          <p:nvPr/>
        </p:nvGrpSpPr>
        <p:grpSpPr>
          <a:xfrm>
            <a:off x="-840830" y="1116257"/>
            <a:ext cx="5795400" cy="5795400"/>
            <a:chOff x="4094945" y="667082"/>
            <a:chExt cx="5795400" cy="5795400"/>
          </a:xfrm>
        </p:grpSpPr>
        <p:sp>
          <p:nvSpPr>
            <p:cNvPr id="412" name="Google Shape;412;p28"/>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13" name="Google Shape;413;p28"/>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14" name="Google Shape;414;p28"/>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15" name="Google Shape;415;p28"/>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416" name="Google Shape;416;p28"/>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420" name="Shape 420"/>
        <p:cNvGrpSpPr/>
        <p:nvPr/>
      </p:nvGrpSpPr>
      <p:grpSpPr>
        <a:xfrm>
          <a:off x="0" y="0"/>
          <a:ext cx="0" cy="0"/>
          <a:chOff x="0" y="0"/>
          <a:chExt cx="0" cy="0"/>
        </a:xfrm>
      </p:grpSpPr>
      <p:sp>
        <p:nvSpPr>
          <p:cNvPr id="421" name="Google Shape;421;p29"/>
          <p:cNvSpPr txBox="1"/>
          <p:nvPr>
            <p:ph type="ctrTitle"/>
          </p:nvPr>
        </p:nvSpPr>
        <p:spPr>
          <a:xfrm>
            <a:off x="336100" y="2352200"/>
            <a:ext cx="84750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990"/>
              <a:buNone/>
            </a:pPr>
            <a:r>
              <a:rPr b="1" lang="en-US" sz="3420">
                <a:solidFill>
                  <a:schemeClr val="lt1"/>
                </a:solidFill>
                <a:latin typeface="Plus Jakarta Sans"/>
                <a:ea typeface="Plus Jakarta Sans"/>
                <a:cs typeface="Plus Jakarta Sans"/>
                <a:sym typeface="Plus Jakarta Sans"/>
              </a:rPr>
              <a:t>It’s Kahoot Time..</a:t>
            </a:r>
            <a:endParaRPr b="1" sz="3420">
              <a:solidFill>
                <a:schemeClr val="lt1"/>
              </a:solidFill>
              <a:latin typeface="Plus Jakarta Sans"/>
              <a:ea typeface="Plus Jakarta Sans"/>
              <a:cs typeface="Plus Jakarta Sans"/>
              <a:sym typeface="Plus Jakarta Sans"/>
            </a:endParaRPr>
          </a:p>
        </p:txBody>
      </p:sp>
      <p:pic>
        <p:nvPicPr>
          <p:cNvPr id="422" name="Google Shape;422;p29"/>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26" name="Shape 426"/>
        <p:cNvGrpSpPr/>
        <p:nvPr/>
      </p:nvGrpSpPr>
      <p:grpSpPr>
        <a:xfrm>
          <a:off x="0" y="0"/>
          <a:ext cx="0" cy="0"/>
          <a:chOff x="0" y="0"/>
          <a:chExt cx="0" cy="0"/>
        </a:xfrm>
      </p:grpSpPr>
      <p:sp>
        <p:nvSpPr>
          <p:cNvPr id="427" name="Google Shape;427;p30"/>
          <p:cNvSpPr/>
          <p:nvPr/>
        </p:nvSpPr>
        <p:spPr>
          <a:xfrm rot="-1974178">
            <a:off x="5877363" y="793656"/>
            <a:ext cx="1120545" cy="1120545"/>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8" name="Google Shape;428;p30"/>
          <p:cNvSpPr/>
          <p:nvPr/>
        </p:nvSpPr>
        <p:spPr>
          <a:xfrm rot="-4242470">
            <a:off x="6617651" y="1042306"/>
            <a:ext cx="2301858" cy="2301858"/>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29" name="Google Shape;429;p30"/>
          <p:cNvSpPr/>
          <p:nvPr/>
        </p:nvSpPr>
        <p:spPr>
          <a:xfrm rot="-3576382">
            <a:off x="5139692" y="2219687"/>
            <a:ext cx="3914117" cy="3914117"/>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430" name="Google Shape;430;p30"/>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431" name="Google Shape;431;p30"/>
          <p:cNvSpPr txBox="1"/>
          <p:nvPr>
            <p:ph type="ctrTitle"/>
          </p:nvPr>
        </p:nvSpPr>
        <p:spPr>
          <a:xfrm>
            <a:off x="520875" y="3237526"/>
            <a:ext cx="56052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1800"/>
              <a:buNone/>
            </a:pPr>
            <a:r>
              <a:rPr b="1" lang="en-US" sz="4800">
                <a:solidFill>
                  <a:srgbClr val="000000"/>
                </a:solidFill>
                <a:latin typeface="Plus Jakarta Sans"/>
                <a:ea typeface="Plus Jakarta Sans"/>
                <a:cs typeface="Plus Jakarta Sans"/>
                <a:sym typeface="Plus Jakarta Sans"/>
              </a:rPr>
              <a:t>Menjalankan Python</a:t>
            </a:r>
            <a:endParaRPr b="1" sz="4800">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35" name="Shape 435"/>
        <p:cNvGrpSpPr/>
        <p:nvPr/>
      </p:nvGrpSpPr>
      <p:grpSpPr>
        <a:xfrm>
          <a:off x="0" y="0"/>
          <a:ext cx="0" cy="0"/>
          <a:chOff x="0" y="0"/>
          <a:chExt cx="0" cy="0"/>
        </a:xfrm>
      </p:grpSpPr>
      <p:sp>
        <p:nvSpPr>
          <p:cNvPr id="436" name="Google Shape;436;p31"/>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Menjalankan Python</a:t>
            </a:r>
            <a:endParaRPr b="1" i="0" sz="3600" u="none" cap="none" strike="noStrike">
              <a:solidFill>
                <a:srgbClr val="48A8C4"/>
              </a:solidFill>
              <a:latin typeface="Plus Jakarta Sans"/>
              <a:ea typeface="Plus Jakarta Sans"/>
              <a:cs typeface="Plus Jakarta Sans"/>
              <a:sym typeface="Plus Jakarta Sans"/>
            </a:endParaRPr>
          </a:p>
        </p:txBody>
      </p:sp>
      <p:pic>
        <p:nvPicPr>
          <p:cNvPr id="437" name="Google Shape;437;p3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pic>
        <p:nvPicPr>
          <p:cNvPr id="438" name="Google Shape;438;p31" title="binder-50_PhotoGrid.png"/>
          <p:cNvPicPr preferRelativeResize="0"/>
          <p:nvPr/>
        </p:nvPicPr>
        <p:blipFill rotWithShape="1">
          <a:blip r:embed="rId4">
            <a:alphaModFix/>
          </a:blip>
          <a:srcRect b="0" l="2343" r="2343" t="0"/>
          <a:stretch/>
        </p:blipFill>
        <p:spPr>
          <a:xfrm>
            <a:off x="6128025" y="1913050"/>
            <a:ext cx="3013152" cy="2484701"/>
          </a:xfrm>
          <a:prstGeom prst="rect">
            <a:avLst/>
          </a:prstGeom>
          <a:noFill/>
          <a:ln>
            <a:noFill/>
          </a:ln>
        </p:spPr>
      </p:pic>
      <p:pic>
        <p:nvPicPr>
          <p:cNvPr id="439" name="Google Shape;439;p31" title="How-to-Run-a-Python-Script_PhotoGrid.png"/>
          <p:cNvPicPr preferRelativeResize="0"/>
          <p:nvPr/>
        </p:nvPicPr>
        <p:blipFill rotWithShape="1">
          <a:blip r:embed="rId5">
            <a:alphaModFix/>
          </a:blip>
          <a:srcRect b="0" l="0" r="33430" t="0"/>
          <a:stretch/>
        </p:blipFill>
        <p:spPr>
          <a:xfrm>
            <a:off x="3066200" y="1913050"/>
            <a:ext cx="3013152" cy="2484700"/>
          </a:xfrm>
          <a:prstGeom prst="rect">
            <a:avLst/>
          </a:prstGeom>
          <a:noFill/>
          <a:ln>
            <a:noFill/>
          </a:ln>
        </p:spPr>
      </p:pic>
      <p:pic>
        <p:nvPicPr>
          <p:cNvPr id="440" name="Google Shape;440;p31" title="unnamed_PhotoGrid.png"/>
          <p:cNvPicPr preferRelativeResize="0"/>
          <p:nvPr/>
        </p:nvPicPr>
        <p:blipFill rotWithShape="1">
          <a:blip r:embed="rId6">
            <a:alphaModFix/>
          </a:blip>
          <a:srcRect b="0" l="0" r="34853" t="0"/>
          <a:stretch/>
        </p:blipFill>
        <p:spPr>
          <a:xfrm>
            <a:off x="0" y="1913050"/>
            <a:ext cx="3017520" cy="2484697"/>
          </a:xfrm>
          <a:prstGeom prst="rect">
            <a:avLst/>
          </a:prstGeom>
          <a:noFill/>
          <a:ln>
            <a:noFill/>
          </a:ln>
        </p:spPr>
      </p:pic>
      <p:sp>
        <p:nvSpPr>
          <p:cNvPr id="441" name="Google Shape;441;p31"/>
          <p:cNvSpPr txBox="1"/>
          <p:nvPr/>
        </p:nvSpPr>
        <p:spPr>
          <a:xfrm>
            <a:off x="716600" y="1284150"/>
            <a:ext cx="1584300" cy="466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2"/>
                </a:solidFill>
                <a:latin typeface="Arial"/>
                <a:ea typeface="Arial"/>
                <a:cs typeface="Arial"/>
                <a:sym typeface="Arial"/>
              </a:rPr>
              <a:t>CLI</a:t>
            </a:r>
            <a:endParaRPr b="0" i="0" sz="1800" u="none" cap="none" strike="noStrike">
              <a:solidFill>
                <a:schemeClr val="dk2"/>
              </a:solidFill>
              <a:latin typeface="Arial"/>
              <a:ea typeface="Arial"/>
              <a:cs typeface="Arial"/>
              <a:sym typeface="Arial"/>
            </a:endParaRPr>
          </a:p>
        </p:txBody>
      </p:sp>
      <p:sp>
        <p:nvSpPr>
          <p:cNvPr id="442" name="Google Shape;442;p31"/>
          <p:cNvSpPr txBox="1"/>
          <p:nvPr/>
        </p:nvSpPr>
        <p:spPr>
          <a:xfrm>
            <a:off x="3780613" y="1284150"/>
            <a:ext cx="1584300" cy="466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2"/>
                </a:solidFill>
                <a:latin typeface="Arial"/>
                <a:ea typeface="Arial"/>
                <a:cs typeface="Arial"/>
                <a:sym typeface="Arial"/>
              </a:rPr>
              <a:t>Python Script</a:t>
            </a:r>
            <a:endParaRPr b="0" i="0" sz="1800" u="none" cap="none" strike="noStrike">
              <a:solidFill>
                <a:schemeClr val="dk2"/>
              </a:solidFill>
              <a:latin typeface="Arial"/>
              <a:ea typeface="Arial"/>
              <a:cs typeface="Arial"/>
              <a:sym typeface="Arial"/>
            </a:endParaRPr>
          </a:p>
        </p:txBody>
      </p:sp>
      <p:sp>
        <p:nvSpPr>
          <p:cNvPr id="443" name="Google Shape;443;p31"/>
          <p:cNvSpPr txBox="1"/>
          <p:nvPr/>
        </p:nvSpPr>
        <p:spPr>
          <a:xfrm>
            <a:off x="6844638" y="1284150"/>
            <a:ext cx="1584300" cy="466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2"/>
                </a:solidFill>
                <a:latin typeface="Arial"/>
                <a:ea typeface="Arial"/>
                <a:cs typeface="Arial"/>
                <a:sym typeface="Arial"/>
              </a:rPr>
              <a:t>Notebook</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47" name="Shape 447"/>
        <p:cNvGrpSpPr/>
        <p:nvPr/>
      </p:nvGrpSpPr>
      <p:grpSpPr>
        <a:xfrm>
          <a:off x="0" y="0"/>
          <a:ext cx="0" cy="0"/>
          <a:chOff x="0" y="0"/>
          <a:chExt cx="0" cy="0"/>
        </a:xfrm>
      </p:grpSpPr>
      <p:sp>
        <p:nvSpPr>
          <p:cNvPr id="448" name="Google Shape;448;p32"/>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Notebook</a:t>
            </a:r>
            <a:endParaRPr b="1" i="0" sz="3600" u="none" cap="none" strike="noStrike">
              <a:solidFill>
                <a:srgbClr val="48A8C4"/>
              </a:solidFill>
              <a:latin typeface="Plus Jakarta Sans"/>
              <a:ea typeface="Plus Jakarta Sans"/>
              <a:cs typeface="Plus Jakarta Sans"/>
              <a:sym typeface="Plus Jakarta Sans"/>
            </a:endParaRPr>
          </a:p>
        </p:txBody>
      </p:sp>
      <p:pic>
        <p:nvPicPr>
          <p:cNvPr id="449" name="Google Shape;449;p32"/>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pic>
        <p:nvPicPr>
          <p:cNvPr id="450" name="Google Shape;450;p32" title="Screenshot 2025-08-04 at 02.54.29.png"/>
          <p:cNvPicPr preferRelativeResize="0"/>
          <p:nvPr/>
        </p:nvPicPr>
        <p:blipFill rotWithShape="1">
          <a:blip r:embed="rId4">
            <a:alphaModFix/>
          </a:blip>
          <a:srcRect b="0" l="14935" r="10050" t="4887"/>
          <a:stretch/>
        </p:blipFill>
        <p:spPr>
          <a:xfrm>
            <a:off x="6128025" y="1913050"/>
            <a:ext cx="3013151" cy="2484699"/>
          </a:xfrm>
          <a:prstGeom prst="rect">
            <a:avLst/>
          </a:prstGeom>
          <a:noFill/>
          <a:ln>
            <a:noFill/>
          </a:ln>
        </p:spPr>
      </p:pic>
      <p:pic>
        <p:nvPicPr>
          <p:cNvPr id="451" name="Google Shape;451;p32" title="colab-terminal-link_PhotoGrid.png"/>
          <p:cNvPicPr preferRelativeResize="0"/>
          <p:nvPr/>
        </p:nvPicPr>
        <p:blipFill rotWithShape="1">
          <a:blip r:embed="rId5">
            <a:alphaModFix/>
          </a:blip>
          <a:srcRect b="9882" l="2953" r="2953" t="2581"/>
          <a:stretch/>
        </p:blipFill>
        <p:spPr>
          <a:xfrm>
            <a:off x="3066200" y="1913050"/>
            <a:ext cx="3013151" cy="2484697"/>
          </a:xfrm>
          <a:prstGeom prst="rect">
            <a:avLst/>
          </a:prstGeom>
          <a:noFill/>
          <a:ln>
            <a:noFill/>
          </a:ln>
        </p:spPr>
      </p:pic>
      <p:pic>
        <p:nvPicPr>
          <p:cNvPr id="452" name="Google Shape;452;p32" title="binder-50_PhotoGrid.png"/>
          <p:cNvPicPr preferRelativeResize="0"/>
          <p:nvPr/>
        </p:nvPicPr>
        <p:blipFill rotWithShape="1">
          <a:blip r:embed="rId6">
            <a:alphaModFix/>
          </a:blip>
          <a:srcRect b="0" l="2270" r="2279" t="0"/>
          <a:stretch/>
        </p:blipFill>
        <p:spPr>
          <a:xfrm>
            <a:off x="0" y="1913050"/>
            <a:ext cx="3017520" cy="2484697"/>
          </a:xfrm>
          <a:prstGeom prst="rect">
            <a:avLst/>
          </a:prstGeom>
          <a:noFill/>
          <a:ln>
            <a:noFill/>
          </a:ln>
        </p:spPr>
      </p:pic>
      <p:sp>
        <p:nvSpPr>
          <p:cNvPr id="453" name="Google Shape;453;p32"/>
          <p:cNvSpPr txBox="1"/>
          <p:nvPr/>
        </p:nvSpPr>
        <p:spPr>
          <a:xfrm>
            <a:off x="716600" y="1284150"/>
            <a:ext cx="1584300" cy="466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2"/>
                </a:solidFill>
                <a:latin typeface="Arial"/>
                <a:ea typeface="Arial"/>
                <a:cs typeface="Arial"/>
                <a:sym typeface="Arial"/>
              </a:rPr>
              <a:t>Jupyter</a:t>
            </a:r>
            <a:endParaRPr b="0" i="0" sz="1800" u="none" cap="none" strike="noStrike">
              <a:solidFill>
                <a:schemeClr val="dk2"/>
              </a:solidFill>
              <a:latin typeface="Arial"/>
              <a:ea typeface="Arial"/>
              <a:cs typeface="Arial"/>
              <a:sym typeface="Arial"/>
            </a:endParaRPr>
          </a:p>
        </p:txBody>
      </p:sp>
      <p:sp>
        <p:nvSpPr>
          <p:cNvPr id="454" name="Google Shape;454;p32"/>
          <p:cNvSpPr txBox="1"/>
          <p:nvPr/>
        </p:nvSpPr>
        <p:spPr>
          <a:xfrm>
            <a:off x="3780613" y="1284150"/>
            <a:ext cx="1584300" cy="466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2"/>
                </a:solidFill>
                <a:latin typeface="Arial"/>
                <a:ea typeface="Arial"/>
                <a:cs typeface="Arial"/>
                <a:sym typeface="Arial"/>
              </a:rPr>
              <a:t>Google Colab</a:t>
            </a:r>
            <a:endParaRPr b="0" i="0" sz="1800" u="none" cap="none" strike="noStrike">
              <a:solidFill>
                <a:schemeClr val="dk2"/>
              </a:solidFill>
              <a:latin typeface="Arial"/>
              <a:ea typeface="Arial"/>
              <a:cs typeface="Arial"/>
              <a:sym typeface="Arial"/>
            </a:endParaRPr>
          </a:p>
        </p:txBody>
      </p:sp>
      <p:sp>
        <p:nvSpPr>
          <p:cNvPr id="455" name="Google Shape;455;p32"/>
          <p:cNvSpPr txBox="1"/>
          <p:nvPr/>
        </p:nvSpPr>
        <p:spPr>
          <a:xfrm>
            <a:off x="6844638" y="1284150"/>
            <a:ext cx="1584300" cy="466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2"/>
                </a:solidFill>
                <a:latin typeface="Arial"/>
                <a:ea typeface="Arial"/>
                <a:cs typeface="Arial"/>
                <a:sym typeface="Arial"/>
              </a:rPr>
              <a:t>VSCode</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59" name="Shape 459"/>
        <p:cNvGrpSpPr/>
        <p:nvPr/>
      </p:nvGrpSpPr>
      <p:grpSpPr>
        <a:xfrm>
          <a:off x="0" y="0"/>
          <a:ext cx="0" cy="0"/>
          <a:chOff x="0" y="0"/>
          <a:chExt cx="0" cy="0"/>
        </a:xfrm>
      </p:grpSpPr>
      <p:sp>
        <p:nvSpPr>
          <p:cNvPr id="460" name="Google Shape;460;p33"/>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Notebook</a:t>
            </a:r>
            <a:endParaRPr b="1" i="0" sz="3600" u="none" cap="none" strike="noStrike">
              <a:solidFill>
                <a:srgbClr val="48A8C4"/>
              </a:solidFill>
              <a:latin typeface="Plus Jakarta Sans"/>
              <a:ea typeface="Plus Jakarta Sans"/>
              <a:cs typeface="Plus Jakarta Sans"/>
              <a:sym typeface="Plus Jakarta Sans"/>
            </a:endParaRPr>
          </a:p>
        </p:txBody>
      </p:sp>
      <p:pic>
        <p:nvPicPr>
          <p:cNvPr id="461" name="Google Shape;461;p3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462" name="Google Shape;462;p33"/>
          <p:cNvSpPr txBox="1"/>
          <p:nvPr/>
        </p:nvSpPr>
        <p:spPr>
          <a:xfrm>
            <a:off x="716600" y="1284150"/>
            <a:ext cx="1584300" cy="466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2"/>
                </a:solidFill>
                <a:latin typeface="Arial"/>
                <a:ea typeface="Arial"/>
                <a:cs typeface="Arial"/>
                <a:sym typeface="Arial"/>
              </a:rPr>
              <a:t>Jupyter</a:t>
            </a:r>
            <a:endParaRPr b="0" i="0" sz="1800" u="none" cap="none" strike="noStrike">
              <a:solidFill>
                <a:schemeClr val="dk2"/>
              </a:solidFill>
              <a:latin typeface="Arial"/>
              <a:ea typeface="Arial"/>
              <a:cs typeface="Arial"/>
              <a:sym typeface="Arial"/>
            </a:endParaRPr>
          </a:p>
        </p:txBody>
      </p:sp>
      <p:sp>
        <p:nvSpPr>
          <p:cNvPr id="463" name="Google Shape;463;p33"/>
          <p:cNvSpPr txBox="1"/>
          <p:nvPr/>
        </p:nvSpPr>
        <p:spPr>
          <a:xfrm>
            <a:off x="3780613" y="1284150"/>
            <a:ext cx="1584300" cy="466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2"/>
                </a:solidFill>
                <a:latin typeface="Arial"/>
                <a:ea typeface="Arial"/>
                <a:cs typeface="Arial"/>
                <a:sym typeface="Arial"/>
              </a:rPr>
              <a:t>Google Colab</a:t>
            </a:r>
            <a:endParaRPr b="0" i="0" sz="1800" u="none" cap="none" strike="noStrike">
              <a:solidFill>
                <a:schemeClr val="dk2"/>
              </a:solidFill>
              <a:latin typeface="Arial"/>
              <a:ea typeface="Arial"/>
              <a:cs typeface="Arial"/>
              <a:sym typeface="Arial"/>
            </a:endParaRPr>
          </a:p>
        </p:txBody>
      </p:sp>
      <p:sp>
        <p:nvSpPr>
          <p:cNvPr id="464" name="Google Shape;464;p33"/>
          <p:cNvSpPr txBox="1"/>
          <p:nvPr/>
        </p:nvSpPr>
        <p:spPr>
          <a:xfrm>
            <a:off x="6844638" y="1284150"/>
            <a:ext cx="1584300" cy="466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2"/>
                </a:solidFill>
                <a:latin typeface="Arial"/>
                <a:ea typeface="Arial"/>
                <a:cs typeface="Arial"/>
                <a:sym typeface="Arial"/>
              </a:rPr>
              <a:t>VSCode</a:t>
            </a:r>
            <a:endParaRPr b="0" i="0" sz="1800" u="none" cap="none" strike="noStrike">
              <a:solidFill>
                <a:schemeClr val="dk2"/>
              </a:solidFill>
              <a:latin typeface="Arial"/>
              <a:ea typeface="Arial"/>
              <a:cs typeface="Arial"/>
              <a:sym typeface="Arial"/>
            </a:endParaRPr>
          </a:p>
        </p:txBody>
      </p:sp>
      <p:cxnSp>
        <p:nvCxnSpPr>
          <p:cNvPr id="465" name="Google Shape;465;p33"/>
          <p:cNvCxnSpPr/>
          <p:nvPr/>
        </p:nvCxnSpPr>
        <p:spPr>
          <a:xfrm>
            <a:off x="3047401" y="1750650"/>
            <a:ext cx="0" cy="3045600"/>
          </a:xfrm>
          <a:prstGeom prst="straightConnector1">
            <a:avLst/>
          </a:prstGeom>
          <a:noFill/>
          <a:ln cap="flat" cmpd="sng" w="9525">
            <a:solidFill>
              <a:schemeClr val="dk2"/>
            </a:solidFill>
            <a:prstDash val="solid"/>
            <a:round/>
            <a:headEnd len="sm" w="sm" type="none"/>
            <a:tailEnd len="sm" w="sm" type="none"/>
          </a:ln>
        </p:spPr>
      </p:cxnSp>
      <p:cxnSp>
        <p:nvCxnSpPr>
          <p:cNvPr id="466" name="Google Shape;466;p33"/>
          <p:cNvCxnSpPr/>
          <p:nvPr/>
        </p:nvCxnSpPr>
        <p:spPr>
          <a:xfrm>
            <a:off x="6104416" y="1750650"/>
            <a:ext cx="0" cy="3045600"/>
          </a:xfrm>
          <a:prstGeom prst="straightConnector1">
            <a:avLst/>
          </a:prstGeom>
          <a:noFill/>
          <a:ln cap="flat" cmpd="sng" w="9525">
            <a:solidFill>
              <a:schemeClr val="dk2"/>
            </a:solidFill>
            <a:prstDash val="solid"/>
            <a:round/>
            <a:headEnd len="sm" w="sm" type="none"/>
            <a:tailEnd len="sm" w="sm" type="none"/>
          </a:ln>
        </p:spPr>
      </p:cxnSp>
      <p:sp>
        <p:nvSpPr>
          <p:cNvPr id="467" name="Google Shape;467;p33"/>
          <p:cNvSpPr txBox="1"/>
          <p:nvPr/>
        </p:nvSpPr>
        <p:spPr>
          <a:xfrm>
            <a:off x="0" y="2052225"/>
            <a:ext cx="3047400" cy="12729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2"/>
              </a:buClr>
              <a:buSzPts val="1200"/>
              <a:buFont typeface="Arial"/>
              <a:buAutoNum type="arabicPeriod"/>
            </a:pPr>
            <a:r>
              <a:rPr b="0" i="0" lang="en-US" sz="1200" u="none" cap="none" strike="noStrike">
                <a:solidFill>
                  <a:schemeClr val="dk2"/>
                </a:solidFill>
                <a:latin typeface="Arial"/>
                <a:ea typeface="Arial"/>
                <a:cs typeface="Arial"/>
                <a:sym typeface="Arial"/>
              </a:rPr>
              <a:t>Download </a:t>
            </a:r>
            <a:r>
              <a:rPr b="0" i="0" lang="en-US" sz="1200" u="sng" cap="none" strike="noStrike">
                <a:solidFill>
                  <a:schemeClr val="hlink"/>
                </a:solidFill>
                <a:latin typeface="Arial"/>
                <a:ea typeface="Arial"/>
                <a:cs typeface="Arial"/>
                <a:sym typeface="Arial"/>
                <a:hlinkClick r:id="rId4"/>
              </a:rPr>
              <a:t>https://www.anaconda.com/download/success</a:t>
            </a:r>
            <a:endParaRPr b="0" i="0" sz="1200" u="none" cap="none" strike="noStrike">
              <a:solidFill>
                <a:schemeClr val="dk2"/>
              </a:solidFill>
              <a:latin typeface="Arial"/>
              <a:ea typeface="Arial"/>
              <a:cs typeface="Arial"/>
              <a:sym typeface="Arial"/>
            </a:endParaRPr>
          </a:p>
          <a:p>
            <a:pPr indent="-304800" lvl="0" marL="457200" marR="0" rtl="0" algn="l">
              <a:lnSpc>
                <a:spcPct val="100000"/>
              </a:lnSpc>
              <a:spcBef>
                <a:spcPts val="0"/>
              </a:spcBef>
              <a:spcAft>
                <a:spcPts val="0"/>
              </a:spcAft>
              <a:buClr>
                <a:schemeClr val="dk2"/>
              </a:buClr>
              <a:buSzPts val="1200"/>
              <a:buFont typeface="Arial"/>
              <a:buAutoNum type="arabicPeriod"/>
            </a:pPr>
            <a:r>
              <a:rPr b="0" i="0" lang="en-US" sz="1200" u="none" cap="none" strike="noStrike">
                <a:solidFill>
                  <a:schemeClr val="dk2"/>
                </a:solidFill>
                <a:latin typeface="Arial"/>
                <a:ea typeface="Arial"/>
                <a:cs typeface="Arial"/>
                <a:sym typeface="Arial"/>
              </a:rPr>
              <a:t>Install</a:t>
            </a:r>
            <a:endParaRPr b="0" i="0" sz="1200" u="none" cap="none" strike="noStrike">
              <a:solidFill>
                <a:schemeClr val="dk2"/>
              </a:solidFill>
              <a:latin typeface="Arial"/>
              <a:ea typeface="Arial"/>
              <a:cs typeface="Arial"/>
              <a:sym typeface="Arial"/>
            </a:endParaRPr>
          </a:p>
          <a:p>
            <a:pPr indent="-304800" lvl="0" marL="457200" marR="0" rtl="0" algn="l">
              <a:lnSpc>
                <a:spcPct val="100000"/>
              </a:lnSpc>
              <a:spcBef>
                <a:spcPts val="0"/>
              </a:spcBef>
              <a:spcAft>
                <a:spcPts val="0"/>
              </a:spcAft>
              <a:buClr>
                <a:schemeClr val="dk2"/>
              </a:buClr>
              <a:buSzPts val="1200"/>
              <a:buFont typeface="Arial"/>
              <a:buAutoNum type="arabicPeriod"/>
            </a:pPr>
            <a:r>
              <a:rPr b="0" i="0" lang="en-US" sz="1200" u="none" cap="none" strike="noStrike">
                <a:solidFill>
                  <a:schemeClr val="dk2"/>
                </a:solidFill>
                <a:latin typeface="Arial"/>
                <a:ea typeface="Arial"/>
                <a:cs typeface="Arial"/>
                <a:sym typeface="Arial"/>
              </a:rPr>
              <a:t>Buka “Anacoda Navigator”</a:t>
            </a:r>
            <a:endParaRPr b="0" i="0" sz="1200" u="none" cap="none" strike="noStrike">
              <a:solidFill>
                <a:schemeClr val="dk2"/>
              </a:solidFill>
              <a:latin typeface="Arial"/>
              <a:ea typeface="Arial"/>
              <a:cs typeface="Arial"/>
              <a:sym typeface="Arial"/>
            </a:endParaRPr>
          </a:p>
          <a:p>
            <a:pPr indent="-304800" lvl="0" marL="457200" marR="0" rtl="0" algn="l">
              <a:lnSpc>
                <a:spcPct val="100000"/>
              </a:lnSpc>
              <a:spcBef>
                <a:spcPts val="0"/>
              </a:spcBef>
              <a:spcAft>
                <a:spcPts val="0"/>
              </a:spcAft>
              <a:buClr>
                <a:schemeClr val="dk2"/>
              </a:buClr>
              <a:buSzPts val="1200"/>
              <a:buFont typeface="Arial"/>
              <a:buAutoNum type="arabicPeriod"/>
            </a:pPr>
            <a:r>
              <a:rPr b="0" i="0" lang="en-US" sz="1200" u="none" cap="none" strike="noStrike">
                <a:solidFill>
                  <a:schemeClr val="dk2"/>
                </a:solidFill>
                <a:latin typeface="Arial"/>
                <a:ea typeface="Arial"/>
                <a:cs typeface="Arial"/>
                <a:sym typeface="Arial"/>
              </a:rPr>
              <a:t>Pilih “Notebook” / “Jupyter Lab”</a:t>
            </a:r>
            <a:endParaRPr b="0" i="0" sz="1200" u="none" cap="none" strike="noStrike">
              <a:solidFill>
                <a:schemeClr val="dk2"/>
              </a:solidFill>
              <a:latin typeface="Arial"/>
              <a:ea typeface="Arial"/>
              <a:cs typeface="Arial"/>
              <a:sym typeface="Arial"/>
            </a:endParaRPr>
          </a:p>
        </p:txBody>
      </p:sp>
      <p:sp>
        <p:nvSpPr>
          <p:cNvPr id="468" name="Google Shape;468;p33"/>
          <p:cNvSpPr txBox="1"/>
          <p:nvPr/>
        </p:nvSpPr>
        <p:spPr>
          <a:xfrm>
            <a:off x="3049900" y="2052225"/>
            <a:ext cx="3047400" cy="12729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2"/>
              </a:buClr>
              <a:buSzPts val="1200"/>
              <a:buFont typeface="Arial"/>
              <a:buAutoNum type="arabicPeriod"/>
            </a:pPr>
            <a:r>
              <a:rPr b="0" i="0" lang="en-US" sz="1200" u="none" cap="none" strike="noStrike">
                <a:solidFill>
                  <a:schemeClr val="dk2"/>
                </a:solidFill>
                <a:latin typeface="Arial"/>
                <a:ea typeface="Arial"/>
                <a:cs typeface="Arial"/>
                <a:sym typeface="Arial"/>
              </a:rPr>
              <a:t>Buka </a:t>
            </a:r>
            <a:r>
              <a:rPr b="0" i="0" lang="en-US" sz="1200" u="sng" cap="none" strike="noStrike">
                <a:solidFill>
                  <a:schemeClr val="hlink"/>
                </a:solidFill>
                <a:latin typeface="Arial"/>
                <a:ea typeface="Arial"/>
                <a:cs typeface="Arial"/>
                <a:sym typeface="Arial"/>
                <a:hlinkClick r:id="rId5"/>
              </a:rPr>
              <a:t>https://colab.research.google.com/</a:t>
            </a:r>
            <a:endParaRPr b="0" i="0" sz="1200" u="none" cap="none" strike="noStrike">
              <a:solidFill>
                <a:schemeClr val="dk2"/>
              </a:solidFill>
              <a:latin typeface="Arial"/>
              <a:ea typeface="Arial"/>
              <a:cs typeface="Arial"/>
              <a:sym typeface="Arial"/>
            </a:endParaRPr>
          </a:p>
          <a:p>
            <a:pPr indent="-304800" lvl="0" marL="457200" marR="0" rtl="0" algn="l">
              <a:lnSpc>
                <a:spcPct val="100000"/>
              </a:lnSpc>
              <a:spcBef>
                <a:spcPts val="0"/>
              </a:spcBef>
              <a:spcAft>
                <a:spcPts val="0"/>
              </a:spcAft>
              <a:buClr>
                <a:schemeClr val="dk2"/>
              </a:buClr>
              <a:buSzPts val="1200"/>
              <a:buFont typeface="Arial"/>
              <a:buAutoNum type="arabicPeriod"/>
            </a:pPr>
            <a:r>
              <a:rPr b="0" i="0" lang="en-US" sz="1200" u="none" cap="none" strike="noStrike">
                <a:solidFill>
                  <a:schemeClr val="dk2"/>
                </a:solidFill>
                <a:latin typeface="Arial"/>
                <a:ea typeface="Arial"/>
                <a:cs typeface="Arial"/>
                <a:sym typeface="Arial"/>
              </a:rPr>
              <a:t>Pilih “New Notebook”</a:t>
            </a:r>
            <a:endParaRPr b="0" i="0" sz="1200" u="none" cap="none" strike="noStrike">
              <a:solidFill>
                <a:schemeClr val="dk2"/>
              </a:solidFill>
              <a:latin typeface="Arial"/>
              <a:ea typeface="Arial"/>
              <a:cs typeface="Arial"/>
              <a:sym typeface="Arial"/>
            </a:endParaRPr>
          </a:p>
        </p:txBody>
      </p:sp>
      <p:sp>
        <p:nvSpPr>
          <p:cNvPr id="469" name="Google Shape;469;p33"/>
          <p:cNvSpPr txBox="1"/>
          <p:nvPr/>
        </p:nvSpPr>
        <p:spPr>
          <a:xfrm>
            <a:off x="6113100" y="2052225"/>
            <a:ext cx="3047400" cy="12729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00000"/>
              </a:lnSpc>
              <a:spcBef>
                <a:spcPts val="0"/>
              </a:spcBef>
              <a:spcAft>
                <a:spcPts val="0"/>
              </a:spcAft>
              <a:buClr>
                <a:schemeClr val="dk2"/>
              </a:buClr>
              <a:buSzPts val="1200"/>
              <a:buFont typeface="Arial"/>
              <a:buAutoNum type="arabicPeriod"/>
            </a:pPr>
            <a:r>
              <a:rPr b="0" i="0" lang="en-US" sz="1200" u="none" cap="none" strike="noStrike">
                <a:solidFill>
                  <a:schemeClr val="dk2"/>
                </a:solidFill>
                <a:latin typeface="Arial"/>
                <a:ea typeface="Arial"/>
                <a:cs typeface="Arial"/>
                <a:sym typeface="Arial"/>
              </a:rPr>
              <a:t>Download </a:t>
            </a:r>
            <a:r>
              <a:rPr b="0" i="0" lang="en-US" sz="1200" u="sng" cap="none" strike="noStrike">
                <a:solidFill>
                  <a:schemeClr val="accent5"/>
                </a:solidFill>
                <a:latin typeface="Arial"/>
                <a:ea typeface="Arial"/>
                <a:cs typeface="Arial"/>
                <a:sym typeface="Arial"/>
                <a:hlinkClick r:id="rId6">
                  <a:extLst>
                    <a:ext uri="{A12FA001-AC4F-418D-AE19-62706E023703}">
                      <ahyp:hlinkClr val="tx"/>
                    </a:ext>
                  </a:extLst>
                </a:hlinkClick>
              </a:rPr>
              <a:t>https://www.anaconda.com/download/success</a:t>
            </a:r>
            <a:endParaRPr b="0" i="0" sz="1200" u="none" cap="none" strike="noStrike">
              <a:solidFill>
                <a:schemeClr val="dk2"/>
              </a:solidFill>
              <a:latin typeface="Arial"/>
              <a:ea typeface="Arial"/>
              <a:cs typeface="Arial"/>
              <a:sym typeface="Arial"/>
            </a:endParaRPr>
          </a:p>
          <a:p>
            <a:pPr indent="-304800" lvl="0" marL="457200" marR="0" rtl="0" algn="l">
              <a:lnSpc>
                <a:spcPct val="100000"/>
              </a:lnSpc>
              <a:spcBef>
                <a:spcPts val="0"/>
              </a:spcBef>
              <a:spcAft>
                <a:spcPts val="0"/>
              </a:spcAft>
              <a:buClr>
                <a:schemeClr val="dk2"/>
              </a:buClr>
              <a:buSzPts val="1200"/>
              <a:buFont typeface="Arial"/>
              <a:buAutoNum type="arabicPeriod"/>
            </a:pPr>
            <a:r>
              <a:rPr b="0" i="0" lang="en-US" sz="1200" u="none" cap="none" strike="noStrike">
                <a:solidFill>
                  <a:schemeClr val="dk2"/>
                </a:solidFill>
                <a:latin typeface="Arial"/>
                <a:ea typeface="Arial"/>
                <a:cs typeface="Arial"/>
                <a:sym typeface="Arial"/>
              </a:rPr>
              <a:t>Install</a:t>
            </a:r>
            <a:endParaRPr b="0" i="0" sz="1200" u="none" cap="none" strike="noStrike">
              <a:solidFill>
                <a:schemeClr val="dk2"/>
              </a:solidFill>
              <a:latin typeface="Arial"/>
              <a:ea typeface="Arial"/>
              <a:cs typeface="Arial"/>
              <a:sym typeface="Arial"/>
            </a:endParaRPr>
          </a:p>
          <a:p>
            <a:pPr indent="-304800" lvl="0" marL="457200" marR="0" rtl="0" algn="l">
              <a:lnSpc>
                <a:spcPct val="100000"/>
              </a:lnSpc>
              <a:spcBef>
                <a:spcPts val="0"/>
              </a:spcBef>
              <a:spcAft>
                <a:spcPts val="0"/>
              </a:spcAft>
              <a:buClr>
                <a:schemeClr val="dk2"/>
              </a:buClr>
              <a:buSzPts val="1200"/>
              <a:buFont typeface="Arial"/>
              <a:buAutoNum type="arabicPeriod"/>
            </a:pPr>
            <a:r>
              <a:rPr b="0" i="0" lang="en-US" sz="1200" u="none" cap="none" strike="noStrike">
                <a:solidFill>
                  <a:schemeClr val="dk2"/>
                </a:solidFill>
                <a:latin typeface="Arial"/>
                <a:ea typeface="Arial"/>
                <a:cs typeface="Arial"/>
                <a:sym typeface="Arial"/>
              </a:rPr>
              <a:t>Pastikan bisa menjalankan “python” di terminal / cmd</a:t>
            </a:r>
            <a:endParaRPr b="0" i="0" sz="1200" u="none" cap="none" strike="noStrike">
              <a:solidFill>
                <a:schemeClr val="dk2"/>
              </a:solidFill>
              <a:latin typeface="Arial"/>
              <a:ea typeface="Arial"/>
              <a:cs typeface="Arial"/>
              <a:sym typeface="Arial"/>
            </a:endParaRPr>
          </a:p>
          <a:p>
            <a:pPr indent="-304800" lvl="0" marL="457200" marR="0" rtl="0" algn="l">
              <a:lnSpc>
                <a:spcPct val="100000"/>
              </a:lnSpc>
              <a:spcBef>
                <a:spcPts val="0"/>
              </a:spcBef>
              <a:spcAft>
                <a:spcPts val="0"/>
              </a:spcAft>
              <a:buClr>
                <a:schemeClr val="dk2"/>
              </a:buClr>
              <a:buSzPts val="1200"/>
              <a:buFont typeface="Arial"/>
              <a:buAutoNum type="arabicPeriod"/>
            </a:pPr>
            <a:r>
              <a:rPr b="0" i="0" lang="en-US" sz="1200" u="none" cap="none" strike="noStrike">
                <a:solidFill>
                  <a:schemeClr val="dk2"/>
                </a:solidFill>
                <a:latin typeface="Arial"/>
                <a:ea typeface="Arial"/>
                <a:cs typeface="Arial"/>
                <a:sym typeface="Arial"/>
              </a:rPr>
              <a:t>Buka “Visual Studio Code”</a:t>
            </a:r>
            <a:endParaRPr b="0" i="0" sz="1200" u="none" cap="none" strike="noStrike">
              <a:solidFill>
                <a:schemeClr val="dk2"/>
              </a:solidFill>
              <a:latin typeface="Arial"/>
              <a:ea typeface="Arial"/>
              <a:cs typeface="Arial"/>
              <a:sym typeface="Arial"/>
            </a:endParaRPr>
          </a:p>
          <a:p>
            <a:pPr indent="-304800" lvl="0" marL="457200" marR="0" rtl="0" algn="l">
              <a:lnSpc>
                <a:spcPct val="100000"/>
              </a:lnSpc>
              <a:spcBef>
                <a:spcPts val="0"/>
              </a:spcBef>
              <a:spcAft>
                <a:spcPts val="0"/>
              </a:spcAft>
              <a:buClr>
                <a:schemeClr val="dk2"/>
              </a:buClr>
              <a:buSzPts val="1200"/>
              <a:buFont typeface="Arial"/>
              <a:buAutoNum type="arabicPeriod"/>
            </a:pPr>
            <a:r>
              <a:rPr b="0" i="0" lang="en-US" sz="1200" u="none" cap="none" strike="noStrike">
                <a:solidFill>
                  <a:schemeClr val="dk2"/>
                </a:solidFill>
                <a:latin typeface="Arial"/>
                <a:ea typeface="Arial"/>
                <a:cs typeface="Arial"/>
                <a:sym typeface="Arial"/>
              </a:rPr>
              <a:t>Buka menu “Extentions”</a:t>
            </a:r>
            <a:endParaRPr b="0" i="0" sz="1200" u="none" cap="none" strike="noStrike">
              <a:solidFill>
                <a:schemeClr val="dk2"/>
              </a:solidFill>
              <a:latin typeface="Arial"/>
              <a:ea typeface="Arial"/>
              <a:cs typeface="Arial"/>
              <a:sym typeface="Arial"/>
            </a:endParaRPr>
          </a:p>
          <a:p>
            <a:pPr indent="-304800" lvl="0" marL="457200" marR="0" rtl="0" algn="l">
              <a:lnSpc>
                <a:spcPct val="100000"/>
              </a:lnSpc>
              <a:spcBef>
                <a:spcPts val="0"/>
              </a:spcBef>
              <a:spcAft>
                <a:spcPts val="0"/>
              </a:spcAft>
              <a:buClr>
                <a:schemeClr val="dk2"/>
              </a:buClr>
              <a:buSzPts val="1200"/>
              <a:buFont typeface="Arial"/>
              <a:buAutoNum type="arabicPeriod"/>
            </a:pPr>
            <a:r>
              <a:rPr b="0" i="0" lang="en-US" sz="1200" u="none" cap="none" strike="noStrike">
                <a:solidFill>
                  <a:schemeClr val="dk2"/>
                </a:solidFill>
                <a:latin typeface="Arial"/>
                <a:ea typeface="Arial"/>
                <a:cs typeface="Arial"/>
                <a:sym typeface="Arial"/>
              </a:rPr>
              <a:t>Install Extention “Python” &amp; “Jupyter”</a:t>
            </a:r>
            <a:endParaRPr b="0" i="0" sz="1200" u="none" cap="none" strike="noStrike">
              <a:solidFill>
                <a:schemeClr val="dk2"/>
              </a:solidFill>
              <a:latin typeface="Arial"/>
              <a:ea typeface="Arial"/>
              <a:cs typeface="Arial"/>
              <a:sym typeface="Arial"/>
            </a:endParaRPr>
          </a:p>
          <a:p>
            <a:pPr indent="-304800" lvl="0" marL="457200" marR="0" rtl="0" algn="l">
              <a:lnSpc>
                <a:spcPct val="100000"/>
              </a:lnSpc>
              <a:spcBef>
                <a:spcPts val="0"/>
              </a:spcBef>
              <a:spcAft>
                <a:spcPts val="0"/>
              </a:spcAft>
              <a:buClr>
                <a:schemeClr val="dk2"/>
              </a:buClr>
              <a:buSzPts val="1200"/>
              <a:buFont typeface="Arial"/>
              <a:buAutoNum type="arabicPeriod"/>
            </a:pPr>
            <a:r>
              <a:rPr b="0" i="0" lang="en-US" sz="1200" u="none" cap="none" strike="noStrike">
                <a:solidFill>
                  <a:schemeClr val="dk2"/>
                </a:solidFill>
                <a:latin typeface="Arial"/>
                <a:ea typeface="Arial"/>
                <a:cs typeface="Arial"/>
                <a:sym typeface="Arial"/>
              </a:rPr>
              <a:t>Buat file baru dengan filename “</a:t>
            </a:r>
            <a:r>
              <a:rPr b="1" i="0" lang="en-US" sz="1200" u="none" cap="none" strike="noStrike">
                <a:solidFill>
                  <a:schemeClr val="dk2"/>
                </a:solidFill>
                <a:latin typeface="Arial"/>
                <a:ea typeface="Arial"/>
                <a:cs typeface="Arial"/>
                <a:sym typeface="Arial"/>
              </a:rPr>
              <a:t>nama_file.ipynb</a:t>
            </a:r>
            <a:r>
              <a:rPr b="0" i="0" lang="en-US" sz="1200" u="none" cap="none" strike="noStrike">
                <a:solidFill>
                  <a:schemeClr val="dk2"/>
                </a:solidFill>
                <a:latin typeface="Arial"/>
                <a:ea typeface="Arial"/>
                <a:cs typeface="Arial"/>
                <a:sym typeface="Arial"/>
              </a:rPr>
              <a:t>”</a:t>
            </a:r>
            <a:endParaRPr b="0" i="0" sz="1200" u="none" cap="none" strike="noStrike">
              <a:solidFill>
                <a:schemeClr val="dk2"/>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73" name="Shape 473"/>
        <p:cNvGrpSpPr/>
        <p:nvPr/>
      </p:nvGrpSpPr>
      <p:grpSpPr>
        <a:xfrm>
          <a:off x="0" y="0"/>
          <a:ext cx="0" cy="0"/>
          <a:chOff x="0" y="0"/>
          <a:chExt cx="0" cy="0"/>
        </a:xfrm>
      </p:grpSpPr>
      <p:sp>
        <p:nvSpPr>
          <p:cNvPr id="474" name="Google Shape;474;p34"/>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Mencoba Python</a:t>
            </a:r>
            <a:endParaRPr b="1" i="0" sz="3600" u="none" cap="none" strike="noStrike">
              <a:solidFill>
                <a:srgbClr val="48A8C4"/>
              </a:solidFill>
              <a:latin typeface="Plus Jakarta Sans"/>
              <a:ea typeface="Plus Jakarta Sans"/>
              <a:cs typeface="Plus Jakarta Sans"/>
              <a:sym typeface="Plus Jakarta Sans"/>
            </a:endParaRPr>
          </a:p>
        </p:txBody>
      </p:sp>
      <p:pic>
        <p:nvPicPr>
          <p:cNvPr id="475" name="Google Shape;475;p34"/>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476" name="Google Shape;476;p34"/>
          <p:cNvSpPr txBox="1"/>
          <p:nvPr/>
        </p:nvSpPr>
        <p:spPr>
          <a:xfrm>
            <a:off x="457200" y="1493875"/>
            <a:ext cx="5661000" cy="323100"/>
          </a:xfrm>
          <a:prstGeom prst="rect">
            <a:avLst/>
          </a:prstGeom>
          <a:solidFill>
            <a:srgbClr val="1F1F1F"/>
          </a:solidFill>
          <a:ln>
            <a:noFill/>
          </a:ln>
        </p:spPr>
        <p:txBody>
          <a:bodyPr anchorCtr="0" anchor="t" bIns="91425" lIns="182875" spcFirstLastPara="1" rIns="0" wrap="square" tIns="91425">
            <a:spAutoFit/>
          </a:bodyPr>
          <a:lstStyle/>
          <a:p>
            <a:pPr indent="0" lvl="0" marL="0" marR="0" rtl="0" algn="l">
              <a:lnSpc>
                <a:spcPct val="150000"/>
              </a:lnSpc>
              <a:spcBef>
                <a:spcPts val="0"/>
              </a:spcBef>
              <a:spcAft>
                <a:spcPts val="0"/>
              </a:spcAft>
              <a:buClr>
                <a:srgbClr val="000000"/>
              </a:buClr>
              <a:buSzPts val="9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"Hi Jamkrindo!"</a:t>
            </a:r>
            <a:r>
              <a:rPr b="0" i="0" lang="en-US" sz="900" u="none" cap="none" strike="noStrike">
                <a:solidFill>
                  <a:srgbClr val="CCCCCC"/>
                </a:solidFill>
                <a:highlight>
                  <a:srgbClr val="1F1F1F"/>
                </a:highlight>
                <a:latin typeface="Consolas"/>
                <a:ea typeface="Consolas"/>
                <a:cs typeface="Consolas"/>
                <a:sym typeface="Consolas"/>
              </a:rPr>
              <a:t>)</a:t>
            </a:r>
            <a:endParaRPr b="1" i="0" sz="1100" u="none" cap="none" strike="noStrike">
              <a:solidFill>
                <a:schemeClr val="dk2"/>
              </a:solidFill>
              <a:latin typeface="Arial"/>
              <a:ea typeface="Arial"/>
              <a:cs typeface="Arial"/>
              <a:sym typeface="Arial"/>
            </a:endParaRPr>
          </a:p>
        </p:txBody>
      </p:sp>
      <p:sp>
        <p:nvSpPr>
          <p:cNvPr id="477" name="Google Shape;477;p34"/>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78" name="Google Shape;478;p34"/>
          <p:cNvSpPr txBox="1"/>
          <p:nvPr/>
        </p:nvSpPr>
        <p:spPr>
          <a:xfrm>
            <a:off x="457200" y="2042350"/>
            <a:ext cx="5661000" cy="323100"/>
          </a:xfrm>
          <a:prstGeom prst="rect">
            <a:avLst/>
          </a:prstGeom>
          <a:solidFill>
            <a:srgbClr val="1F1F1F"/>
          </a:solidFill>
          <a:ln>
            <a:noFill/>
          </a:ln>
        </p:spPr>
        <p:txBody>
          <a:bodyPr anchorCtr="0" anchor="t" bIns="91425" lIns="182875" spcFirstLastPara="1" rIns="0" wrap="square" tIns="91425">
            <a:spAutoFit/>
          </a:bodyPr>
          <a:lstStyle/>
          <a:p>
            <a:pPr indent="0" lvl="0" marL="0" marR="0" rtl="0" algn="l">
              <a:lnSpc>
                <a:spcPct val="150000"/>
              </a:lnSpc>
              <a:spcBef>
                <a:spcPts val="0"/>
              </a:spcBef>
              <a:spcAft>
                <a:spcPts val="0"/>
              </a:spcAft>
              <a:buClr>
                <a:schemeClr val="dk1"/>
              </a:buClr>
              <a:buSzPts val="9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1 + 1</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DCDCAA"/>
              </a:solidFill>
              <a:highlight>
                <a:srgbClr val="1F1F1F"/>
              </a:highlight>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82" name="Shape 482"/>
        <p:cNvGrpSpPr/>
        <p:nvPr/>
      </p:nvGrpSpPr>
      <p:grpSpPr>
        <a:xfrm>
          <a:off x="0" y="0"/>
          <a:ext cx="0" cy="0"/>
          <a:chOff x="0" y="0"/>
          <a:chExt cx="0" cy="0"/>
        </a:xfrm>
      </p:grpSpPr>
      <p:sp>
        <p:nvSpPr>
          <p:cNvPr id="483" name="Google Shape;483;p35"/>
          <p:cNvSpPr txBox="1"/>
          <p:nvPr>
            <p:ph type="ctrTitle"/>
          </p:nvPr>
        </p:nvSpPr>
        <p:spPr>
          <a:xfrm>
            <a:off x="4863675" y="3098975"/>
            <a:ext cx="4281900" cy="838200"/>
          </a:xfrm>
          <a:prstGeom prst="rect">
            <a:avLst/>
          </a:prstGeom>
          <a:noFill/>
          <a:ln>
            <a:noFill/>
          </a:ln>
        </p:spPr>
        <p:txBody>
          <a:bodyPr anchorCtr="0" anchor="b" bIns="91450" lIns="91450" spcFirstLastPara="1" rIns="91450" wrap="square" tIns="91450">
            <a:normAutofit/>
          </a:bodyPr>
          <a:lstStyle/>
          <a:p>
            <a:pPr indent="0" lvl="0" marL="0" rtl="0" algn="l">
              <a:lnSpc>
                <a:spcPct val="85000"/>
              </a:lnSpc>
              <a:spcBef>
                <a:spcPts val="0"/>
              </a:spcBef>
              <a:spcAft>
                <a:spcPts val="0"/>
              </a:spcAft>
              <a:buSzPts val="5778"/>
              <a:buNone/>
            </a:pPr>
            <a:r>
              <a:rPr b="1" lang="en-US" sz="4800">
                <a:latin typeface="Plus Jakarta Sans"/>
                <a:ea typeface="Plus Jakarta Sans"/>
                <a:cs typeface="Plus Jakarta Sans"/>
                <a:sym typeface="Plus Jakarta Sans"/>
              </a:rPr>
              <a:t>Pertanyaan?</a:t>
            </a:r>
            <a:endParaRPr b="1" sz="4800">
              <a:latin typeface="Plus Jakarta Sans"/>
              <a:ea typeface="Plus Jakarta Sans"/>
              <a:cs typeface="Plus Jakarta Sans"/>
              <a:sym typeface="Plus Jakarta Sans"/>
            </a:endParaRPr>
          </a:p>
        </p:txBody>
      </p:sp>
      <p:grpSp>
        <p:nvGrpSpPr>
          <p:cNvPr id="484" name="Google Shape;484;p35"/>
          <p:cNvGrpSpPr/>
          <p:nvPr/>
        </p:nvGrpSpPr>
        <p:grpSpPr>
          <a:xfrm>
            <a:off x="159" y="-214211"/>
            <a:ext cx="2765532" cy="2691752"/>
            <a:chOff x="9584423" y="-302695"/>
            <a:chExt cx="4822201" cy="4822201"/>
          </a:xfrm>
        </p:grpSpPr>
        <p:sp>
          <p:nvSpPr>
            <p:cNvPr id="485" name="Google Shape;485;p35"/>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6" name="Google Shape;486;p35"/>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7" name="Google Shape;487;p35"/>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8" name="Google Shape;488;p35"/>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489" name="Google Shape;489;p35"/>
          <p:cNvGrpSpPr/>
          <p:nvPr/>
        </p:nvGrpSpPr>
        <p:grpSpPr>
          <a:xfrm>
            <a:off x="-840830" y="1116257"/>
            <a:ext cx="5795400" cy="5795400"/>
            <a:chOff x="4094945" y="667082"/>
            <a:chExt cx="5795400" cy="5795400"/>
          </a:xfrm>
        </p:grpSpPr>
        <p:sp>
          <p:nvSpPr>
            <p:cNvPr id="490" name="Google Shape;490;p35"/>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91" name="Google Shape;491;p35"/>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92" name="Google Shape;492;p35"/>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93" name="Google Shape;493;p35"/>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494" name="Google Shape;494;p3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498" name="Shape 498"/>
        <p:cNvGrpSpPr/>
        <p:nvPr/>
      </p:nvGrpSpPr>
      <p:grpSpPr>
        <a:xfrm>
          <a:off x="0" y="0"/>
          <a:ext cx="0" cy="0"/>
          <a:chOff x="0" y="0"/>
          <a:chExt cx="0" cy="0"/>
        </a:xfrm>
      </p:grpSpPr>
      <p:sp>
        <p:nvSpPr>
          <p:cNvPr id="499" name="Google Shape;499;p36"/>
          <p:cNvSpPr/>
          <p:nvPr/>
        </p:nvSpPr>
        <p:spPr>
          <a:xfrm rot="-1974178">
            <a:off x="5877363" y="793656"/>
            <a:ext cx="1120545" cy="1120545"/>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00" name="Google Shape;500;p36"/>
          <p:cNvSpPr/>
          <p:nvPr/>
        </p:nvSpPr>
        <p:spPr>
          <a:xfrm rot="-4242470">
            <a:off x="6617651" y="1042306"/>
            <a:ext cx="2301858" cy="2301858"/>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01" name="Google Shape;501;p36"/>
          <p:cNvSpPr/>
          <p:nvPr/>
        </p:nvSpPr>
        <p:spPr>
          <a:xfrm rot="-3576382">
            <a:off x="5139692" y="2219687"/>
            <a:ext cx="3914117" cy="3914117"/>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502" name="Google Shape;502;p36"/>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503" name="Google Shape;503;p36"/>
          <p:cNvSpPr txBox="1"/>
          <p:nvPr>
            <p:ph type="ctrTitle"/>
          </p:nvPr>
        </p:nvSpPr>
        <p:spPr>
          <a:xfrm>
            <a:off x="520875" y="3237526"/>
            <a:ext cx="56052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1800"/>
              <a:buNone/>
            </a:pPr>
            <a:r>
              <a:rPr b="1" lang="en-US" sz="4800">
                <a:solidFill>
                  <a:srgbClr val="000000"/>
                </a:solidFill>
                <a:latin typeface="Plus Jakarta Sans"/>
                <a:ea typeface="Plus Jakarta Sans"/>
                <a:cs typeface="Plus Jakarta Sans"/>
                <a:sym typeface="Plus Jakarta Sans"/>
              </a:rPr>
              <a:t>Syntax, Indentation, dan Print Statements</a:t>
            </a:r>
            <a:endParaRPr b="1" sz="4800">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507" name="Shape 507"/>
        <p:cNvGrpSpPr/>
        <p:nvPr/>
      </p:nvGrpSpPr>
      <p:grpSpPr>
        <a:xfrm>
          <a:off x="0" y="0"/>
          <a:ext cx="0" cy="0"/>
          <a:chOff x="0" y="0"/>
          <a:chExt cx="0" cy="0"/>
        </a:xfrm>
      </p:grpSpPr>
      <p:sp>
        <p:nvSpPr>
          <p:cNvPr id="508" name="Google Shape;508;p37"/>
          <p:cNvSpPr/>
          <p:nvPr/>
        </p:nvSpPr>
        <p:spPr>
          <a:xfrm>
            <a:off x="-1050025" y="1135575"/>
            <a:ext cx="5007900" cy="4009500"/>
          </a:xfrm>
          <a:prstGeom prst="parallelogram">
            <a:avLst>
              <a:gd fmla="val 25000"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09" name="Google Shape;509;p37"/>
          <p:cNvSpPr/>
          <p:nvPr/>
        </p:nvSpPr>
        <p:spPr>
          <a:xfrm>
            <a:off x="1231875" y="3379605"/>
            <a:ext cx="2726100" cy="1765500"/>
          </a:xfrm>
          <a:prstGeom prst="parallelogram">
            <a:avLst>
              <a:gd fmla="val 25000" name="adj"/>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10" name="Google Shape;510;p37"/>
          <p:cNvSpPr/>
          <p:nvPr/>
        </p:nvSpPr>
        <p:spPr>
          <a:xfrm>
            <a:off x="2300550" y="3923775"/>
            <a:ext cx="1853100" cy="1221300"/>
          </a:xfrm>
          <a:prstGeom prst="parallelogram">
            <a:avLst>
              <a:gd fmla="val 25000" name="adj"/>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11" name="Google Shape;511;p37"/>
          <p:cNvSpPr txBox="1"/>
          <p:nvPr>
            <p:ph type="ctrTitle"/>
          </p:nvPr>
        </p:nvSpPr>
        <p:spPr>
          <a:xfrm>
            <a:off x="4776450" y="2352200"/>
            <a:ext cx="40344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990"/>
              <a:buNone/>
            </a:pPr>
            <a:r>
              <a:rPr b="1" lang="en-US" sz="3420">
                <a:solidFill>
                  <a:schemeClr val="lt1"/>
                </a:solidFill>
                <a:latin typeface="Plus Jakarta Sans"/>
                <a:ea typeface="Plus Jakarta Sans"/>
                <a:cs typeface="Plus Jakarta Sans"/>
                <a:sym typeface="Plus Jakarta Sans"/>
              </a:rPr>
              <a:t>Syntax</a:t>
            </a:r>
            <a:endParaRPr b="1" sz="3420">
              <a:solidFill>
                <a:schemeClr val="lt1"/>
              </a:solidFill>
              <a:latin typeface="Plus Jakarta Sans"/>
              <a:ea typeface="Plus Jakarta Sans"/>
              <a:cs typeface="Plus Jakarta Sans"/>
              <a:sym typeface="Plus Jakarta Sans"/>
            </a:endParaRPr>
          </a:p>
        </p:txBody>
      </p:sp>
      <p:pic>
        <p:nvPicPr>
          <p:cNvPr id="512" name="Google Shape;512;p37"/>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16" name="Shape 516"/>
        <p:cNvGrpSpPr/>
        <p:nvPr/>
      </p:nvGrpSpPr>
      <p:grpSpPr>
        <a:xfrm>
          <a:off x="0" y="0"/>
          <a:ext cx="0" cy="0"/>
          <a:chOff x="0" y="0"/>
          <a:chExt cx="0" cy="0"/>
        </a:xfrm>
      </p:grpSpPr>
      <p:sp>
        <p:nvSpPr>
          <p:cNvPr id="517" name="Google Shape;517;p38"/>
          <p:cNvSpPr txBox="1"/>
          <p:nvPr/>
        </p:nvSpPr>
        <p:spPr>
          <a:xfrm>
            <a:off x="457200" y="1121750"/>
            <a:ext cx="5661000" cy="1915200"/>
          </a:xfrm>
          <a:prstGeom prst="rect">
            <a:avLst/>
          </a:prstGeom>
          <a:noFill/>
          <a:ln>
            <a:noFill/>
          </a:ln>
        </p:spPr>
        <p:txBody>
          <a:bodyPr anchorCtr="0" anchor="t" bIns="0" lIns="0" spcFirstLastPara="1" rIns="0" wrap="square" tIns="13950">
            <a:spAutoFit/>
          </a:bodyPr>
          <a:lstStyle/>
          <a:p>
            <a:pPr indent="0" lvl="0" marL="0" marR="0" rtl="0" algn="l">
              <a:lnSpc>
                <a:spcPct val="150000"/>
              </a:lnSpc>
              <a:spcBef>
                <a:spcPts val="1200"/>
              </a:spcBef>
              <a:spcAft>
                <a:spcPts val="0"/>
              </a:spcAft>
              <a:buClr>
                <a:schemeClr val="dk1"/>
              </a:buClr>
              <a:buSzPts val="1100"/>
              <a:buFont typeface="Arial"/>
              <a:buNone/>
            </a:pPr>
            <a:r>
              <a:rPr b="1" i="0" lang="en-US" sz="1100" u="none" cap="none" strike="noStrike">
                <a:solidFill>
                  <a:schemeClr val="dk2"/>
                </a:solidFill>
                <a:latin typeface="Arial"/>
                <a:ea typeface="Arial"/>
                <a:cs typeface="Arial"/>
                <a:sym typeface="Arial"/>
              </a:rPr>
              <a:t>Syntax</a:t>
            </a:r>
            <a:r>
              <a:rPr b="0" i="0" lang="en-US" sz="1100" u="none" cap="none" strike="noStrike">
                <a:solidFill>
                  <a:schemeClr val="dk2"/>
                </a:solidFill>
                <a:latin typeface="Arial"/>
                <a:ea typeface="Arial"/>
                <a:cs typeface="Arial"/>
                <a:sym typeface="Arial"/>
              </a:rPr>
              <a:t> adalah </a:t>
            </a:r>
            <a:r>
              <a:rPr b="1" i="0" lang="en-US" sz="1100" u="none" cap="none" strike="noStrike">
                <a:solidFill>
                  <a:schemeClr val="dk2"/>
                </a:solidFill>
                <a:latin typeface="Arial"/>
                <a:ea typeface="Arial"/>
                <a:cs typeface="Arial"/>
                <a:sym typeface="Arial"/>
              </a:rPr>
              <a:t>aturan</a:t>
            </a:r>
            <a:r>
              <a:rPr b="0" i="0" lang="en-US" sz="1100" u="none" cap="none" strike="noStrike">
                <a:solidFill>
                  <a:schemeClr val="dk2"/>
                </a:solidFill>
                <a:latin typeface="Arial"/>
                <a:ea typeface="Arial"/>
                <a:cs typeface="Arial"/>
                <a:sym typeface="Arial"/>
              </a:rPr>
              <a:t> yang menentukan </a:t>
            </a:r>
            <a:r>
              <a:rPr b="1" i="0" lang="en-US" sz="1100" u="none" cap="none" strike="noStrike">
                <a:solidFill>
                  <a:schemeClr val="dk2"/>
                </a:solidFill>
                <a:latin typeface="Arial"/>
                <a:ea typeface="Arial"/>
                <a:cs typeface="Arial"/>
                <a:sym typeface="Arial"/>
              </a:rPr>
              <a:t>bagaimana</a:t>
            </a:r>
            <a:r>
              <a:rPr b="0" i="0" lang="en-US" sz="1100" u="none" cap="none" strike="noStrike">
                <a:solidFill>
                  <a:schemeClr val="dk2"/>
                </a:solidFill>
                <a:latin typeface="Arial"/>
                <a:ea typeface="Arial"/>
                <a:cs typeface="Arial"/>
                <a:sym typeface="Arial"/>
              </a:rPr>
              <a:t> </a:t>
            </a:r>
            <a:r>
              <a:rPr b="1" i="0" lang="en-US" sz="1100" u="none" cap="none" strike="noStrike">
                <a:solidFill>
                  <a:schemeClr val="dk2"/>
                </a:solidFill>
                <a:latin typeface="Arial"/>
                <a:ea typeface="Arial"/>
                <a:cs typeface="Arial"/>
                <a:sym typeface="Arial"/>
              </a:rPr>
              <a:t>menulis kode agar valid</a:t>
            </a:r>
            <a:r>
              <a:rPr b="0" i="0" lang="en-US" sz="1100" u="none" cap="none" strike="noStrike">
                <a:solidFill>
                  <a:schemeClr val="dk2"/>
                </a:solidFill>
                <a:latin typeface="Arial"/>
                <a:ea typeface="Arial"/>
                <a:cs typeface="Arial"/>
                <a:sym typeface="Arial"/>
              </a:rPr>
              <a:t>.</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chemeClr val="dk1"/>
              </a:buClr>
              <a:buSzPts val="1100"/>
              <a:buFont typeface="Arial"/>
              <a:buNone/>
            </a:pPr>
            <a:r>
              <a:rPr b="0" i="0" lang="en-US" sz="1100" u="none" cap="none" strike="noStrike">
                <a:solidFill>
                  <a:schemeClr val="dk2"/>
                </a:solidFill>
                <a:latin typeface="Arial"/>
                <a:ea typeface="Arial"/>
                <a:cs typeface="Arial"/>
                <a:sym typeface="Arial"/>
              </a:rPr>
              <a:t>Jika melanggar aturan ini, Python akan menampilkan </a:t>
            </a:r>
            <a:r>
              <a:rPr b="0" i="1" lang="en-US" sz="1100" u="none" cap="none" strike="noStrike">
                <a:solidFill>
                  <a:schemeClr val="dk2"/>
                </a:solidFill>
                <a:latin typeface="Arial"/>
                <a:ea typeface="Arial"/>
                <a:cs typeface="Arial"/>
                <a:sym typeface="Arial"/>
              </a:rPr>
              <a:t>syntax error</a:t>
            </a:r>
            <a:r>
              <a:rPr b="0" i="0" lang="en-US" sz="1100" u="none" cap="none" strike="noStrike">
                <a:solidFill>
                  <a:schemeClr val="dk2"/>
                </a:solidFill>
                <a:latin typeface="Arial"/>
                <a:ea typeface="Arial"/>
                <a:cs typeface="Arial"/>
                <a:sym typeface="Arial"/>
              </a:rPr>
              <a:t>.</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chemeClr val="dk1"/>
              </a:buClr>
              <a:buSzPts val="1100"/>
              <a:buFont typeface="Arial"/>
              <a:buNone/>
            </a:pPr>
            <a:r>
              <a:rPr b="0" i="0" lang="en-US" sz="1100" u="none" cap="none" strike="noStrike">
                <a:solidFill>
                  <a:schemeClr val="dk2"/>
                </a:solidFill>
                <a:latin typeface="Arial"/>
                <a:ea typeface="Arial"/>
                <a:cs typeface="Arial"/>
                <a:sym typeface="Arial"/>
              </a:rPr>
              <a:t>Contoh aturan sederhana:</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120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gunakan tanda kutip ('' atau "”) untuk teks</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tanda kurung () saat memanggil fungsi seperti print()</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dll</a:t>
            </a:r>
            <a:endParaRPr b="0" i="0" sz="1100" u="none" cap="none" strike="noStrike">
              <a:solidFill>
                <a:schemeClr val="dk2"/>
              </a:solidFill>
              <a:latin typeface="Arial"/>
              <a:ea typeface="Arial"/>
              <a:cs typeface="Arial"/>
              <a:sym typeface="Arial"/>
            </a:endParaRPr>
          </a:p>
        </p:txBody>
      </p:sp>
      <p:sp>
        <p:nvSpPr>
          <p:cNvPr id="518" name="Google Shape;518;p38"/>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Konsep</a:t>
            </a:r>
            <a:endParaRPr b="1" i="0" sz="3600" u="none" cap="none" strike="noStrike">
              <a:solidFill>
                <a:srgbClr val="48A8C4"/>
              </a:solidFill>
              <a:latin typeface="Plus Jakarta Sans"/>
              <a:ea typeface="Plus Jakarta Sans"/>
              <a:cs typeface="Plus Jakarta Sans"/>
              <a:sym typeface="Plus Jakarta Sans"/>
            </a:endParaRPr>
          </a:p>
        </p:txBody>
      </p:sp>
      <p:pic>
        <p:nvPicPr>
          <p:cNvPr id="519" name="Google Shape;519;p38"/>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520" name="Google Shape;520;p38"/>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24" name="Shape 524"/>
        <p:cNvGrpSpPr/>
        <p:nvPr/>
      </p:nvGrpSpPr>
      <p:grpSpPr>
        <a:xfrm>
          <a:off x="0" y="0"/>
          <a:ext cx="0" cy="0"/>
          <a:chOff x="0" y="0"/>
          <a:chExt cx="0" cy="0"/>
        </a:xfrm>
      </p:grpSpPr>
      <p:sp>
        <p:nvSpPr>
          <p:cNvPr id="525" name="Google Shape;525;p39"/>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Praktik</a:t>
            </a:r>
            <a:endParaRPr b="1" i="0" sz="3600" u="none" cap="none" strike="noStrike">
              <a:solidFill>
                <a:srgbClr val="48A8C4"/>
              </a:solidFill>
              <a:latin typeface="Plus Jakarta Sans"/>
              <a:ea typeface="Plus Jakarta Sans"/>
              <a:cs typeface="Plus Jakarta Sans"/>
              <a:sym typeface="Plus Jakarta Sans"/>
            </a:endParaRPr>
          </a:p>
        </p:txBody>
      </p:sp>
      <p:pic>
        <p:nvPicPr>
          <p:cNvPr id="526" name="Google Shape;526;p3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527" name="Google Shape;527;p39"/>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28" name="Google Shape;528;p39"/>
          <p:cNvSpPr txBox="1"/>
          <p:nvPr/>
        </p:nvSpPr>
        <p:spPr>
          <a:xfrm>
            <a:off x="457200" y="1521050"/>
            <a:ext cx="5041200" cy="5310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"Ini adalah teks yang benar"</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'Teks ini juga benar'</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DCDCAA"/>
              </a:solidFill>
              <a:highlight>
                <a:srgbClr val="1F1F1F"/>
              </a:highlight>
              <a:latin typeface="Consolas"/>
              <a:ea typeface="Consolas"/>
              <a:cs typeface="Consolas"/>
              <a:sym typeface="Consolas"/>
            </a:endParaRPr>
          </a:p>
        </p:txBody>
      </p:sp>
      <p:sp>
        <p:nvSpPr>
          <p:cNvPr id="529" name="Google Shape;529;p39"/>
          <p:cNvSpPr txBox="1"/>
          <p:nvPr/>
        </p:nvSpPr>
        <p:spPr>
          <a:xfrm>
            <a:off x="457200" y="1121750"/>
            <a:ext cx="1796400" cy="32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2"/>
                </a:solidFill>
                <a:latin typeface="Arial"/>
                <a:ea typeface="Arial"/>
                <a:cs typeface="Arial"/>
                <a:sym typeface="Arial"/>
              </a:rPr>
              <a:t>Benar ✅</a:t>
            </a:r>
            <a:endParaRPr b="0" i="0" sz="1800" u="none" cap="none" strike="noStrike">
              <a:solidFill>
                <a:schemeClr val="dk2"/>
              </a:solidFill>
              <a:latin typeface="Arial"/>
              <a:ea typeface="Arial"/>
              <a:cs typeface="Arial"/>
              <a:sym typeface="Arial"/>
            </a:endParaRPr>
          </a:p>
        </p:txBody>
      </p:sp>
      <p:sp>
        <p:nvSpPr>
          <p:cNvPr id="530" name="Google Shape;530;p39"/>
          <p:cNvSpPr txBox="1"/>
          <p:nvPr/>
        </p:nvSpPr>
        <p:spPr>
          <a:xfrm>
            <a:off x="457200" y="2813025"/>
            <a:ext cx="5041200" cy="5310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"Teks ini salah') # Kutip pembuka &amp; penutup berbeda</a:t>
            </a:r>
            <a:endParaRPr b="0" i="0" sz="900" u="none" cap="none" strike="noStrike">
              <a:solidFill>
                <a:srgbClr val="CE9178"/>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(Teks ini juga salah) </a:t>
            </a:r>
            <a:r>
              <a:rPr b="0" i="0" lang="en-US" sz="900" u="none" cap="none" strike="noStrike">
                <a:solidFill>
                  <a:srgbClr val="6A9955"/>
                </a:solidFill>
                <a:highlight>
                  <a:srgbClr val="1F1F1F"/>
                </a:highlight>
                <a:latin typeface="Consolas"/>
                <a:ea typeface="Consolas"/>
                <a:cs typeface="Consolas"/>
                <a:sym typeface="Consolas"/>
              </a:rPr>
              <a:t># Teks tidak diapit kutip</a:t>
            </a:r>
            <a:endParaRPr b="1" i="0" sz="900" u="none" cap="none" strike="noStrike">
              <a:solidFill>
                <a:srgbClr val="DCDCAA"/>
              </a:solidFill>
              <a:highlight>
                <a:srgbClr val="1F1F1F"/>
              </a:highlight>
              <a:latin typeface="Consolas"/>
              <a:ea typeface="Consolas"/>
              <a:cs typeface="Consolas"/>
              <a:sym typeface="Consolas"/>
            </a:endParaRPr>
          </a:p>
        </p:txBody>
      </p:sp>
      <p:sp>
        <p:nvSpPr>
          <p:cNvPr id="531" name="Google Shape;531;p39"/>
          <p:cNvSpPr txBox="1"/>
          <p:nvPr/>
        </p:nvSpPr>
        <p:spPr>
          <a:xfrm>
            <a:off x="457200" y="2413725"/>
            <a:ext cx="1796400" cy="32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2"/>
                </a:solidFill>
                <a:latin typeface="Arial"/>
                <a:ea typeface="Arial"/>
                <a:cs typeface="Arial"/>
                <a:sym typeface="Arial"/>
              </a:rPr>
              <a:t>Salah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535" name="Shape 535"/>
        <p:cNvGrpSpPr/>
        <p:nvPr/>
      </p:nvGrpSpPr>
      <p:grpSpPr>
        <a:xfrm>
          <a:off x="0" y="0"/>
          <a:ext cx="0" cy="0"/>
          <a:chOff x="0" y="0"/>
          <a:chExt cx="0" cy="0"/>
        </a:xfrm>
      </p:grpSpPr>
      <p:sp>
        <p:nvSpPr>
          <p:cNvPr id="536" name="Google Shape;536;p40"/>
          <p:cNvSpPr/>
          <p:nvPr/>
        </p:nvSpPr>
        <p:spPr>
          <a:xfrm>
            <a:off x="-1050025" y="1135575"/>
            <a:ext cx="5007900" cy="4009500"/>
          </a:xfrm>
          <a:prstGeom prst="parallelogram">
            <a:avLst>
              <a:gd fmla="val 25000"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37" name="Google Shape;537;p40"/>
          <p:cNvSpPr/>
          <p:nvPr/>
        </p:nvSpPr>
        <p:spPr>
          <a:xfrm>
            <a:off x="1231875" y="3379605"/>
            <a:ext cx="2726100" cy="1765500"/>
          </a:xfrm>
          <a:prstGeom prst="parallelogram">
            <a:avLst>
              <a:gd fmla="val 25000" name="adj"/>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38" name="Google Shape;538;p40"/>
          <p:cNvSpPr/>
          <p:nvPr/>
        </p:nvSpPr>
        <p:spPr>
          <a:xfrm>
            <a:off x="2300550" y="3923775"/>
            <a:ext cx="1853100" cy="1221300"/>
          </a:xfrm>
          <a:prstGeom prst="parallelogram">
            <a:avLst>
              <a:gd fmla="val 25000" name="adj"/>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39" name="Google Shape;539;p40"/>
          <p:cNvSpPr txBox="1"/>
          <p:nvPr>
            <p:ph type="ctrTitle"/>
          </p:nvPr>
        </p:nvSpPr>
        <p:spPr>
          <a:xfrm>
            <a:off x="4776450" y="2352200"/>
            <a:ext cx="40344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990"/>
              <a:buNone/>
            </a:pPr>
            <a:r>
              <a:rPr b="1" lang="en-US" sz="3420">
                <a:solidFill>
                  <a:schemeClr val="lt1"/>
                </a:solidFill>
                <a:latin typeface="Plus Jakarta Sans"/>
                <a:ea typeface="Plus Jakarta Sans"/>
                <a:cs typeface="Plus Jakarta Sans"/>
                <a:sym typeface="Plus Jakarta Sans"/>
              </a:rPr>
              <a:t>Indentation</a:t>
            </a:r>
            <a:endParaRPr b="1" sz="3420">
              <a:solidFill>
                <a:schemeClr val="lt1"/>
              </a:solidFill>
              <a:latin typeface="Plus Jakarta Sans"/>
              <a:ea typeface="Plus Jakarta Sans"/>
              <a:cs typeface="Plus Jakarta Sans"/>
              <a:sym typeface="Plus Jakarta Sans"/>
            </a:endParaRPr>
          </a:p>
        </p:txBody>
      </p:sp>
      <p:pic>
        <p:nvPicPr>
          <p:cNvPr id="540" name="Google Shape;540;p40"/>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44" name="Shape 544"/>
        <p:cNvGrpSpPr/>
        <p:nvPr/>
      </p:nvGrpSpPr>
      <p:grpSpPr>
        <a:xfrm>
          <a:off x="0" y="0"/>
          <a:ext cx="0" cy="0"/>
          <a:chOff x="0" y="0"/>
          <a:chExt cx="0" cy="0"/>
        </a:xfrm>
      </p:grpSpPr>
      <p:sp>
        <p:nvSpPr>
          <p:cNvPr id="545" name="Google Shape;545;p41"/>
          <p:cNvSpPr txBox="1"/>
          <p:nvPr/>
        </p:nvSpPr>
        <p:spPr>
          <a:xfrm>
            <a:off x="457200" y="1121750"/>
            <a:ext cx="5661000" cy="1915200"/>
          </a:xfrm>
          <a:prstGeom prst="rect">
            <a:avLst/>
          </a:prstGeom>
          <a:noFill/>
          <a:ln>
            <a:noFill/>
          </a:ln>
        </p:spPr>
        <p:txBody>
          <a:bodyPr anchorCtr="0" anchor="t" bIns="0" lIns="0" spcFirstLastPara="1" rIns="0" wrap="square" tIns="13950">
            <a:spAutoFit/>
          </a:bodyPr>
          <a:lstStyle/>
          <a:p>
            <a:pPr indent="0" lvl="0" marL="0" marR="0" rtl="0" algn="l">
              <a:lnSpc>
                <a:spcPct val="150000"/>
              </a:lnSpc>
              <a:spcBef>
                <a:spcPts val="1200"/>
              </a:spcBef>
              <a:spcAft>
                <a:spcPts val="0"/>
              </a:spcAft>
              <a:buClr>
                <a:srgbClr val="000000"/>
              </a:buClr>
              <a:buSzPts val="1100"/>
              <a:buFont typeface="Arial"/>
              <a:buNone/>
            </a:pPr>
            <a:r>
              <a:rPr b="1" i="0" lang="en-US" sz="1100" u="none" cap="none" strike="noStrike">
                <a:solidFill>
                  <a:schemeClr val="dk2"/>
                </a:solidFill>
                <a:latin typeface="Arial"/>
                <a:ea typeface="Arial"/>
                <a:cs typeface="Arial"/>
                <a:sym typeface="Arial"/>
              </a:rPr>
              <a:t>Indentation</a:t>
            </a:r>
            <a:r>
              <a:rPr b="0" i="0" lang="en-US" sz="1100" u="none" cap="none" strike="noStrike">
                <a:solidFill>
                  <a:schemeClr val="dk2"/>
                </a:solidFill>
                <a:latin typeface="Arial"/>
                <a:ea typeface="Arial"/>
                <a:cs typeface="Arial"/>
                <a:sym typeface="Arial"/>
              </a:rPr>
              <a:t> adalah </a:t>
            </a:r>
            <a:r>
              <a:rPr b="1" i="0" lang="en-US" sz="1100" u="none" cap="none" strike="noStrike">
                <a:solidFill>
                  <a:schemeClr val="dk2"/>
                </a:solidFill>
                <a:latin typeface="Arial"/>
                <a:ea typeface="Arial"/>
                <a:cs typeface="Arial"/>
                <a:sym typeface="Arial"/>
              </a:rPr>
              <a:t>spasi atau tab di awal baris kode</a:t>
            </a:r>
            <a:r>
              <a:rPr b="0" i="0" lang="en-US" sz="1100" u="none" cap="none" strike="noStrike">
                <a:solidFill>
                  <a:schemeClr val="dk2"/>
                </a:solidFill>
                <a:latin typeface="Arial"/>
                <a:ea typeface="Arial"/>
                <a:cs typeface="Arial"/>
                <a:sym typeface="Arial"/>
              </a:rPr>
              <a:t>.</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100"/>
              <a:buFont typeface="Arial"/>
              <a:buNone/>
            </a:pPr>
            <a:r>
              <a:rPr b="0" i="0" lang="en-US" sz="1100" u="none" cap="none" strike="noStrike">
                <a:solidFill>
                  <a:schemeClr val="dk2"/>
                </a:solidFill>
                <a:latin typeface="Arial"/>
                <a:ea typeface="Arial"/>
                <a:cs typeface="Arial"/>
                <a:sym typeface="Arial"/>
              </a:rPr>
              <a:t>Python menggunakannya untuk mendefinisikan blok kode, seperti dalam if statement. Umumnya, satu tingkat indentasi adalah empat spasi. Jika Anda salah melakukannya, Python akan memunculkan IndentationError.</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120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p:txBody>
      </p:sp>
      <p:sp>
        <p:nvSpPr>
          <p:cNvPr id="546" name="Google Shape;546;p41"/>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Konsep</a:t>
            </a:r>
            <a:endParaRPr b="1" i="0" sz="3600" u="none" cap="none" strike="noStrike">
              <a:solidFill>
                <a:srgbClr val="48A8C4"/>
              </a:solidFill>
              <a:latin typeface="Plus Jakarta Sans"/>
              <a:ea typeface="Plus Jakarta Sans"/>
              <a:cs typeface="Plus Jakarta Sans"/>
              <a:sym typeface="Plus Jakarta Sans"/>
            </a:endParaRPr>
          </a:p>
        </p:txBody>
      </p:sp>
      <p:pic>
        <p:nvPicPr>
          <p:cNvPr id="547" name="Google Shape;547;p4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548" name="Google Shape;548;p41"/>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549" name="Google Shape;549;p41"/>
          <p:cNvPicPr preferRelativeResize="0"/>
          <p:nvPr/>
        </p:nvPicPr>
        <p:blipFill rotWithShape="1">
          <a:blip r:embed="rId4">
            <a:alphaModFix/>
          </a:blip>
          <a:srcRect b="0" l="0" r="0" t="0"/>
          <a:stretch/>
        </p:blipFill>
        <p:spPr>
          <a:xfrm>
            <a:off x="1862750" y="2530825"/>
            <a:ext cx="4301008" cy="241932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53" name="Shape 553"/>
        <p:cNvGrpSpPr/>
        <p:nvPr/>
      </p:nvGrpSpPr>
      <p:grpSpPr>
        <a:xfrm>
          <a:off x="0" y="0"/>
          <a:ext cx="0" cy="0"/>
          <a:chOff x="0" y="0"/>
          <a:chExt cx="0" cy="0"/>
        </a:xfrm>
      </p:grpSpPr>
      <p:sp>
        <p:nvSpPr>
          <p:cNvPr id="554" name="Google Shape;554;p42"/>
          <p:cNvSpPr txBox="1"/>
          <p:nvPr/>
        </p:nvSpPr>
        <p:spPr>
          <a:xfrm>
            <a:off x="457200" y="296381"/>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Praktik</a:t>
            </a:r>
            <a:endParaRPr b="1" i="0" sz="3600" u="none" cap="none" strike="noStrike">
              <a:solidFill>
                <a:srgbClr val="48A8C4"/>
              </a:solidFill>
              <a:latin typeface="Plus Jakarta Sans"/>
              <a:ea typeface="Plus Jakarta Sans"/>
              <a:cs typeface="Plus Jakarta Sans"/>
              <a:sym typeface="Plus Jakarta Sans"/>
            </a:endParaRPr>
          </a:p>
        </p:txBody>
      </p:sp>
      <p:pic>
        <p:nvPicPr>
          <p:cNvPr id="555" name="Google Shape;555;p42"/>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556" name="Google Shape;556;p42"/>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57" name="Google Shape;557;p42"/>
          <p:cNvSpPr txBox="1"/>
          <p:nvPr/>
        </p:nvSpPr>
        <p:spPr>
          <a:xfrm>
            <a:off x="457200" y="1521050"/>
            <a:ext cx="5041200" cy="7389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C586C0"/>
                </a:solidFill>
                <a:highlight>
                  <a:srgbClr val="1F1F1F"/>
                </a:highlight>
                <a:latin typeface="Consolas"/>
                <a:ea typeface="Consolas"/>
                <a:cs typeface="Consolas"/>
                <a:sym typeface="Consolas"/>
              </a:rPr>
              <a:t>if</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B5CEA8"/>
                </a:solidFill>
                <a:highlight>
                  <a:srgbClr val="1F1F1F"/>
                </a:highlight>
                <a:latin typeface="Consolas"/>
                <a:ea typeface="Consolas"/>
                <a:cs typeface="Consolas"/>
                <a:sym typeface="Consolas"/>
              </a:rPr>
              <a:t>5</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D4D4D4"/>
                </a:solidFill>
                <a:highlight>
                  <a:srgbClr val="1F1F1F"/>
                </a:highlight>
                <a:latin typeface="Consolas"/>
                <a:ea typeface="Consolas"/>
                <a:cs typeface="Consolas"/>
                <a:sym typeface="Consolas"/>
              </a:rPr>
              <a:t>&gt;</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B5CEA8"/>
                </a:solidFill>
                <a:highlight>
                  <a:srgbClr val="1F1F1F"/>
                </a:highlight>
                <a:latin typeface="Consolas"/>
                <a:ea typeface="Consolas"/>
                <a:cs typeface="Consolas"/>
                <a:sym typeface="Consolas"/>
              </a:rPr>
              <a:t>2</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"5 lebih besar dari 2"</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"Indentasi di sini sangat penting"</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DCDCAA"/>
              </a:solidFill>
              <a:highlight>
                <a:srgbClr val="1F1F1F"/>
              </a:highlight>
              <a:latin typeface="Consolas"/>
              <a:ea typeface="Consolas"/>
              <a:cs typeface="Consolas"/>
              <a:sym typeface="Consolas"/>
            </a:endParaRPr>
          </a:p>
        </p:txBody>
      </p:sp>
      <p:sp>
        <p:nvSpPr>
          <p:cNvPr id="558" name="Google Shape;558;p42"/>
          <p:cNvSpPr txBox="1"/>
          <p:nvPr/>
        </p:nvSpPr>
        <p:spPr>
          <a:xfrm>
            <a:off x="457200" y="1121750"/>
            <a:ext cx="1796400" cy="32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2"/>
                </a:solidFill>
                <a:latin typeface="Arial"/>
                <a:ea typeface="Arial"/>
                <a:cs typeface="Arial"/>
                <a:sym typeface="Arial"/>
              </a:rPr>
              <a:t>Benar ✅</a:t>
            </a:r>
            <a:endParaRPr b="0" i="0" sz="1800" u="none" cap="none" strike="noStrike">
              <a:solidFill>
                <a:schemeClr val="dk2"/>
              </a:solidFill>
              <a:latin typeface="Arial"/>
              <a:ea typeface="Arial"/>
              <a:cs typeface="Arial"/>
              <a:sym typeface="Arial"/>
            </a:endParaRPr>
          </a:p>
        </p:txBody>
      </p:sp>
      <p:sp>
        <p:nvSpPr>
          <p:cNvPr id="559" name="Google Shape;559;p42"/>
          <p:cNvSpPr txBox="1"/>
          <p:nvPr/>
        </p:nvSpPr>
        <p:spPr>
          <a:xfrm>
            <a:off x="457200" y="2813025"/>
            <a:ext cx="5041200" cy="5310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C586C0"/>
                </a:solidFill>
                <a:highlight>
                  <a:srgbClr val="1F1F1F"/>
                </a:highlight>
                <a:latin typeface="Consolas"/>
                <a:ea typeface="Consolas"/>
                <a:cs typeface="Consolas"/>
                <a:sym typeface="Consolas"/>
              </a:rPr>
              <a:t>if</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B5CEA8"/>
                </a:solidFill>
                <a:highlight>
                  <a:srgbClr val="1F1F1F"/>
                </a:highlight>
                <a:latin typeface="Consolas"/>
                <a:ea typeface="Consolas"/>
                <a:cs typeface="Consolas"/>
                <a:sym typeface="Consolas"/>
              </a:rPr>
              <a:t>5</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D4D4D4"/>
                </a:solidFill>
                <a:highlight>
                  <a:srgbClr val="1F1F1F"/>
                </a:highlight>
                <a:latin typeface="Consolas"/>
                <a:ea typeface="Consolas"/>
                <a:cs typeface="Consolas"/>
                <a:sym typeface="Consolas"/>
              </a:rPr>
              <a:t>&gt;</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B5CEA8"/>
                </a:solidFill>
                <a:highlight>
                  <a:srgbClr val="1F1F1F"/>
                </a:highlight>
                <a:latin typeface="Consolas"/>
                <a:ea typeface="Consolas"/>
                <a:cs typeface="Consolas"/>
                <a:sym typeface="Consolas"/>
              </a:rPr>
              <a:t>2</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"Baris ini salah karena tidak ada indentasi"</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DCDCAA"/>
              </a:solidFill>
              <a:highlight>
                <a:srgbClr val="1F1F1F"/>
              </a:highlight>
              <a:latin typeface="Consolas"/>
              <a:ea typeface="Consolas"/>
              <a:cs typeface="Consolas"/>
              <a:sym typeface="Consolas"/>
            </a:endParaRPr>
          </a:p>
        </p:txBody>
      </p:sp>
      <p:sp>
        <p:nvSpPr>
          <p:cNvPr id="560" name="Google Shape;560;p42"/>
          <p:cNvSpPr txBox="1"/>
          <p:nvPr/>
        </p:nvSpPr>
        <p:spPr>
          <a:xfrm>
            <a:off x="457200" y="2413725"/>
            <a:ext cx="1796400" cy="323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2"/>
                </a:solidFill>
                <a:latin typeface="Arial"/>
                <a:ea typeface="Arial"/>
                <a:cs typeface="Arial"/>
                <a:sym typeface="Arial"/>
              </a:rPr>
              <a:t>Salah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64" name="Shape 564"/>
        <p:cNvGrpSpPr/>
        <p:nvPr/>
      </p:nvGrpSpPr>
      <p:grpSpPr>
        <a:xfrm>
          <a:off x="0" y="0"/>
          <a:ext cx="0" cy="0"/>
          <a:chOff x="0" y="0"/>
          <a:chExt cx="0" cy="0"/>
        </a:xfrm>
      </p:grpSpPr>
      <p:sp>
        <p:nvSpPr>
          <p:cNvPr id="565" name="Google Shape;565;p43"/>
          <p:cNvSpPr txBox="1"/>
          <p:nvPr>
            <p:ph type="ctrTitle"/>
          </p:nvPr>
        </p:nvSpPr>
        <p:spPr>
          <a:xfrm>
            <a:off x="4863675" y="3098975"/>
            <a:ext cx="4281900" cy="838200"/>
          </a:xfrm>
          <a:prstGeom prst="rect">
            <a:avLst/>
          </a:prstGeom>
          <a:noFill/>
          <a:ln>
            <a:noFill/>
          </a:ln>
        </p:spPr>
        <p:txBody>
          <a:bodyPr anchorCtr="0" anchor="b" bIns="91450" lIns="91450" spcFirstLastPara="1" rIns="91450" wrap="square" tIns="91450">
            <a:normAutofit/>
          </a:bodyPr>
          <a:lstStyle/>
          <a:p>
            <a:pPr indent="0" lvl="0" marL="0" rtl="0" algn="l">
              <a:lnSpc>
                <a:spcPct val="85000"/>
              </a:lnSpc>
              <a:spcBef>
                <a:spcPts val="0"/>
              </a:spcBef>
              <a:spcAft>
                <a:spcPts val="0"/>
              </a:spcAft>
              <a:buSzPts val="5778"/>
              <a:buNone/>
            </a:pPr>
            <a:r>
              <a:rPr b="1" lang="en-US" sz="4800">
                <a:latin typeface="Plus Jakarta Sans"/>
                <a:ea typeface="Plus Jakarta Sans"/>
                <a:cs typeface="Plus Jakarta Sans"/>
                <a:sym typeface="Plus Jakarta Sans"/>
              </a:rPr>
              <a:t>Pertanyaan?</a:t>
            </a:r>
            <a:endParaRPr b="1" sz="4800">
              <a:latin typeface="Plus Jakarta Sans"/>
              <a:ea typeface="Plus Jakarta Sans"/>
              <a:cs typeface="Plus Jakarta Sans"/>
              <a:sym typeface="Plus Jakarta Sans"/>
            </a:endParaRPr>
          </a:p>
        </p:txBody>
      </p:sp>
      <p:grpSp>
        <p:nvGrpSpPr>
          <p:cNvPr id="566" name="Google Shape;566;p43"/>
          <p:cNvGrpSpPr/>
          <p:nvPr/>
        </p:nvGrpSpPr>
        <p:grpSpPr>
          <a:xfrm>
            <a:off x="159" y="-214211"/>
            <a:ext cx="2765532" cy="2691752"/>
            <a:chOff x="9584423" y="-302695"/>
            <a:chExt cx="4822201" cy="4822201"/>
          </a:xfrm>
        </p:grpSpPr>
        <p:sp>
          <p:nvSpPr>
            <p:cNvPr id="567" name="Google Shape;567;p43"/>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68" name="Google Shape;568;p43"/>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69" name="Google Shape;569;p43"/>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70" name="Google Shape;570;p43"/>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571" name="Google Shape;571;p43"/>
          <p:cNvGrpSpPr/>
          <p:nvPr/>
        </p:nvGrpSpPr>
        <p:grpSpPr>
          <a:xfrm>
            <a:off x="-840830" y="1116257"/>
            <a:ext cx="5795400" cy="5795400"/>
            <a:chOff x="4094945" y="667082"/>
            <a:chExt cx="5795400" cy="5795400"/>
          </a:xfrm>
        </p:grpSpPr>
        <p:sp>
          <p:nvSpPr>
            <p:cNvPr id="572" name="Google Shape;572;p43"/>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73" name="Google Shape;573;p43"/>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74" name="Google Shape;574;p43"/>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75" name="Google Shape;575;p43"/>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576" name="Google Shape;576;p4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580" name="Shape 580"/>
        <p:cNvGrpSpPr/>
        <p:nvPr/>
      </p:nvGrpSpPr>
      <p:grpSpPr>
        <a:xfrm>
          <a:off x="0" y="0"/>
          <a:ext cx="0" cy="0"/>
          <a:chOff x="0" y="0"/>
          <a:chExt cx="0" cy="0"/>
        </a:xfrm>
      </p:grpSpPr>
      <p:sp>
        <p:nvSpPr>
          <p:cNvPr id="581" name="Google Shape;581;p44"/>
          <p:cNvSpPr/>
          <p:nvPr/>
        </p:nvSpPr>
        <p:spPr>
          <a:xfrm>
            <a:off x="-1050025" y="1135575"/>
            <a:ext cx="5007900" cy="4009500"/>
          </a:xfrm>
          <a:prstGeom prst="parallelogram">
            <a:avLst>
              <a:gd fmla="val 25000"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82" name="Google Shape;582;p44"/>
          <p:cNvSpPr/>
          <p:nvPr/>
        </p:nvSpPr>
        <p:spPr>
          <a:xfrm>
            <a:off x="1231875" y="3379605"/>
            <a:ext cx="2726100" cy="1765500"/>
          </a:xfrm>
          <a:prstGeom prst="parallelogram">
            <a:avLst>
              <a:gd fmla="val 25000" name="adj"/>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83" name="Google Shape;583;p44"/>
          <p:cNvSpPr/>
          <p:nvPr/>
        </p:nvSpPr>
        <p:spPr>
          <a:xfrm>
            <a:off x="2300550" y="3923775"/>
            <a:ext cx="1853100" cy="1221300"/>
          </a:xfrm>
          <a:prstGeom prst="parallelogram">
            <a:avLst>
              <a:gd fmla="val 25000" name="adj"/>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584" name="Google Shape;584;p44"/>
          <p:cNvSpPr txBox="1"/>
          <p:nvPr>
            <p:ph type="ctrTitle"/>
          </p:nvPr>
        </p:nvSpPr>
        <p:spPr>
          <a:xfrm>
            <a:off x="4776450" y="2352200"/>
            <a:ext cx="40344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990"/>
              <a:buNone/>
            </a:pPr>
            <a:r>
              <a:rPr b="1" lang="en-US" sz="3420">
                <a:solidFill>
                  <a:schemeClr val="lt1"/>
                </a:solidFill>
                <a:latin typeface="Plus Jakarta Sans"/>
                <a:ea typeface="Plus Jakarta Sans"/>
                <a:cs typeface="Plus Jakarta Sans"/>
                <a:sym typeface="Plus Jakarta Sans"/>
              </a:rPr>
              <a:t>Print</a:t>
            </a:r>
            <a:endParaRPr b="1" sz="3420">
              <a:solidFill>
                <a:schemeClr val="lt1"/>
              </a:solidFill>
              <a:latin typeface="Plus Jakarta Sans"/>
              <a:ea typeface="Plus Jakarta Sans"/>
              <a:cs typeface="Plus Jakarta Sans"/>
              <a:sym typeface="Plus Jakarta Sans"/>
            </a:endParaRPr>
          </a:p>
        </p:txBody>
      </p:sp>
      <p:pic>
        <p:nvPicPr>
          <p:cNvPr id="585" name="Google Shape;585;p44"/>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89" name="Shape 589"/>
        <p:cNvGrpSpPr/>
        <p:nvPr/>
      </p:nvGrpSpPr>
      <p:grpSpPr>
        <a:xfrm>
          <a:off x="0" y="0"/>
          <a:ext cx="0" cy="0"/>
          <a:chOff x="0" y="0"/>
          <a:chExt cx="0" cy="0"/>
        </a:xfrm>
      </p:grpSpPr>
      <p:sp>
        <p:nvSpPr>
          <p:cNvPr id="590" name="Google Shape;590;p45"/>
          <p:cNvSpPr txBox="1"/>
          <p:nvPr/>
        </p:nvSpPr>
        <p:spPr>
          <a:xfrm>
            <a:off x="457200" y="1121750"/>
            <a:ext cx="5661000" cy="1253100"/>
          </a:xfrm>
          <a:prstGeom prst="rect">
            <a:avLst/>
          </a:prstGeom>
          <a:noFill/>
          <a:ln>
            <a:noFill/>
          </a:ln>
        </p:spPr>
        <p:txBody>
          <a:bodyPr anchorCtr="0" anchor="t" bIns="0" lIns="0" spcFirstLastPara="1" rIns="0" wrap="square" tIns="13950">
            <a:spAutoFit/>
          </a:bodyPr>
          <a:lstStyle/>
          <a:p>
            <a:pPr indent="0" lvl="0" marL="0" marR="0" rtl="0" algn="l">
              <a:lnSpc>
                <a:spcPct val="150000"/>
              </a:lnSpc>
              <a:spcBef>
                <a:spcPts val="1200"/>
              </a:spcBef>
              <a:spcAft>
                <a:spcPts val="0"/>
              </a:spcAft>
              <a:buClr>
                <a:srgbClr val="000000"/>
              </a:buClr>
              <a:buSzPts val="1100"/>
              <a:buFont typeface="Arial"/>
              <a:buNone/>
            </a:pPr>
            <a:r>
              <a:rPr b="0" i="0" lang="en-US" sz="1100" u="none" cap="none" strike="noStrike">
                <a:solidFill>
                  <a:schemeClr val="dk2"/>
                </a:solidFill>
                <a:latin typeface="Arial"/>
                <a:ea typeface="Arial"/>
                <a:cs typeface="Arial"/>
                <a:sym typeface="Arial"/>
              </a:rPr>
              <a:t>Fungsi </a:t>
            </a:r>
            <a:r>
              <a:rPr b="1" i="0" lang="en-US" sz="1100" u="none" cap="none" strike="noStrike">
                <a:solidFill>
                  <a:schemeClr val="dk2"/>
                </a:solidFill>
                <a:latin typeface="Arial"/>
                <a:ea typeface="Arial"/>
                <a:cs typeface="Arial"/>
                <a:sym typeface="Arial"/>
              </a:rPr>
              <a:t>print()</a:t>
            </a:r>
            <a:r>
              <a:rPr b="0" i="0" lang="en-US" sz="1100" u="none" cap="none" strike="noStrike">
                <a:solidFill>
                  <a:schemeClr val="dk2"/>
                </a:solidFill>
                <a:latin typeface="Arial"/>
                <a:ea typeface="Arial"/>
                <a:cs typeface="Arial"/>
                <a:sym typeface="Arial"/>
              </a:rPr>
              <a:t> adalah perintah dasar untuk </a:t>
            </a:r>
            <a:r>
              <a:rPr b="1" i="0" lang="en-US" sz="1100" u="none" cap="none" strike="noStrike">
                <a:solidFill>
                  <a:schemeClr val="dk2"/>
                </a:solidFill>
                <a:latin typeface="Arial"/>
                <a:ea typeface="Arial"/>
                <a:cs typeface="Arial"/>
                <a:sym typeface="Arial"/>
              </a:rPr>
              <a:t>menampilkan output</a:t>
            </a:r>
            <a:r>
              <a:rPr b="0" i="0" lang="en-US" sz="1100" u="none" cap="none" strike="noStrike">
                <a:solidFill>
                  <a:schemeClr val="dk2"/>
                </a:solidFill>
                <a:latin typeface="Arial"/>
                <a:ea typeface="Arial"/>
                <a:cs typeface="Arial"/>
                <a:sym typeface="Arial"/>
              </a:rPr>
              <a:t> ke layar. Anda bisa menampilkan berbagai jenis data dan menggabungkannya.</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120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p:txBody>
      </p:sp>
      <p:sp>
        <p:nvSpPr>
          <p:cNvPr id="591" name="Google Shape;591;p45"/>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Konsep</a:t>
            </a:r>
            <a:endParaRPr b="1" i="0" sz="3600" u="none" cap="none" strike="noStrike">
              <a:solidFill>
                <a:srgbClr val="48A8C4"/>
              </a:solidFill>
              <a:latin typeface="Plus Jakarta Sans"/>
              <a:ea typeface="Plus Jakarta Sans"/>
              <a:cs typeface="Plus Jakarta Sans"/>
              <a:sym typeface="Plus Jakarta Sans"/>
            </a:endParaRPr>
          </a:p>
        </p:txBody>
      </p:sp>
      <p:pic>
        <p:nvPicPr>
          <p:cNvPr id="592" name="Google Shape;592;p45"/>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593" name="Google Shape;593;p45"/>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594" name="Google Shape;594;p45"/>
          <p:cNvPicPr preferRelativeResize="0"/>
          <p:nvPr/>
        </p:nvPicPr>
        <p:blipFill rotWithShape="1">
          <a:blip r:embed="rId4">
            <a:alphaModFix/>
          </a:blip>
          <a:srcRect b="0" l="0" r="0" t="0"/>
          <a:stretch/>
        </p:blipFill>
        <p:spPr>
          <a:xfrm>
            <a:off x="1821763" y="2102050"/>
            <a:ext cx="4382976" cy="246542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598" name="Shape 598"/>
        <p:cNvGrpSpPr/>
        <p:nvPr/>
      </p:nvGrpSpPr>
      <p:grpSpPr>
        <a:xfrm>
          <a:off x="0" y="0"/>
          <a:ext cx="0" cy="0"/>
          <a:chOff x="0" y="0"/>
          <a:chExt cx="0" cy="0"/>
        </a:xfrm>
      </p:grpSpPr>
      <p:sp>
        <p:nvSpPr>
          <p:cNvPr id="599" name="Google Shape;599;p46"/>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Praktik</a:t>
            </a:r>
            <a:endParaRPr b="1" i="0" sz="3600" u="none" cap="none" strike="noStrike">
              <a:solidFill>
                <a:srgbClr val="48A8C4"/>
              </a:solidFill>
              <a:latin typeface="Plus Jakarta Sans"/>
              <a:ea typeface="Plus Jakarta Sans"/>
              <a:cs typeface="Plus Jakarta Sans"/>
              <a:sym typeface="Plus Jakarta Sans"/>
            </a:endParaRPr>
          </a:p>
        </p:txBody>
      </p:sp>
      <p:pic>
        <p:nvPicPr>
          <p:cNvPr id="600" name="Google Shape;600;p46"/>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601" name="Google Shape;601;p46"/>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02" name="Google Shape;602;p46"/>
          <p:cNvSpPr txBox="1"/>
          <p:nvPr/>
        </p:nvSpPr>
        <p:spPr>
          <a:xfrm>
            <a:off x="457200" y="1121750"/>
            <a:ext cx="5041200" cy="7389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"Selamat datang di Coffee Shop!"</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'Analisis data hari ini:'</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t/>
            </a:r>
            <a:endParaRPr b="0" i="0" sz="900" u="none" cap="none" strike="noStrike">
              <a:solidFill>
                <a:srgbClr val="DCDCAA"/>
              </a:solidFill>
              <a:highlight>
                <a:srgbClr val="1F1F1F"/>
              </a:highlight>
              <a:latin typeface="Consolas"/>
              <a:ea typeface="Consolas"/>
              <a:cs typeface="Consolas"/>
              <a:sym typeface="Consolas"/>
            </a:endParaRPr>
          </a:p>
        </p:txBody>
      </p:sp>
      <p:sp>
        <p:nvSpPr>
          <p:cNvPr id="603" name="Google Shape;603;p46"/>
          <p:cNvSpPr txBox="1"/>
          <p:nvPr/>
        </p:nvSpPr>
        <p:spPr>
          <a:xfrm>
            <a:off x="457200" y="1936850"/>
            <a:ext cx="5041200" cy="7389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B5CEA8"/>
                </a:solidFill>
                <a:highlight>
                  <a:srgbClr val="1F1F1F"/>
                </a:highlight>
                <a:latin typeface="Consolas"/>
                <a:ea typeface="Consolas"/>
                <a:cs typeface="Consolas"/>
                <a:sym typeface="Consolas"/>
              </a:rPr>
              <a:t>1500000</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B5CEA8"/>
                </a:solidFill>
                <a:highlight>
                  <a:srgbClr val="1F1F1F"/>
                </a:highlight>
                <a:latin typeface="Consolas"/>
                <a:ea typeface="Consolas"/>
                <a:cs typeface="Consolas"/>
                <a:sym typeface="Consolas"/>
              </a:rPr>
              <a:t>1_500_000</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t/>
            </a:r>
            <a:endParaRPr b="0" i="0" sz="900" u="none" cap="none" strike="noStrike">
              <a:solidFill>
                <a:srgbClr val="DCDCAA"/>
              </a:solidFill>
              <a:highlight>
                <a:srgbClr val="1F1F1F"/>
              </a:highlight>
              <a:latin typeface="Consolas"/>
              <a:ea typeface="Consolas"/>
              <a:cs typeface="Consolas"/>
              <a:sym typeface="Consolas"/>
            </a:endParaRPr>
          </a:p>
        </p:txBody>
      </p:sp>
      <p:sp>
        <p:nvSpPr>
          <p:cNvPr id="604" name="Google Shape;604;p46"/>
          <p:cNvSpPr txBox="1"/>
          <p:nvPr/>
        </p:nvSpPr>
        <p:spPr>
          <a:xfrm>
            <a:off x="457200" y="2751950"/>
            <a:ext cx="5041200" cy="7389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"Jumlah pesanan hari ini:"</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B5CEA8"/>
                </a:solidFill>
                <a:highlight>
                  <a:srgbClr val="1F1F1F"/>
                </a:highlight>
                <a:latin typeface="Consolas"/>
                <a:ea typeface="Consolas"/>
                <a:cs typeface="Consolas"/>
                <a:sym typeface="Consolas"/>
              </a:rPr>
              <a:t>150</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"Total pendapatan:"</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B5CEA8"/>
                </a:solidFill>
                <a:highlight>
                  <a:srgbClr val="1F1F1F"/>
                </a:highlight>
                <a:latin typeface="Consolas"/>
                <a:ea typeface="Consolas"/>
                <a:cs typeface="Consolas"/>
                <a:sym typeface="Consolas"/>
              </a:rPr>
              <a:t>1_500_000</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CE9178"/>
                </a:solidFill>
                <a:highlight>
                  <a:srgbClr val="1F1F1F"/>
                </a:highlight>
                <a:latin typeface="Consolas"/>
                <a:ea typeface="Consolas"/>
                <a:cs typeface="Consolas"/>
                <a:sym typeface="Consolas"/>
              </a:rPr>
              <a:t>"Rupiah"</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t/>
            </a:r>
            <a:endParaRPr b="0" i="0" sz="900" u="none" cap="none" strike="noStrike">
              <a:solidFill>
                <a:srgbClr val="DCDCAA"/>
              </a:solidFill>
              <a:highlight>
                <a:srgbClr val="1F1F1F"/>
              </a:highlight>
              <a:latin typeface="Consolas"/>
              <a:ea typeface="Consolas"/>
              <a:cs typeface="Consolas"/>
              <a:sym typeface="Consolas"/>
            </a:endParaRPr>
          </a:p>
        </p:txBody>
      </p:sp>
      <p:sp>
        <p:nvSpPr>
          <p:cNvPr id="605" name="Google Shape;605;p46"/>
          <p:cNvSpPr txBox="1"/>
          <p:nvPr/>
        </p:nvSpPr>
        <p:spPr>
          <a:xfrm>
            <a:off x="457200" y="3567050"/>
            <a:ext cx="5041200" cy="15699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6A9955"/>
                </a:solidFill>
                <a:highlight>
                  <a:srgbClr val="1F1F1F"/>
                </a:highlight>
                <a:latin typeface="Consolas"/>
                <a:ea typeface="Consolas"/>
                <a:cs typeface="Consolas"/>
                <a:sym typeface="Consolas"/>
              </a:rPr>
              <a:t># Contoh sep</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"Kopi"</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CE9178"/>
                </a:solidFill>
                <a:highlight>
                  <a:srgbClr val="1F1F1F"/>
                </a:highlight>
                <a:latin typeface="Consolas"/>
                <a:ea typeface="Consolas"/>
                <a:cs typeface="Consolas"/>
                <a:sym typeface="Consolas"/>
              </a:rPr>
              <a:t>"Latte"</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CE9178"/>
                </a:solidFill>
                <a:highlight>
                  <a:srgbClr val="1F1F1F"/>
                </a:highlight>
                <a:latin typeface="Consolas"/>
                <a:ea typeface="Consolas"/>
                <a:cs typeface="Consolas"/>
                <a:sym typeface="Consolas"/>
              </a:rPr>
              <a:t>"Donat"</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9CDCFE"/>
                </a:solidFill>
                <a:highlight>
                  <a:srgbClr val="1F1F1F"/>
                </a:highlight>
                <a:latin typeface="Consolas"/>
                <a:ea typeface="Consolas"/>
                <a:cs typeface="Consolas"/>
                <a:sym typeface="Consolas"/>
              </a:rPr>
              <a:t>sep</a:t>
            </a:r>
            <a:r>
              <a:rPr b="0" i="0" lang="en-US" sz="900" u="none" cap="none" strike="noStrike">
                <a:solidFill>
                  <a:srgbClr val="D4D4D4"/>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6A9955"/>
                </a:solidFill>
                <a:highlight>
                  <a:srgbClr val="1F1F1F"/>
                </a:highlight>
                <a:latin typeface="Consolas"/>
                <a:ea typeface="Consolas"/>
                <a:cs typeface="Consolas"/>
                <a:sym typeface="Consolas"/>
              </a:rPr>
              <a:t># Contoh end</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"Laporan pendapatan"</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9CDCFE"/>
                </a:solidFill>
                <a:highlight>
                  <a:srgbClr val="1F1F1F"/>
                </a:highlight>
                <a:latin typeface="Consolas"/>
                <a:ea typeface="Consolas"/>
                <a:cs typeface="Consolas"/>
                <a:sym typeface="Consolas"/>
              </a:rPr>
              <a:t>end</a:t>
            </a:r>
            <a:r>
              <a:rPr b="0" i="0" lang="en-US" sz="900" u="none" cap="none" strike="noStrike">
                <a:solidFill>
                  <a:srgbClr val="D4D4D4"/>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 "</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"sudah selesai."</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t/>
            </a:r>
            <a:endParaRPr b="0" i="0" sz="900" u="none" cap="none" strike="noStrike">
              <a:solidFill>
                <a:srgbClr val="DCDCAA"/>
              </a:solidFill>
              <a:highlight>
                <a:srgbClr val="1F1F1F"/>
              </a:highlight>
              <a:latin typeface="Consolas"/>
              <a:ea typeface="Consolas"/>
              <a:cs typeface="Consolas"/>
              <a:sym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09" name="Shape 609"/>
        <p:cNvGrpSpPr/>
        <p:nvPr/>
      </p:nvGrpSpPr>
      <p:grpSpPr>
        <a:xfrm>
          <a:off x="0" y="0"/>
          <a:ext cx="0" cy="0"/>
          <a:chOff x="0" y="0"/>
          <a:chExt cx="0" cy="0"/>
        </a:xfrm>
      </p:grpSpPr>
      <p:sp>
        <p:nvSpPr>
          <p:cNvPr id="610" name="Google Shape;610;p47"/>
          <p:cNvSpPr txBox="1"/>
          <p:nvPr>
            <p:ph type="ctrTitle"/>
          </p:nvPr>
        </p:nvSpPr>
        <p:spPr>
          <a:xfrm>
            <a:off x="4863675" y="3098975"/>
            <a:ext cx="4281900" cy="838200"/>
          </a:xfrm>
          <a:prstGeom prst="rect">
            <a:avLst/>
          </a:prstGeom>
          <a:noFill/>
          <a:ln>
            <a:noFill/>
          </a:ln>
        </p:spPr>
        <p:txBody>
          <a:bodyPr anchorCtr="0" anchor="b" bIns="91450" lIns="91450" spcFirstLastPara="1" rIns="91450" wrap="square" tIns="91450">
            <a:normAutofit/>
          </a:bodyPr>
          <a:lstStyle/>
          <a:p>
            <a:pPr indent="0" lvl="0" marL="0" rtl="0" algn="l">
              <a:lnSpc>
                <a:spcPct val="85000"/>
              </a:lnSpc>
              <a:spcBef>
                <a:spcPts val="0"/>
              </a:spcBef>
              <a:spcAft>
                <a:spcPts val="0"/>
              </a:spcAft>
              <a:buSzPts val="5778"/>
              <a:buNone/>
            </a:pPr>
            <a:r>
              <a:rPr b="1" lang="en-US" sz="4800">
                <a:latin typeface="Plus Jakarta Sans"/>
                <a:ea typeface="Plus Jakarta Sans"/>
                <a:cs typeface="Plus Jakarta Sans"/>
                <a:sym typeface="Plus Jakarta Sans"/>
              </a:rPr>
              <a:t>Pertanyaan?</a:t>
            </a:r>
            <a:endParaRPr b="1" sz="4800">
              <a:latin typeface="Plus Jakarta Sans"/>
              <a:ea typeface="Plus Jakarta Sans"/>
              <a:cs typeface="Plus Jakarta Sans"/>
              <a:sym typeface="Plus Jakarta Sans"/>
            </a:endParaRPr>
          </a:p>
        </p:txBody>
      </p:sp>
      <p:grpSp>
        <p:nvGrpSpPr>
          <p:cNvPr id="611" name="Google Shape;611;p47"/>
          <p:cNvGrpSpPr/>
          <p:nvPr/>
        </p:nvGrpSpPr>
        <p:grpSpPr>
          <a:xfrm>
            <a:off x="159" y="-214211"/>
            <a:ext cx="2765532" cy="2691752"/>
            <a:chOff x="9584423" y="-302695"/>
            <a:chExt cx="4822201" cy="4822201"/>
          </a:xfrm>
        </p:grpSpPr>
        <p:sp>
          <p:nvSpPr>
            <p:cNvPr id="612" name="Google Shape;612;p47"/>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3" name="Google Shape;613;p47"/>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4" name="Google Shape;614;p47"/>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5" name="Google Shape;615;p47"/>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616" name="Google Shape;616;p47"/>
          <p:cNvGrpSpPr/>
          <p:nvPr/>
        </p:nvGrpSpPr>
        <p:grpSpPr>
          <a:xfrm>
            <a:off x="-840830" y="1116257"/>
            <a:ext cx="5795400" cy="5795400"/>
            <a:chOff x="4094945" y="667082"/>
            <a:chExt cx="5795400" cy="5795400"/>
          </a:xfrm>
        </p:grpSpPr>
        <p:sp>
          <p:nvSpPr>
            <p:cNvPr id="617" name="Google Shape;617;p47"/>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8" name="Google Shape;618;p47"/>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19" name="Google Shape;619;p47"/>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20" name="Google Shape;620;p47"/>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621" name="Google Shape;621;p4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625" name="Shape 625"/>
        <p:cNvGrpSpPr/>
        <p:nvPr/>
      </p:nvGrpSpPr>
      <p:grpSpPr>
        <a:xfrm>
          <a:off x="0" y="0"/>
          <a:ext cx="0" cy="0"/>
          <a:chOff x="0" y="0"/>
          <a:chExt cx="0" cy="0"/>
        </a:xfrm>
      </p:grpSpPr>
      <p:sp>
        <p:nvSpPr>
          <p:cNvPr id="626" name="Google Shape;626;p48"/>
          <p:cNvSpPr txBox="1"/>
          <p:nvPr>
            <p:ph type="ctrTitle"/>
          </p:nvPr>
        </p:nvSpPr>
        <p:spPr>
          <a:xfrm>
            <a:off x="336100" y="2352200"/>
            <a:ext cx="84750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990"/>
              <a:buNone/>
            </a:pPr>
            <a:r>
              <a:rPr b="1" lang="en-US" sz="3420">
                <a:solidFill>
                  <a:schemeClr val="lt1"/>
                </a:solidFill>
                <a:latin typeface="Plus Jakarta Sans"/>
                <a:ea typeface="Plus Jakarta Sans"/>
                <a:cs typeface="Plus Jakarta Sans"/>
                <a:sym typeface="Plus Jakarta Sans"/>
              </a:rPr>
              <a:t>It’s Kahoot Time..</a:t>
            </a:r>
            <a:endParaRPr b="1" sz="3420">
              <a:solidFill>
                <a:schemeClr val="lt1"/>
              </a:solidFill>
              <a:latin typeface="Plus Jakarta Sans"/>
              <a:ea typeface="Plus Jakarta Sans"/>
              <a:cs typeface="Plus Jakarta Sans"/>
              <a:sym typeface="Plus Jakarta Sans"/>
            </a:endParaRPr>
          </a:p>
        </p:txBody>
      </p:sp>
      <p:pic>
        <p:nvPicPr>
          <p:cNvPr id="627" name="Google Shape;627;p48"/>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31" name="Shape 631"/>
        <p:cNvGrpSpPr/>
        <p:nvPr/>
      </p:nvGrpSpPr>
      <p:grpSpPr>
        <a:xfrm>
          <a:off x="0" y="0"/>
          <a:ext cx="0" cy="0"/>
          <a:chOff x="0" y="0"/>
          <a:chExt cx="0" cy="0"/>
        </a:xfrm>
      </p:grpSpPr>
      <p:sp>
        <p:nvSpPr>
          <p:cNvPr id="632" name="Google Shape;632;p49"/>
          <p:cNvSpPr/>
          <p:nvPr/>
        </p:nvSpPr>
        <p:spPr>
          <a:xfrm rot="-1974178">
            <a:off x="5877363" y="793656"/>
            <a:ext cx="1120545" cy="1120545"/>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33" name="Google Shape;633;p49"/>
          <p:cNvSpPr/>
          <p:nvPr/>
        </p:nvSpPr>
        <p:spPr>
          <a:xfrm rot="-4242470">
            <a:off x="6617651" y="1042306"/>
            <a:ext cx="2301858" cy="2301858"/>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34" name="Google Shape;634;p49"/>
          <p:cNvSpPr/>
          <p:nvPr/>
        </p:nvSpPr>
        <p:spPr>
          <a:xfrm rot="-3576382">
            <a:off x="5139692" y="2219687"/>
            <a:ext cx="3914117" cy="3914117"/>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id="635" name="Google Shape;635;p49"/>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636" name="Google Shape;636;p49"/>
          <p:cNvSpPr txBox="1"/>
          <p:nvPr>
            <p:ph type="ctrTitle"/>
          </p:nvPr>
        </p:nvSpPr>
        <p:spPr>
          <a:xfrm>
            <a:off x="520875" y="3237526"/>
            <a:ext cx="56052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1800"/>
              <a:buNone/>
            </a:pPr>
            <a:r>
              <a:rPr b="1" lang="en-US" sz="4800">
                <a:solidFill>
                  <a:srgbClr val="000000"/>
                </a:solidFill>
                <a:latin typeface="Plus Jakarta Sans"/>
                <a:ea typeface="Plus Jakarta Sans"/>
                <a:cs typeface="Plus Jakarta Sans"/>
                <a:sym typeface="Plus Jakarta Sans"/>
              </a:rPr>
              <a:t>Komentar dan Keterbacaan Kode</a:t>
            </a:r>
            <a:endParaRPr b="1" sz="4800">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40" name="Shape 640"/>
        <p:cNvGrpSpPr/>
        <p:nvPr/>
      </p:nvGrpSpPr>
      <p:grpSpPr>
        <a:xfrm>
          <a:off x="0" y="0"/>
          <a:ext cx="0" cy="0"/>
          <a:chOff x="0" y="0"/>
          <a:chExt cx="0" cy="0"/>
        </a:xfrm>
      </p:grpSpPr>
      <p:sp>
        <p:nvSpPr>
          <p:cNvPr id="641" name="Google Shape;641;p50"/>
          <p:cNvSpPr txBox="1"/>
          <p:nvPr/>
        </p:nvSpPr>
        <p:spPr>
          <a:xfrm>
            <a:off x="1962488" y="4248350"/>
            <a:ext cx="5220600" cy="510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2"/>
                </a:solidFill>
                <a:latin typeface="Arial"/>
                <a:ea typeface="Arial"/>
                <a:cs typeface="Arial"/>
                <a:sym typeface="Arial"/>
              </a:rPr>
              <a:t>Bagaimana kita bisa membuat kode kita mudah dipahami oleh diri sendiri dan orang lain?</a:t>
            </a:r>
            <a:endParaRPr b="1" i="0" sz="1400" u="none" cap="none" strike="noStrike">
              <a:solidFill>
                <a:schemeClr val="dk2"/>
              </a:solidFill>
              <a:latin typeface="Arial"/>
              <a:ea typeface="Arial"/>
              <a:cs typeface="Arial"/>
              <a:sym typeface="Arial"/>
            </a:endParaRPr>
          </a:p>
        </p:txBody>
      </p:sp>
      <p:sp>
        <p:nvSpPr>
          <p:cNvPr id="642" name="Google Shape;642;p50"/>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Masalah</a:t>
            </a:r>
            <a:endParaRPr b="1" i="0" sz="3600" u="none" cap="none" strike="noStrike">
              <a:solidFill>
                <a:srgbClr val="48A8C4"/>
              </a:solidFill>
              <a:latin typeface="Plus Jakarta Sans"/>
              <a:ea typeface="Plus Jakarta Sans"/>
              <a:cs typeface="Plus Jakarta Sans"/>
              <a:sym typeface="Plus Jakarta Sans"/>
            </a:endParaRPr>
          </a:p>
        </p:txBody>
      </p:sp>
      <p:pic>
        <p:nvPicPr>
          <p:cNvPr id="643" name="Google Shape;643;p50"/>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pic>
        <p:nvPicPr>
          <p:cNvPr id="644" name="Google Shape;644;p50" title="A stressed programmer staring at a long, messy Python code on their laptop screen, looking confused because they can’t remember what the code does after one month. The workspace is cluttered with sticky notes full of question marks. The c.jpg"/>
          <p:cNvPicPr preferRelativeResize="0"/>
          <p:nvPr/>
        </p:nvPicPr>
        <p:blipFill rotWithShape="1">
          <a:blip r:embed="rId4">
            <a:alphaModFix/>
          </a:blip>
          <a:srcRect b="0" l="0" r="0" t="0"/>
          <a:stretch/>
        </p:blipFill>
        <p:spPr>
          <a:xfrm>
            <a:off x="1215036" y="1121745"/>
            <a:ext cx="3057905" cy="3057905"/>
          </a:xfrm>
          <a:prstGeom prst="rect">
            <a:avLst/>
          </a:prstGeom>
          <a:noFill/>
          <a:ln>
            <a:noFill/>
          </a:ln>
        </p:spPr>
      </p:pic>
      <p:pic>
        <p:nvPicPr>
          <p:cNvPr id="645" name="Google Shape;645;p50" title="A comic strip showing two programmers_ one is trying to understand old Python code without comments, looking puzzled and scratching their head, while the other tries to collaborate but also looks confused. Above the code, there are floating.jpg"/>
          <p:cNvPicPr preferRelativeResize="0"/>
          <p:nvPr/>
        </p:nvPicPr>
        <p:blipFill rotWithShape="1">
          <a:blip r:embed="rId5">
            <a:alphaModFix/>
          </a:blip>
          <a:srcRect b="0" l="0" r="0" t="0"/>
          <a:stretch/>
        </p:blipFill>
        <p:spPr>
          <a:xfrm>
            <a:off x="4872636" y="1121745"/>
            <a:ext cx="3057905" cy="305790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49" name="Shape 649"/>
        <p:cNvGrpSpPr/>
        <p:nvPr/>
      </p:nvGrpSpPr>
      <p:grpSpPr>
        <a:xfrm>
          <a:off x="0" y="0"/>
          <a:ext cx="0" cy="0"/>
          <a:chOff x="0" y="0"/>
          <a:chExt cx="0" cy="0"/>
        </a:xfrm>
      </p:grpSpPr>
      <p:sp>
        <p:nvSpPr>
          <p:cNvPr id="650" name="Google Shape;650;p51"/>
          <p:cNvSpPr txBox="1"/>
          <p:nvPr/>
        </p:nvSpPr>
        <p:spPr>
          <a:xfrm>
            <a:off x="457200" y="1121750"/>
            <a:ext cx="5661000" cy="3975300"/>
          </a:xfrm>
          <a:prstGeom prst="rect">
            <a:avLst/>
          </a:prstGeom>
          <a:noFill/>
          <a:ln>
            <a:noFill/>
          </a:ln>
        </p:spPr>
        <p:txBody>
          <a:bodyPr anchorCtr="0" anchor="t" bIns="0" lIns="0" spcFirstLastPara="1" rIns="0" wrap="square" tIns="13950">
            <a:spAutoFit/>
          </a:bodyPr>
          <a:lstStyle/>
          <a:p>
            <a:pPr indent="0" lvl="0" marL="457200" marR="0" rtl="0" algn="ctr">
              <a:lnSpc>
                <a:spcPct val="150000"/>
              </a:lnSpc>
              <a:spcBef>
                <a:spcPts val="0"/>
              </a:spcBef>
              <a:spcAft>
                <a:spcPts val="0"/>
              </a:spcAft>
              <a:buClr>
                <a:srgbClr val="000000"/>
              </a:buClr>
              <a:buSzPts val="1100"/>
              <a:buFont typeface="Arial"/>
              <a:buNone/>
            </a:pPr>
            <a:r>
              <a:rPr b="1" i="0" lang="en-US" sz="1100" u="none" cap="none" strike="noStrike">
                <a:solidFill>
                  <a:schemeClr val="dk2"/>
                </a:solidFill>
                <a:latin typeface="Arial"/>
                <a:ea typeface="Arial"/>
                <a:cs typeface="Arial"/>
                <a:sym typeface="Arial"/>
              </a:rPr>
              <a:t>Komentar</a:t>
            </a:r>
            <a:endParaRPr b="1" i="0" sz="11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100"/>
              <a:buFont typeface="Arial"/>
              <a:buNone/>
            </a:pPr>
            <a:r>
              <a:rPr b="1" i="0" lang="en-US" sz="1100" u="none" cap="none" strike="noStrike">
                <a:solidFill>
                  <a:schemeClr val="dk2"/>
                </a:solidFill>
                <a:latin typeface="Arial"/>
                <a:ea typeface="Arial"/>
                <a:cs typeface="Arial"/>
                <a:sym typeface="Arial"/>
              </a:rPr>
              <a:t>Apa pun yang ditulis</a:t>
            </a:r>
            <a:r>
              <a:rPr b="0" i="0" lang="en-US" sz="1100" u="none" cap="none" strike="noStrike">
                <a:solidFill>
                  <a:schemeClr val="dk2"/>
                </a:solidFill>
                <a:latin typeface="Arial"/>
                <a:ea typeface="Arial"/>
                <a:cs typeface="Arial"/>
                <a:sym typeface="Arial"/>
              </a:rPr>
              <a:t> setelah simbol komentar ini dalam satu baris </a:t>
            </a:r>
            <a:r>
              <a:rPr b="1" i="0" lang="en-US" sz="1100" u="none" cap="none" strike="noStrike">
                <a:solidFill>
                  <a:schemeClr val="dk2"/>
                </a:solidFill>
                <a:latin typeface="Arial"/>
                <a:ea typeface="Arial"/>
                <a:cs typeface="Arial"/>
                <a:sym typeface="Arial"/>
              </a:rPr>
              <a:t>akan diabaikan</a:t>
            </a:r>
            <a:r>
              <a:rPr b="0" i="0" lang="en-US" sz="1100" u="none" cap="none" strike="noStrike">
                <a:solidFill>
                  <a:schemeClr val="dk2"/>
                </a:solidFill>
                <a:latin typeface="Arial"/>
                <a:ea typeface="Arial"/>
                <a:cs typeface="Arial"/>
                <a:sym typeface="Arial"/>
              </a:rPr>
              <a:t> oleh interpreter Python. Komentar tidak memengaruhi cara kerja program Anda.</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a:p>
            <a:pPr indent="0" lvl="0" marL="0" marR="0" rtl="0" algn="l">
              <a:lnSpc>
                <a:spcPct val="115000"/>
              </a:lnSpc>
              <a:spcBef>
                <a:spcPts val="1200"/>
              </a:spcBef>
              <a:spcAft>
                <a:spcPts val="0"/>
              </a:spcAft>
              <a:buClr>
                <a:schemeClr val="dk1"/>
              </a:buClr>
              <a:buSzPts val="1100"/>
              <a:buFont typeface="Arial"/>
              <a:buNone/>
            </a:pPr>
            <a:r>
              <a:rPr b="0" i="0" lang="en-US" sz="1100" u="none" cap="none" strike="noStrike">
                <a:solidFill>
                  <a:schemeClr val="dk2"/>
                </a:solidFill>
                <a:latin typeface="Arial"/>
                <a:ea typeface="Arial"/>
                <a:cs typeface="Arial"/>
                <a:sym typeface="Arial"/>
              </a:rPr>
              <a:t>Gaya penulisan komentar:</a:t>
            </a:r>
            <a:endParaRPr b="0" i="0" sz="1100" u="none" cap="none" strike="noStrike">
              <a:solidFill>
                <a:schemeClr val="dk2"/>
              </a:solidFill>
              <a:latin typeface="Arial"/>
              <a:ea typeface="Arial"/>
              <a:cs typeface="Arial"/>
              <a:sym typeface="Arial"/>
            </a:endParaRPr>
          </a:p>
          <a:p>
            <a:pPr indent="-298450" lvl="0" marL="457200" marR="0" rtl="0" algn="l">
              <a:lnSpc>
                <a:spcPct val="115000"/>
              </a:lnSpc>
              <a:spcBef>
                <a:spcPts val="1200"/>
              </a:spcBef>
              <a:spcAft>
                <a:spcPts val="0"/>
              </a:spcAft>
              <a:buClr>
                <a:schemeClr val="dk2"/>
              </a:buClr>
              <a:buSzPts val="1100"/>
              <a:buFont typeface="Arial"/>
              <a:buAutoNum type="arabicPeriod"/>
            </a:pPr>
            <a:r>
              <a:rPr b="1" i="0" lang="en-US" sz="1100" u="none" cap="none" strike="noStrike">
                <a:solidFill>
                  <a:schemeClr val="dk2"/>
                </a:solidFill>
                <a:latin typeface="Arial"/>
                <a:ea typeface="Arial"/>
                <a:cs typeface="Arial"/>
                <a:sym typeface="Arial"/>
              </a:rPr>
              <a:t>Komentar Sebaris (#)</a:t>
            </a:r>
            <a:endParaRPr b="1" i="0" sz="1100" u="none" cap="none" strike="noStrike">
              <a:solidFill>
                <a:schemeClr val="dk2"/>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2"/>
                </a:solidFill>
                <a:latin typeface="Arial"/>
                <a:ea typeface="Arial"/>
                <a:cs typeface="Arial"/>
                <a:sym typeface="Arial"/>
              </a:rPr>
              <a:t>Digunakan untuk penjelasan singkat di samping baris kode.</a:t>
            </a:r>
            <a:endParaRPr b="0" i="0" sz="1100" u="none" cap="none" strike="noStrike">
              <a:solidFill>
                <a:schemeClr val="dk2"/>
              </a:solidFill>
              <a:latin typeface="Arial"/>
              <a:ea typeface="Arial"/>
              <a:cs typeface="Arial"/>
              <a:sym typeface="Arial"/>
            </a:endParaRPr>
          </a:p>
          <a:p>
            <a:pPr indent="-298450" lvl="0" marL="457200" marR="0" rtl="0" algn="l">
              <a:lnSpc>
                <a:spcPct val="115000"/>
              </a:lnSpc>
              <a:spcBef>
                <a:spcPts val="1200"/>
              </a:spcBef>
              <a:spcAft>
                <a:spcPts val="0"/>
              </a:spcAft>
              <a:buClr>
                <a:schemeClr val="dk2"/>
              </a:buClr>
              <a:buSzPts val="1100"/>
              <a:buFont typeface="Arial"/>
              <a:buAutoNum type="arabicPeriod"/>
            </a:pPr>
            <a:r>
              <a:rPr b="1" i="0" lang="en-US" sz="1100" u="none" cap="none" strike="noStrike">
                <a:solidFill>
                  <a:schemeClr val="dk2"/>
                </a:solidFill>
                <a:latin typeface="Arial"/>
                <a:ea typeface="Arial"/>
                <a:cs typeface="Arial"/>
                <a:sym typeface="Arial"/>
              </a:rPr>
              <a:t>Komentar Blok (#)</a:t>
            </a:r>
            <a:endParaRPr b="1" i="0" sz="1100" u="none" cap="none" strike="noStrike">
              <a:solidFill>
                <a:schemeClr val="dk2"/>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2"/>
                </a:solidFill>
                <a:latin typeface="Arial"/>
                <a:ea typeface="Arial"/>
                <a:cs typeface="Arial"/>
                <a:sym typeface="Arial"/>
              </a:rPr>
              <a:t>Digunakan untuk menjelaskan satu blok kode. Biasanya ditempatkan di atas blok kode tersebut.</a:t>
            </a:r>
            <a:endParaRPr b="0" i="0" sz="1100" u="none" cap="none" strike="noStrike">
              <a:solidFill>
                <a:schemeClr val="dk2"/>
              </a:solidFill>
              <a:latin typeface="Arial"/>
              <a:ea typeface="Arial"/>
              <a:cs typeface="Arial"/>
              <a:sym typeface="Arial"/>
            </a:endParaRPr>
          </a:p>
          <a:p>
            <a:pPr indent="-298450" lvl="0" marL="457200" marR="0" rtl="0" algn="l">
              <a:lnSpc>
                <a:spcPct val="115000"/>
              </a:lnSpc>
              <a:spcBef>
                <a:spcPts val="1200"/>
              </a:spcBef>
              <a:spcAft>
                <a:spcPts val="0"/>
              </a:spcAft>
              <a:buClr>
                <a:schemeClr val="dk2"/>
              </a:buClr>
              <a:buSzPts val="1100"/>
              <a:buFont typeface="Arial"/>
              <a:buAutoNum type="arabicPeriod"/>
            </a:pPr>
            <a:r>
              <a:rPr b="1" i="0" lang="en-US" sz="1100" u="none" cap="none" strike="noStrike">
                <a:solidFill>
                  <a:schemeClr val="dk2"/>
                </a:solidFill>
                <a:latin typeface="Arial"/>
                <a:ea typeface="Arial"/>
                <a:cs typeface="Arial"/>
                <a:sym typeface="Arial"/>
              </a:rPr>
              <a:t>Docstring (""" """)</a:t>
            </a:r>
            <a:endParaRPr b="1" i="0" sz="1100" u="none" cap="none" strike="noStrike">
              <a:solidFill>
                <a:schemeClr val="dk2"/>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100"/>
              <a:buFont typeface="Arial"/>
              <a:buNone/>
            </a:pPr>
            <a:r>
              <a:rPr b="0" i="0" lang="en-US" sz="1100" u="none" cap="none" strike="noStrike">
                <a:solidFill>
                  <a:schemeClr val="dk2"/>
                </a:solidFill>
                <a:latin typeface="Arial"/>
                <a:ea typeface="Arial"/>
                <a:cs typeface="Arial"/>
                <a:sym typeface="Arial"/>
              </a:rPr>
              <a:t>Ini adalah jenis khusus dari komentar blok yang digunakan untuk mendokumentasikan blok kode yang lebih besar.</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p:txBody>
      </p:sp>
      <p:sp>
        <p:nvSpPr>
          <p:cNvPr id="651" name="Google Shape;651;p51"/>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Solusi</a:t>
            </a:r>
            <a:endParaRPr b="1" i="0" sz="3600" u="none" cap="none" strike="noStrike">
              <a:solidFill>
                <a:srgbClr val="48A8C4"/>
              </a:solidFill>
              <a:latin typeface="Plus Jakarta Sans"/>
              <a:ea typeface="Plus Jakarta Sans"/>
              <a:cs typeface="Plus Jakarta Sans"/>
              <a:sym typeface="Plus Jakarta Sans"/>
            </a:endParaRPr>
          </a:p>
        </p:txBody>
      </p:sp>
      <p:pic>
        <p:nvPicPr>
          <p:cNvPr id="652" name="Google Shape;652;p51"/>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653" name="Google Shape;653;p51"/>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57" name="Shape 657"/>
        <p:cNvGrpSpPr/>
        <p:nvPr/>
      </p:nvGrpSpPr>
      <p:grpSpPr>
        <a:xfrm>
          <a:off x="0" y="0"/>
          <a:ext cx="0" cy="0"/>
          <a:chOff x="0" y="0"/>
          <a:chExt cx="0" cy="0"/>
        </a:xfrm>
      </p:grpSpPr>
      <p:sp>
        <p:nvSpPr>
          <p:cNvPr id="658" name="Google Shape;658;p52"/>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Praktik</a:t>
            </a:r>
            <a:endParaRPr b="1" i="0" sz="3600" u="none" cap="none" strike="noStrike">
              <a:solidFill>
                <a:srgbClr val="48A8C4"/>
              </a:solidFill>
              <a:latin typeface="Plus Jakarta Sans"/>
              <a:ea typeface="Plus Jakarta Sans"/>
              <a:cs typeface="Plus Jakarta Sans"/>
              <a:sym typeface="Plus Jakarta Sans"/>
            </a:endParaRPr>
          </a:p>
        </p:txBody>
      </p:sp>
      <p:pic>
        <p:nvPicPr>
          <p:cNvPr id="659" name="Google Shape;659;p52"/>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660" name="Google Shape;660;p52"/>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61" name="Google Shape;661;p52"/>
          <p:cNvSpPr txBox="1"/>
          <p:nvPr/>
        </p:nvSpPr>
        <p:spPr>
          <a:xfrm>
            <a:off x="457200" y="1121750"/>
            <a:ext cx="5687400" cy="5310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900"/>
              <a:buFont typeface="Arial"/>
              <a:buNone/>
            </a:pPr>
            <a:r>
              <a:rPr b="0" i="0" lang="en-US" sz="900" u="none" cap="none" strike="noStrike">
                <a:solidFill>
                  <a:srgbClr val="6A9955"/>
                </a:solidFill>
                <a:highlight>
                  <a:srgbClr val="1F1F1F"/>
                </a:highlight>
                <a:latin typeface="Consolas"/>
                <a:ea typeface="Consolas"/>
                <a:cs typeface="Consolas"/>
                <a:sym typeface="Consolas"/>
              </a:rPr>
              <a:t># Ini adalah komentar satu baris yang menjelaskan kode di bawahnya.</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9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"Halo, selamat datang!"</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p:txBody>
      </p:sp>
      <p:sp>
        <p:nvSpPr>
          <p:cNvPr id="662" name="Google Shape;662;p52"/>
          <p:cNvSpPr txBox="1"/>
          <p:nvPr/>
        </p:nvSpPr>
        <p:spPr>
          <a:xfrm>
            <a:off x="457200" y="1728950"/>
            <a:ext cx="5687400" cy="3231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9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"Rp."</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B5CEA8"/>
                </a:solidFill>
                <a:highlight>
                  <a:srgbClr val="1F1F1F"/>
                </a:highlight>
                <a:latin typeface="Consolas"/>
                <a:ea typeface="Consolas"/>
                <a:cs typeface="Consolas"/>
                <a:sym typeface="Consolas"/>
              </a:rPr>
              <a:t>200_000</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6A9955"/>
                </a:solidFill>
                <a:highlight>
                  <a:srgbClr val="1F1F1F"/>
                </a:highlight>
                <a:latin typeface="Consolas"/>
                <a:ea typeface="Consolas"/>
                <a:cs typeface="Consolas"/>
                <a:sym typeface="Consolas"/>
              </a:rPr>
              <a:t># Ini adalah komentar dalam satu baris</a:t>
            </a:r>
            <a:endParaRPr b="0" i="0" sz="900" u="none" cap="none" strike="noStrike">
              <a:solidFill>
                <a:srgbClr val="6A9955"/>
              </a:solidFill>
              <a:highlight>
                <a:srgbClr val="1F1F1F"/>
              </a:highlight>
              <a:latin typeface="Consolas"/>
              <a:ea typeface="Consolas"/>
              <a:cs typeface="Consolas"/>
              <a:sym typeface="Consolas"/>
            </a:endParaRPr>
          </a:p>
        </p:txBody>
      </p:sp>
      <p:sp>
        <p:nvSpPr>
          <p:cNvPr id="663" name="Google Shape;663;p52"/>
          <p:cNvSpPr txBox="1"/>
          <p:nvPr/>
        </p:nvSpPr>
        <p:spPr>
          <a:xfrm>
            <a:off x="457200" y="2128250"/>
            <a:ext cx="5687400" cy="13623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CE9178"/>
                </a:solidFill>
                <a:highlight>
                  <a:srgbClr val="1F1F1F"/>
                </a:highlight>
                <a:latin typeface="Consolas"/>
                <a:ea typeface="Consolas"/>
                <a:cs typeface="Consolas"/>
                <a:sym typeface="Consolas"/>
              </a:rPr>
              <a:t>"""</a:t>
            </a:r>
            <a:endParaRPr b="0" i="0" sz="900" u="none" cap="none" strike="noStrike">
              <a:solidFill>
                <a:srgbClr val="CE9178"/>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CE9178"/>
                </a:solidFill>
                <a:highlight>
                  <a:srgbClr val="1F1F1F"/>
                </a:highlight>
                <a:latin typeface="Consolas"/>
                <a:ea typeface="Consolas"/>
                <a:cs typeface="Consolas"/>
                <a:sym typeface="Consolas"/>
              </a:rPr>
              <a:t>Ini adalah contoh komentar blok.</a:t>
            </a:r>
            <a:endParaRPr b="0" i="0" sz="900" u="none" cap="none" strike="noStrike">
              <a:solidFill>
                <a:srgbClr val="CE9178"/>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CE9178"/>
                </a:solidFill>
                <a:highlight>
                  <a:srgbClr val="1F1F1F"/>
                </a:highlight>
                <a:latin typeface="Consolas"/>
                <a:ea typeface="Consolas"/>
                <a:cs typeface="Consolas"/>
                <a:sym typeface="Consolas"/>
              </a:rPr>
              <a:t>Komentar ini bisa digunakan untuk</a:t>
            </a:r>
            <a:endParaRPr b="0" i="0" sz="900" u="none" cap="none" strike="noStrike">
              <a:solidFill>
                <a:srgbClr val="CE9178"/>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CE9178"/>
                </a:solidFill>
                <a:highlight>
                  <a:srgbClr val="1F1F1F"/>
                </a:highlight>
                <a:latin typeface="Consolas"/>
                <a:ea typeface="Consolas"/>
                <a:cs typeface="Consolas"/>
                <a:sym typeface="Consolas"/>
              </a:rPr>
              <a:t>penjelasan yang lebih panjang.</a:t>
            </a:r>
            <a:endParaRPr b="0" i="0" sz="900" u="none" cap="none" strike="noStrike">
              <a:solidFill>
                <a:srgbClr val="CE9178"/>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100"/>
              <a:buFont typeface="Arial"/>
              <a:buNone/>
            </a:pPr>
            <a:r>
              <a:rPr b="0" i="0" lang="en-US" sz="900" u="none" cap="none" strike="noStrike">
                <a:solidFill>
                  <a:srgbClr val="CE9178"/>
                </a:solidFill>
                <a:highlight>
                  <a:srgbClr val="1F1F1F"/>
                </a:highlight>
                <a:latin typeface="Consolas"/>
                <a:ea typeface="Consolas"/>
                <a:cs typeface="Consolas"/>
                <a:sym typeface="Consolas"/>
              </a:rPr>
              <a:t>"""</a:t>
            </a:r>
            <a:endParaRPr b="0" i="0" sz="900" u="none" cap="none" strike="noStrike">
              <a:solidFill>
                <a:srgbClr val="CE9178"/>
              </a:solidFill>
              <a:highlight>
                <a:srgbClr val="1F1F1F"/>
              </a:highlight>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9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"Analisis data sedang dimulai..."</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DCDCAA"/>
              </a:solidFill>
              <a:highlight>
                <a:srgbClr val="1F1F1F"/>
              </a:highlight>
              <a:latin typeface="Consolas"/>
              <a:ea typeface="Consolas"/>
              <a:cs typeface="Consolas"/>
              <a:sym typeface="Consola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67" name="Shape 667"/>
        <p:cNvGrpSpPr/>
        <p:nvPr/>
      </p:nvGrpSpPr>
      <p:grpSpPr>
        <a:xfrm>
          <a:off x="0" y="0"/>
          <a:ext cx="0" cy="0"/>
          <a:chOff x="0" y="0"/>
          <a:chExt cx="0" cy="0"/>
        </a:xfrm>
      </p:grpSpPr>
      <p:sp>
        <p:nvSpPr>
          <p:cNvPr id="668" name="Google Shape;668;p53"/>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Praktik</a:t>
            </a:r>
            <a:endParaRPr b="1" i="0" sz="3600" u="none" cap="none" strike="noStrike">
              <a:solidFill>
                <a:srgbClr val="48A8C4"/>
              </a:solidFill>
              <a:latin typeface="Plus Jakarta Sans"/>
              <a:ea typeface="Plus Jakarta Sans"/>
              <a:cs typeface="Plus Jakarta Sans"/>
              <a:sym typeface="Plus Jakarta Sans"/>
            </a:endParaRPr>
          </a:p>
        </p:txBody>
      </p:sp>
      <p:pic>
        <p:nvPicPr>
          <p:cNvPr id="669" name="Google Shape;669;p53"/>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670" name="Google Shape;670;p53"/>
          <p:cNvSpPr/>
          <p:nvPr/>
        </p:nvSpPr>
        <p:spPr>
          <a:xfrm>
            <a:off x="6144525" y="1121750"/>
            <a:ext cx="4460700" cy="4009500"/>
          </a:xfrm>
          <a:prstGeom prst="parallelogram">
            <a:avLst>
              <a:gd fmla="val 25000" name="adj"/>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71" name="Google Shape;671;p53"/>
          <p:cNvSpPr txBox="1"/>
          <p:nvPr/>
        </p:nvSpPr>
        <p:spPr>
          <a:xfrm>
            <a:off x="457200" y="1121750"/>
            <a:ext cx="5687400" cy="3509400"/>
          </a:xfrm>
          <a:prstGeom prst="rect">
            <a:avLst/>
          </a:prstGeom>
          <a:solidFill>
            <a:srgbClr val="1F1F1F"/>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6A9955"/>
                </a:solidFill>
                <a:highlight>
                  <a:srgbClr val="1F1F1F"/>
                </a:highlight>
                <a:latin typeface="Consolas"/>
                <a:ea typeface="Consolas"/>
                <a:cs typeface="Consolas"/>
                <a:sym typeface="Consolas"/>
              </a:rPr>
              <a:t># =======================================================</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6A9955"/>
                </a:solidFill>
                <a:highlight>
                  <a:srgbClr val="1F1F1F"/>
                </a:highlight>
                <a:latin typeface="Consolas"/>
                <a:ea typeface="Consolas"/>
                <a:cs typeface="Consolas"/>
                <a:sym typeface="Consolas"/>
              </a:rPr>
              <a:t># Laporan Harian Sederhana</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6A9955"/>
                </a:solidFill>
                <a:highlight>
                  <a:srgbClr val="1F1F1F"/>
                </a:highlight>
                <a:latin typeface="Consolas"/>
                <a:ea typeface="Consolas"/>
                <a:cs typeface="Consolas"/>
                <a:sym typeface="Consolas"/>
              </a:rPr>
              <a:t># =======================================================</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6A9955"/>
                </a:solidFill>
                <a:highlight>
                  <a:srgbClr val="1F1F1F"/>
                </a:highlight>
                <a:latin typeface="Consolas"/>
                <a:ea typeface="Consolas"/>
                <a:cs typeface="Consolas"/>
                <a:sym typeface="Consolas"/>
              </a:rPr>
              <a:t># Mencetak informasi pendapatan harian</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"Total pendapatan harian:"</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B5CEA8"/>
                </a:solidFill>
                <a:highlight>
                  <a:srgbClr val="1F1F1F"/>
                </a:highlight>
                <a:latin typeface="Consolas"/>
                <a:ea typeface="Consolas"/>
                <a:cs typeface="Consolas"/>
                <a:sym typeface="Consolas"/>
              </a:rPr>
              <a:t>1500000</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6A9955"/>
                </a:solidFill>
                <a:highlight>
                  <a:srgbClr val="1F1F1F"/>
                </a:highlight>
                <a:latin typeface="Consolas"/>
                <a:ea typeface="Consolas"/>
                <a:cs typeface="Consolas"/>
                <a:sym typeface="Consolas"/>
              </a:rPr>
              <a:t># Angka ini adalah total pendapatan hari ini</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6A9955"/>
                </a:solidFill>
                <a:highlight>
                  <a:srgbClr val="1F1F1F"/>
                </a:highlight>
                <a:latin typeface="Consolas"/>
                <a:ea typeface="Consolas"/>
                <a:cs typeface="Consolas"/>
                <a:sym typeface="Consolas"/>
              </a:rPr>
              <a:t># Mencetak informasi jumlah pesanan</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"Jumlah pesanan:"</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B5CEA8"/>
                </a:solidFill>
                <a:highlight>
                  <a:srgbClr val="1F1F1F"/>
                </a:highlight>
                <a:latin typeface="Consolas"/>
                <a:ea typeface="Consolas"/>
                <a:cs typeface="Consolas"/>
                <a:sym typeface="Consolas"/>
              </a:rPr>
              <a:t>150</a:t>
            </a:r>
            <a:r>
              <a:rPr b="0" i="0" lang="en-US" sz="900" u="none" cap="none" strike="noStrike">
                <a:solidFill>
                  <a:srgbClr val="CCCCCC"/>
                </a:solidFill>
                <a:highlight>
                  <a:srgbClr val="1F1F1F"/>
                </a:highlight>
                <a:latin typeface="Consolas"/>
                <a:ea typeface="Consolas"/>
                <a:cs typeface="Consolas"/>
                <a:sym typeface="Consolas"/>
              </a:rPr>
              <a:t>) </a:t>
            </a:r>
            <a:r>
              <a:rPr b="0" i="0" lang="en-US" sz="900" u="none" cap="none" strike="noStrike">
                <a:solidFill>
                  <a:srgbClr val="6A9955"/>
                </a:solidFill>
                <a:highlight>
                  <a:srgbClr val="1F1F1F"/>
                </a:highlight>
                <a:latin typeface="Consolas"/>
                <a:ea typeface="Consolas"/>
                <a:cs typeface="Consolas"/>
                <a:sym typeface="Consolas"/>
              </a:rPr>
              <a:t># Angka ini adalah total pesanan yang masuk</a:t>
            </a:r>
            <a:endParaRPr b="0" i="0" sz="900" u="none" cap="none" strike="noStrike">
              <a:solidFill>
                <a:srgbClr val="6A9955"/>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CE9178"/>
                </a:solidFill>
                <a:highlight>
                  <a:srgbClr val="1F1F1F"/>
                </a:highlight>
                <a:latin typeface="Consolas"/>
                <a:ea typeface="Consolas"/>
                <a:cs typeface="Consolas"/>
                <a:sym typeface="Consolas"/>
              </a:rPr>
              <a:t>"""</a:t>
            </a:r>
            <a:endParaRPr b="0" i="0" sz="900" u="none" cap="none" strike="noStrike">
              <a:solidFill>
                <a:srgbClr val="CE9178"/>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CE9178"/>
                </a:solidFill>
                <a:highlight>
                  <a:srgbClr val="1F1F1F"/>
                </a:highlight>
                <a:latin typeface="Consolas"/>
                <a:ea typeface="Consolas"/>
                <a:cs typeface="Consolas"/>
                <a:sym typeface="Consolas"/>
              </a:rPr>
              <a:t>=========================================================</a:t>
            </a:r>
            <a:endParaRPr b="0" i="0" sz="900" u="none" cap="none" strike="noStrike">
              <a:solidFill>
                <a:srgbClr val="CE9178"/>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CE9178"/>
                </a:solidFill>
                <a:highlight>
                  <a:srgbClr val="1F1F1F"/>
                </a:highlight>
                <a:latin typeface="Consolas"/>
                <a:ea typeface="Consolas"/>
                <a:cs typeface="Consolas"/>
                <a:sym typeface="Consolas"/>
              </a:rPr>
              <a:t>Catatan Tambahan:</a:t>
            </a:r>
            <a:endParaRPr b="0" i="0" sz="900" u="none" cap="none" strike="noStrike">
              <a:solidFill>
                <a:srgbClr val="CE9178"/>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CE9178"/>
                </a:solidFill>
                <a:highlight>
                  <a:srgbClr val="1F1F1F"/>
                </a:highlight>
                <a:latin typeface="Consolas"/>
                <a:ea typeface="Consolas"/>
                <a:cs typeface="Consolas"/>
                <a:sym typeface="Consolas"/>
              </a:rPr>
              <a:t>Laporan ini bisa digunakan untuk melihat performa harian</a:t>
            </a:r>
            <a:endParaRPr b="0" i="0" sz="900" u="none" cap="none" strike="noStrike">
              <a:solidFill>
                <a:srgbClr val="CE9178"/>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CE9178"/>
                </a:solidFill>
                <a:highlight>
                  <a:srgbClr val="1F1F1F"/>
                </a:highlight>
                <a:latin typeface="Consolas"/>
                <a:ea typeface="Consolas"/>
                <a:cs typeface="Consolas"/>
                <a:sym typeface="Consolas"/>
              </a:rPr>
              <a:t>dan membuat keputusan promosi di masa depan.</a:t>
            </a:r>
            <a:endParaRPr b="0" i="0" sz="900" u="none" cap="none" strike="noStrike">
              <a:solidFill>
                <a:srgbClr val="CE9178"/>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CE9178"/>
                </a:solidFill>
                <a:highlight>
                  <a:srgbClr val="1F1F1F"/>
                </a:highlight>
                <a:latin typeface="Consolas"/>
                <a:ea typeface="Consolas"/>
                <a:cs typeface="Consolas"/>
                <a:sym typeface="Consolas"/>
              </a:rPr>
              <a:t>=========================================================</a:t>
            </a:r>
            <a:endParaRPr b="0" i="0" sz="900" u="none" cap="none" strike="noStrike">
              <a:solidFill>
                <a:srgbClr val="CE9178"/>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CE9178"/>
                </a:solidFill>
                <a:highlight>
                  <a:srgbClr val="1F1F1F"/>
                </a:highlight>
                <a:latin typeface="Consolas"/>
                <a:ea typeface="Consolas"/>
                <a:cs typeface="Consolas"/>
                <a:sym typeface="Consolas"/>
              </a:rPr>
              <a:t>"""</a:t>
            </a:r>
            <a:endParaRPr b="0" i="0" sz="900" u="none" cap="none" strike="noStrike">
              <a:solidFill>
                <a:srgbClr val="CE9178"/>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rPr b="0" i="0" lang="en-US" sz="900" u="none" cap="none" strike="noStrike">
                <a:solidFill>
                  <a:srgbClr val="DCDCAA"/>
                </a:solidFill>
                <a:highlight>
                  <a:srgbClr val="1F1F1F"/>
                </a:highlight>
                <a:latin typeface="Consolas"/>
                <a:ea typeface="Consolas"/>
                <a:cs typeface="Consolas"/>
                <a:sym typeface="Consolas"/>
              </a:rPr>
              <a:t>print</a:t>
            </a:r>
            <a:r>
              <a:rPr b="0" i="0" lang="en-US" sz="900" u="none" cap="none" strike="noStrike">
                <a:solidFill>
                  <a:srgbClr val="CCCCCC"/>
                </a:solidFill>
                <a:highlight>
                  <a:srgbClr val="1F1F1F"/>
                </a:highlight>
                <a:latin typeface="Consolas"/>
                <a:ea typeface="Consolas"/>
                <a:cs typeface="Consolas"/>
                <a:sym typeface="Consolas"/>
              </a:rPr>
              <a:t>(</a:t>
            </a:r>
            <a:r>
              <a:rPr b="0" i="0" lang="en-US" sz="900" u="none" cap="none" strike="noStrike">
                <a:solidFill>
                  <a:srgbClr val="CE9178"/>
                </a:solidFill>
                <a:highlight>
                  <a:srgbClr val="1F1F1F"/>
                </a:highlight>
                <a:latin typeface="Consolas"/>
                <a:ea typeface="Consolas"/>
                <a:cs typeface="Consolas"/>
                <a:sym typeface="Consolas"/>
              </a:rPr>
              <a:t>"Laporan selesai."</a:t>
            </a:r>
            <a:r>
              <a:rPr b="0" i="0" lang="en-US" sz="900" u="none" cap="none" strike="noStrike">
                <a:solidFill>
                  <a:srgbClr val="CCCCCC"/>
                </a:solidFill>
                <a:highlight>
                  <a:srgbClr val="1F1F1F"/>
                </a:highlight>
                <a:latin typeface="Consolas"/>
                <a:ea typeface="Consolas"/>
                <a:cs typeface="Consolas"/>
                <a:sym typeface="Consolas"/>
              </a:rPr>
              <a:t>)</a:t>
            </a:r>
            <a:endParaRPr b="0" i="0" sz="900" u="none" cap="none" strike="noStrike">
              <a:solidFill>
                <a:srgbClr val="CCCCCC"/>
              </a:solidFill>
              <a:highlight>
                <a:srgbClr val="1F1F1F"/>
              </a:highlight>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900"/>
              <a:buFont typeface="Arial"/>
              <a:buNone/>
            </a:pPr>
            <a:r>
              <a:t/>
            </a:r>
            <a:endParaRPr b="0" i="0" sz="900" u="none" cap="none" strike="noStrike">
              <a:solidFill>
                <a:srgbClr val="6A9955"/>
              </a:solidFill>
              <a:highlight>
                <a:srgbClr val="1F1F1F"/>
              </a:highlight>
              <a:latin typeface="Consolas"/>
              <a:ea typeface="Consolas"/>
              <a:cs typeface="Consolas"/>
              <a:sym typeface="Consolas"/>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75" name="Shape 675"/>
        <p:cNvGrpSpPr/>
        <p:nvPr/>
      </p:nvGrpSpPr>
      <p:grpSpPr>
        <a:xfrm>
          <a:off x="0" y="0"/>
          <a:ext cx="0" cy="0"/>
          <a:chOff x="0" y="0"/>
          <a:chExt cx="0" cy="0"/>
        </a:xfrm>
      </p:grpSpPr>
      <p:sp>
        <p:nvSpPr>
          <p:cNvPr id="676" name="Google Shape;676;p54"/>
          <p:cNvSpPr txBox="1"/>
          <p:nvPr>
            <p:ph type="ctrTitle"/>
          </p:nvPr>
        </p:nvSpPr>
        <p:spPr>
          <a:xfrm>
            <a:off x="4863675" y="3098975"/>
            <a:ext cx="4281900" cy="838200"/>
          </a:xfrm>
          <a:prstGeom prst="rect">
            <a:avLst/>
          </a:prstGeom>
          <a:noFill/>
          <a:ln>
            <a:noFill/>
          </a:ln>
        </p:spPr>
        <p:txBody>
          <a:bodyPr anchorCtr="0" anchor="b" bIns="91450" lIns="91450" spcFirstLastPara="1" rIns="91450" wrap="square" tIns="91450">
            <a:normAutofit/>
          </a:bodyPr>
          <a:lstStyle/>
          <a:p>
            <a:pPr indent="0" lvl="0" marL="0" rtl="0" algn="l">
              <a:lnSpc>
                <a:spcPct val="85000"/>
              </a:lnSpc>
              <a:spcBef>
                <a:spcPts val="0"/>
              </a:spcBef>
              <a:spcAft>
                <a:spcPts val="0"/>
              </a:spcAft>
              <a:buSzPts val="5778"/>
              <a:buNone/>
            </a:pPr>
            <a:r>
              <a:rPr b="1" lang="en-US" sz="4800">
                <a:latin typeface="Plus Jakarta Sans"/>
                <a:ea typeface="Plus Jakarta Sans"/>
                <a:cs typeface="Plus Jakarta Sans"/>
                <a:sym typeface="Plus Jakarta Sans"/>
              </a:rPr>
              <a:t>Pertanyaan?</a:t>
            </a:r>
            <a:endParaRPr b="1" sz="4800">
              <a:latin typeface="Plus Jakarta Sans"/>
              <a:ea typeface="Plus Jakarta Sans"/>
              <a:cs typeface="Plus Jakarta Sans"/>
              <a:sym typeface="Plus Jakarta Sans"/>
            </a:endParaRPr>
          </a:p>
        </p:txBody>
      </p:sp>
      <p:grpSp>
        <p:nvGrpSpPr>
          <p:cNvPr id="677" name="Google Shape;677;p54"/>
          <p:cNvGrpSpPr/>
          <p:nvPr/>
        </p:nvGrpSpPr>
        <p:grpSpPr>
          <a:xfrm>
            <a:off x="159" y="-214211"/>
            <a:ext cx="2765532" cy="2691752"/>
            <a:chOff x="9584423" y="-302695"/>
            <a:chExt cx="4822201" cy="4822201"/>
          </a:xfrm>
        </p:grpSpPr>
        <p:sp>
          <p:nvSpPr>
            <p:cNvPr id="678" name="Google Shape;678;p54"/>
            <p:cNvSpPr/>
            <p:nvPr/>
          </p:nvSpPr>
          <p:spPr>
            <a:xfrm rot="6626698">
              <a:off x="10121100" y="233982"/>
              <a:ext cx="3748847" cy="3748847"/>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79" name="Google Shape;679;p54"/>
            <p:cNvSpPr/>
            <p:nvPr/>
          </p:nvSpPr>
          <p:spPr>
            <a:xfrm rot="5026486">
              <a:off x="10682783" y="729525"/>
              <a:ext cx="2625482" cy="2625482"/>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80" name="Google Shape;680;p54"/>
            <p:cNvSpPr/>
            <p:nvPr/>
          </p:nvSpPr>
          <p:spPr>
            <a:xfrm rot="2969049">
              <a:off x="11210027" y="1256768"/>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81" name="Google Shape;681;p54"/>
            <p:cNvSpPr/>
            <p:nvPr/>
          </p:nvSpPr>
          <p:spPr>
            <a:xfrm rot="10347786">
              <a:off x="11700466" y="1747209"/>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nvGrpSpPr>
          <p:cNvPr id="682" name="Google Shape;682;p54"/>
          <p:cNvGrpSpPr/>
          <p:nvPr/>
        </p:nvGrpSpPr>
        <p:grpSpPr>
          <a:xfrm>
            <a:off x="-840830" y="1116257"/>
            <a:ext cx="5795400" cy="5795400"/>
            <a:chOff x="4094945" y="667082"/>
            <a:chExt cx="5795400" cy="5795400"/>
          </a:xfrm>
        </p:grpSpPr>
        <p:sp>
          <p:nvSpPr>
            <p:cNvPr id="683" name="Google Shape;683;p54"/>
            <p:cNvSpPr/>
            <p:nvPr/>
          </p:nvSpPr>
          <p:spPr>
            <a:xfrm rot="6626718">
              <a:off x="4739938" y="1312075"/>
              <a:ext cx="4505414" cy="4505414"/>
            </a:xfrm>
            <a:prstGeom prst="ellipse">
              <a:avLst/>
            </a:prstGeom>
            <a:solidFill>
              <a:srgbClr val="48A8C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84" name="Google Shape;684;p54"/>
            <p:cNvSpPr/>
            <p:nvPr/>
          </p:nvSpPr>
          <p:spPr>
            <a:xfrm rot="5026475">
              <a:off x="5429162" y="2051505"/>
              <a:ext cx="3026548" cy="302654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85" name="Google Shape;685;p54"/>
            <p:cNvSpPr/>
            <p:nvPr/>
          </p:nvSpPr>
          <p:spPr>
            <a:xfrm rot="2969049">
              <a:off x="6156933" y="2732845"/>
              <a:ext cx="1570980" cy="1570980"/>
            </a:xfrm>
            <a:prstGeom prst="ellipse">
              <a:avLst/>
            </a:prstGeom>
            <a:solidFill>
              <a:srgbClr val="F08B3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686" name="Google Shape;686;p54"/>
            <p:cNvSpPr/>
            <p:nvPr/>
          </p:nvSpPr>
          <p:spPr>
            <a:xfrm rot="10347786">
              <a:off x="6647371" y="3223287"/>
              <a:ext cx="590098" cy="590098"/>
            </a:xfrm>
            <a:prstGeom prst="ellipse">
              <a:avLst/>
            </a:prstGeom>
            <a:solidFill>
              <a:srgbClr val="FFBD5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pic>
        <p:nvPicPr>
          <p:cNvPr id="687" name="Google Shape;687;p54"/>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8A8C4"/>
        </a:solidFill>
      </p:bgPr>
    </p:bg>
    <p:spTree>
      <p:nvGrpSpPr>
        <p:cNvPr id="691" name="Shape 691"/>
        <p:cNvGrpSpPr/>
        <p:nvPr/>
      </p:nvGrpSpPr>
      <p:grpSpPr>
        <a:xfrm>
          <a:off x="0" y="0"/>
          <a:ext cx="0" cy="0"/>
          <a:chOff x="0" y="0"/>
          <a:chExt cx="0" cy="0"/>
        </a:xfrm>
      </p:grpSpPr>
      <p:sp>
        <p:nvSpPr>
          <p:cNvPr id="692" name="Google Shape;692;p55"/>
          <p:cNvSpPr txBox="1"/>
          <p:nvPr>
            <p:ph type="ctrTitle"/>
          </p:nvPr>
        </p:nvSpPr>
        <p:spPr>
          <a:xfrm>
            <a:off x="336100" y="2352200"/>
            <a:ext cx="8475000" cy="1357800"/>
          </a:xfrm>
          <a:prstGeom prst="rect">
            <a:avLst/>
          </a:prstGeom>
          <a:noFill/>
          <a:ln>
            <a:noFill/>
          </a:ln>
        </p:spPr>
        <p:txBody>
          <a:bodyPr anchorCtr="0" anchor="ctr" bIns="45700" lIns="91425" spcFirstLastPara="1" rIns="91425" wrap="square" tIns="45700">
            <a:normAutofit/>
          </a:bodyPr>
          <a:lstStyle/>
          <a:p>
            <a:pPr indent="0" lvl="0" marL="0" rtl="0" algn="l">
              <a:lnSpc>
                <a:spcPct val="85000"/>
              </a:lnSpc>
              <a:spcBef>
                <a:spcPts val="0"/>
              </a:spcBef>
              <a:spcAft>
                <a:spcPts val="0"/>
              </a:spcAft>
              <a:buSzPts val="990"/>
              <a:buNone/>
            </a:pPr>
            <a:r>
              <a:rPr b="1" lang="en-US" sz="3420">
                <a:solidFill>
                  <a:schemeClr val="lt1"/>
                </a:solidFill>
                <a:latin typeface="Plus Jakarta Sans"/>
                <a:ea typeface="Plus Jakarta Sans"/>
                <a:cs typeface="Plus Jakarta Sans"/>
                <a:sym typeface="Plus Jakarta Sans"/>
              </a:rPr>
              <a:t>It’s Kahoot Time..</a:t>
            </a:r>
            <a:endParaRPr b="1" sz="3420">
              <a:solidFill>
                <a:schemeClr val="lt1"/>
              </a:solidFill>
              <a:latin typeface="Plus Jakarta Sans"/>
              <a:ea typeface="Plus Jakarta Sans"/>
              <a:cs typeface="Plus Jakarta Sans"/>
              <a:sym typeface="Plus Jakarta Sans"/>
            </a:endParaRPr>
          </a:p>
        </p:txBody>
      </p:sp>
      <p:pic>
        <p:nvPicPr>
          <p:cNvPr id="693" name="Google Shape;693;p55"/>
          <p:cNvPicPr preferRelativeResize="0"/>
          <p:nvPr/>
        </p:nvPicPr>
        <p:blipFill rotWithShape="1">
          <a:blip r:embed="rId3">
            <a:alphaModFix/>
          </a:blip>
          <a:srcRect b="0" l="0" r="0" t="0"/>
          <a:stretch/>
        </p:blipFill>
        <p:spPr>
          <a:xfrm>
            <a:off x="7625838" y="276722"/>
            <a:ext cx="1185011" cy="358738"/>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697" name="Shape 697"/>
        <p:cNvGrpSpPr/>
        <p:nvPr/>
      </p:nvGrpSpPr>
      <p:grpSpPr>
        <a:xfrm>
          <a:off x="0" y="0"/>
          <a:ext cx="0" cy="0"/>
          <a:chOff x="0" y="0"/>
          <a:chExt cx="0" cy="0"/>
        </a:xfrm>
      </p:grpSpPr>
      <p:sp>
        <p:nvSpPr>
          <p:cNvPr id="698" name="Google Shape;698;p56"/>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Exercise</a:t>
            </a:r>
            <a:endParaRPr b="1" i="0" sz="3600" u="none" cap="none" strike="noStrike">
              <a:solidFill>
                <a:srgbClr val="48A8C4"/>
              </a:solidFill>
              <a:latin typeface="Plus Jakarta Sans"/>
              <a:ea typeface="Plus Jakarta Sans"/>
              <a:cs typeface="Plus Jakarta Sans"/>
              <a:sym typeface="Plus Jakarta Sans"/>
            </a:endParaRPr>
          </a:p>
        </p:txBody>
      </p:sp>
      <p:pic>
        <p:nvPicPr>
          <p:cNvPr id="699" name="Google Shape;699;p56"/>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
        <p:nvSpPr>
          <p:cNvPr id="700" name="Google Shape;700;p56"/>
          <p:cNvSpPr txBox="1"/>
          <p:nvPr/>
        </p:nvSpPr>
        <p:spPr>
          <a:xfrm>
            <a:off x="457200" y="1121750"/>
            <a:ext cx="8358300" cy="36039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1400"/>
              </a:spcBef>
              <a:spcAft>
                <a:spcPts val="0"/>
              </a:spcAft>
              <a:buClr>
                <a:srgbClr val="000000"/>
              </a:buClr>
              <a:buSzPts val="1100"/>
              <a:buFont typeface="Arial"/>
              <a:buNone/>
            </a:pPr>
            <a:r>
              <a:rPr b="1" i="0" lang="en-US" sz="1100" u="none" cap="none" strike="noStrike">
                <a:solidFill>
                  <a:schemeClr val="dk2"/>
                </a:solidFill>
                <a:latin typeface="Arial"/>
                <a:ea typeface="Arial"/>
                <a:cs typeface="Arial"/>
                <a:sym typeface="Arial"/>
              </a:rPr>
              <a:t>1. Tugas Essay</a:t>
            </a:r>
            <a:endParaRPr b="1"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100"/>
              <a:buFont typeface="Arial"/>
              <a:buNone/>
            </a:pPr>
            <a:r>
              <a:rPr b="1" i="0" lang="en-US" sz="1100" u="none" cap="none" strike="noStrike">
                <a:solidFill>
                  <a:schemeClr val="dk2"/>
                </a:solidFill>
                <a:latin typeface="Arial"/>
                <a:ea typeface="Arial"/>
                <a:cs typeface="Arial"/>
                <a:sym typeface="Arial"/>
              </a:rPr>
              <a:t>Petunjuk:</a:t>
            </a:r>
            <a:r>
              <a:rPr b="0" i="0" lang="en-US" sz="1100" u="none" cap="none" strike="noStrike">
                <a:solidFill>
                  <a:schemeClr val="dk2"/>
                </a:solidFill>
                <a:latin typeface="Arial"/>
                <a:ea typeface="Arial"/>
                <a:cs typeface="Arial"/>
                <a:sym typeface="Arial"/>
              </a:rPr>
              <a:t> Jawablah pertanyaan-pertanyaan berikut dengan jelas dan ringkas. Fokus pada pemahaman konsep dan cara Anda berpikir.</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1200"/>
              </a:spcBef>
              <a:spcAft>
                <a:spcPts val="0"/>
              </a:spcAft>
              <a:buClr>
                <a:schemeClr val="dk2"/>
              </a:buClr>
              <a:buSzPts val="1100"/>
              <a:buFont typeface="Arial"/>
              <a:buAutoNum type="arabicPeriod"/>
            </a:pPr>
            <a:r>
              <a:rPr b="1" i="0" lang="en-US" sz="1100" u="none" cap="none" strike="noStrike">
                <a:solidFill>
                  <a:schemeClr val="dk2"/>
                </a:solidFill>
                <a:latin typeface="Arial"/>
                <a:ea typeface="Arial"/>
                <a:cs typeface="Arial"/>
                <a:sym typeface="Arial"/>
              </a:rPr>
              <a:t>Studi Kasus Coffee Shop dan 5V Big Data:</a:t>
            </a:r>
            <a:r>
              <a:rPr b="0" i="0" lang="en-US" sz="1100" u="none" cap="none" strike="noStrike">
                <a:solidFill>
                  <a:schemeClr val="dk2"/>
                </a:solidFill>
                <a:latin typeface="Arial"/>
                <a:ea typeface="Arial"/>
                <a:cs typeface="Arial"/>
                <a:sym typeface="Arial"/>
              </a:rPr>
              <a:t> Bayangkan Anda adalah manajer operasional di sebuah </a:t>
            </a:r>
            <a:r>
              <a:rPr b="0" i="1" lang="en-US" sz="1100" u="none" cap="none" strike="noStrike">
                <a:solidFill>
                  <a:schemeClr val="dk2"/>
                </a:solidFill>
                <a:latin typeface="Arial"/>
                <a:ea typeface="Arial"/>
                <a:cs typeface="Arial"/>
                <a:sym typeface="Arial"/>
              </a:rPr>
              <a:t>coffee shop</a:t>
            </a:r>
            <a:r>
              <a:rPr b="0" i="0" lang="en-US" sz="1100" u="none" cap="none" strike="noStrike">
                <a:solidFill>
                  <a:schemeClr val="dk2"/>
                </a:solidFill>
                <a:latin typeface="Arial"/>
                <a:ea typeface="Arial"/>
                <a:cs typeface="Arial"/>
                <a:sym typeface="Arial"/>
              </a:rPr>
              <a:t>. Jelaskan bagaimana Anda bisa menerapkan setiap dari </a:t>
            </a:r>
            <a:r>
              <a:rPr b="1" i="0" lang="en-US" sz="1100" u="none" cap="none" strike="noStrike">
                <a:solidFill>
                  <a:schemeClr val="dk2"/>
                </a:solidFill>
                <a:latin typeface="Arial"/>
                <a:ea typeface="Arial"/>
                <a:cs typeface="Arial"/>
                <a:sym typeface="Arial"/>
              </a:rPr>
              <a:t>5V Big Data (Volume, Velocity, Variety, Veracity, Value)</a:t>
            </a:r>
            <a:r>
              <a:rPr b="0" i="0" lang="en-US" sz="1100" u="none" cap="none" strike="noStrike">
                <a:solidFill>
                  <a:schemeClr val="dk2"/>
                </a:solidFill>
                <a:latin typeface="Arial"/>
                <a:ea typeface="Arial"/>
                <a:cs typeface="Arial"/>
                <a:sym typeface="Arial"/>
              </a:rPr>
              <a:t> untuk mengoptimalkan operasional dan meningkatkan keuntungan. Berikan contoh spesifik untuk setiap V.</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0"/>
              </a:spcBef>
              <a:spcAft>
                <a:spcPts val="0"/>
              </a:spcAft>
              <a:buClr>
                <a:schemeClr val="dk2"/>
              </a:buClr>
              <a:buSzPts val="1100"/>
              <a:buFont typeface="Arial"/>
              <a:buAutoNum type="arabicPeriod"/>
            </a:pPr>
            <a:r>
              <a:rPr b="1" i="0" lang="en-US" sz="1100" u="none" cap="none" strike="noStrike">
                <a:solidFill>
                  <a:schemeClr val="dk2"/>
                </a:solidFill>
                <a:latin typeface="Arial"/>
                <a:ea typeface="Arial"/>
                <a:cs typeface="Arial"/>
                <a:sym typeface="Arial"/>
              </a:rPr>
              <a:t>Machine Learning vs. Pemikiran Manusia:</a:t>
            </a:r>
            <a:r>
              <a:rPr b="0" i="0" lang="en-US" sz="1100" u="none" cap="none" strike="noStrike">
                <a:solidFill>
                  <a:schemeClr val="dk2"/>
                </a:solidFill>
                <a:latin typeface="Arial"/>
                <a:ea typeface="Arial"/>
                <a:cs typeface="Arial"/>
                <a:sym typeface="Arial"/>
              </a:rPr>
              <a:t> Jelaskan dengan kata-kata Anda sendiri, mengapa Machine Learning dapat membantu pemilik </a:t>
            </a:r>
            <a:r>
              <a:rPr b="0" i="1" lang="en-US" sz="1100" u="none" cap="none" strike="noStrike">
                <a:solidFill>
                  <a:schemeClr val="dk2"/>
                </a:solidFill>
                <a:latin typeface="Arial"/>
                <a:ea typeface="Arial"/>
                <a:cs typeface="Arial"/>
                <a:sym typeface="Arial"/>
              </a:rPr>
              <a:t>coffee shop</a:t>
            </a:r>
            <a:r>
              <a:rPr b="0" i="0" lang="en-US" sz="1100" u="none" cap="none" strike="noStrike">
                <a:solidFill>
                  <a:schemeClr val="dk2"/>
                </a:solidFill>
                <a:latin typeface="Arial"/>
                <a:ea typeface="Arial"/>
                <a:cs typeface="Arial"/>
                <a:sym typeface="Arial"/>
              </a:rPr>
              <a:t> membuat keputusan yang lebih baik dibandingkan dengan hanya mengandalkan intuisi atau pengalaman pribadi? Berikan satu contoh masalah yang sulit dipecahkan dengan intuisi tetapi mudah dipecahkan oleh Machine Learning.</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0"/>
              </a:spcBef>
              <a:spcAft>
                <a:spcPts val="0"/>
              </a:spcAft>
              <a:buClr>
                <a:schemeClr val="dk2"/>
              </a:buClr>
              <a:buSzPts val="1100"/>
              <a:buFont typeface="Arial"/>
              <a:buAutoNum type="arabicPeriod"/>
            </a:pPr>
            <a:r>
              <a:rPr b="1" i="0" lang="en-US" sz="1100" u="none" cap="none" strike="noStrike">
                <a:solidFill>
                  <a:schemeClr val="dk2"/>
                </a:solidFill>
                <a:latin typeface="Arial"/>
                <a:ea typeface="Arial"/>
                <a:cs typeface="Arial"/>
                <a:sym typeface="Arial"/>
              </a:rPr>
              <a:t>Peran Python dan Keterbacaan Kode:</a:t>
            </a:r>
            <a:r>
              <a:rPr b="0" i="0" lang="en-US" sz="1100" u="none" cap="none" strike="noStrike">
                <a:solidFill>
                  <a:schemeClr val="dk2"/>
                </a:solidFill>
                <a:latin typeface="Arial"/>
                <a:ea typeface="Arial"/>
                <a:cs typeface="Arial"/>
                <a:sym typeface="Arial"/>
              </a:rPr>
              <a:t> Mengapa Python menjadi "lingua franca" untuk Data Science? Berikan alasan-alasan yang kuat. Lalu, mengapa penting untuk menulis kode yang mudah dibaca (</a:t>
            </a:r>
            <a:r>
              <a:rPr b="0" i="1" lang="en-US" sz="1100" u="none" cap="none" strike="noStrike">
                <a:solidFill>
                  <a:schemeClr val="dk2"/>
                </a:solidFill>
                <a:latin typeface="Arial"/>
                <a:ea typeface="Arial"/>
                <a:cs typeface="Arial"/>
                <a:sym typeface="Arial"/>
              </a:rPr>
              <a:t>readable code</a:t>
            </a:r>
            <a:r>
              <a:rPr b="0" i="0" lang="en-US" sz="1100" u="none" cap="none" strike="noStrike">
                <a:solidFill>
                  <a:schemeClr val="dk2"/>
                </a:solidFill>
                <a:latin typeface="Arial"/>
                <a:ea typeface="Arial"/>
                <a:cs typeface="Arial"/>
                <a:sym typeface="Arial"/>
              </a:rPr>
              <a:t>)? Jelaskan bagaimana komentar dan gaya penulisan yang baik dapat membantu dalam proyek analisis data di </a:t>
            </a:r>
            <a:r>
              <a:rPr b="0" i="1" lang="en-US" sz="1100" u="none" cap="none" strike="noStrike">
                <a:solidFill>
                  <a:schemeClr val="dk2"/>
                </a:solidFill>
                <a:latin typeface="Arial"/>
                <a:ea typeface="Arial"/>
                <a:cs typeface="Arial"/>
                <a:sym typeface="Arial"/>
              </a:rPr>
              <a:t>coffee shop</a:t>
            </a:r>
            <a:r>
              <a:rPr b="0" i="0" lang="en-US" sz="1100" u="none" cap="none" strike="noStrike">
                <a:solidFill>
                  <a:schemeClr val="dk2"/>
                </a:solidFill>
                <a:latin typeface="Arial"/>
                <a:ea typeface="Arial"/>
                <a:cs typeface="Arial"/>
                <a:sym typeface="Arial"/>
              </a:rPr>
              <a:t>.</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04" name="Shape 704"/>
        <p:cNvGrpSpPr/>
        <p:nvPr/>
      </p:nvGrpSpPr>
      <p:grpSpPr>
        <a:xfrm>
          <a:off x="0" y="0"/>
          <a:ext cx="0" cy="0"/>
          <a:chOff x="0" y="0"/>
          <a:chExt cx="0" cy="0"/>
        </a:xfrm>
      </p:grpSpPr>
      <p:sp>
        <p:nvSpPr>
          <p:cNvPr id="705" name="Google Shape;705;p57"/>
          <p:cNvSpPr txBox="1"/>
          <p:nvPr/>
        </p:nvSpPr>
        <p:spPr>
          <a:xfrm>
            <a:off x="507525" y="1121750"/>
            <a:ext cx="8358300" cy="31386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1400"/>
              </a:spcBef>
              <a:spcAft>
                <a:spcPts val="0"/>
              </a:spcAft>
              <a:buClr>
                <a:schemeClr val="dk1"/>
              </a:buClr>
              <a:buSzPts val="1100"/>
              <a:buFont typeface="Arial"/>
              <a:buNone/>
            </a:pPr>
            <a:r>
              <a:rPr b="1" i="0" lang="en-US" sz="1100" u="none" cap="none" strike="noStrike">
                <a:solidFill>
                  <a:schemeClr val="dk2"/>
                </a:solidFill>
                <a:latin typeface="Arial"/>
                <a:ea typeface="Arial"/>
                <a:cs typeface="Arial"/>
                <a:sym typeface="Arial"/>
              </a:rPr>
              <a:t>2. Tugas Praktik</a:t>
            </a:r>
            <a:endParaRPr b="1"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chemeClr val="dk1"/>
              </a:buClr>
              <a:buSzPts val="1100"/>
              <a:buFont typeface="Arial"/>
              <a:buNone/>
            </a:pPr>
            <a:r>
              <a:rPr b="1" i="0" lang="en-US" sz="1100" u="none" cap="none" strike="noStrike">
                <a:solidFill>
                  <a:schemeClr val="dk2"/>
                </a:solidFill>
                <a:latin typeface="Arial"/>
                <a:ea typeface="Arial"/>
                <a:cs typeface="Arial"/>
                <a:sym typeface="Arial"/>
              </a:rPr>
              <a:t>Petunjuk:</a:t>
            </a:r>
            <a:r>
              <a:rPr b="0" i="0" lang="en-US" sz="1100" u="none" cap="none" strike="noStrike">
                <a:solidFill>
                  <a:schemeClr val="dk2"/>
                </a:solidFill>
                <a:latin typeface="Arial"/>
                <a:ea typeface="Arial"/>
                <a:cs typeface="Arial"/>
                <a:sym typeface="Arial"/>
              </a:rPr>
              <a:t> Gunakan Notebook untuk menyelesaikan semua tugas di bawah ini. Pastikan untuk menambahkan komentar (#) di setiap langkah untuk menjelaskan apa yang Anda lakukan.</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1200"/>
              </a:spcBef>
              <a:spcAft>
                <a:spcPts val="0"/>
              </a:spcAft>
              <a:buClr>
                <a:schemeClr val="dk2"/>
              </a:buClr>
              <a:buSzPts val="1100"/>
              <a:buFont typeface="Arial"/>
              <a:buAutoNum type="arabicPeriod"/>
            </a:pPr>
            <a:r>
              <a:rPr b="1" i="0" lang="en-US" sz="1100" u="none" cap="none" strike="noStrike">
                <a:solidFill>
                  <a:schemeClr val="dk2"/>
                </a:solidFill>
                <a:latin typeface="Arial"/>
                <a:ea typeface="Arial"/>
                <a:cs typeface="Arial"/>
                <a:sym typeface="Arial"/>
              </a:rPr>
              <a:t>Mencetak Informasi Sederhana:</a:t>
            </a:r>
            <a:endParaRPr b="1"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Gunakan perintah print() untuk mencetak pesan "Selamat Datang di Analisis Data Coffee Shop!".</a:t>
            </a:r>
            <a:endParaRPr b="0"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Cetak nama produk favorit Anda dari </a:t>
            </a:r>
            <a:r>
              <a:rPr b="0" i="1" lang="en-US" sz="1100" u="none" cap="none" strike="noStrike">
                <a:solidFill>
                  <a:schemeClr val="dk2"/>
                </a:solidFill>
                <a:latin typeface="Arial"/>
                <a:ea typeface="Arial"/>
                <a:cs typeface="Arial"/>
                <a:sym typeface="Arial"/>
              </a:rPr>
              <a:t>coffee shop</a:t>
            </a:r>
            <a:r>
              <a:rPr b="0" i="0" lang="en-US" sz="1100" u="none" cap="none" strike="noStrike">
                <a:solidFill>
                  <a:schemeClr val="dk2"/>
                </a:solidFill>
                <a:latin typeface="Arial"/>
                <a:ea typeface="Arial"/>
                <a:cs typeface="Arial"/>
                <a:sym typeface="Arial"/>
              </a:rPr>
              <a:t>.</a:t>
            </a:r>
            <a:endParaRPr b="0"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Cetak satu baris angka yang menunjukkan total penjualan harian (misal: 1500000).</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0"/>
              </a:spcBef>
              <a:spcAft>
                <a:spcPts val="0"/>
              </a:spcAft>
              <a:buClr>
                <a:schemeClr val="dk2"/>
              </a:buClr>
              <a:buSzPts val="1100"/>
              <a:buFont typeface="Arial"/>
              <a:buAutoNum type="arabicPeriod"/>
            </a:pPr>
            <a:r>
              <a:rPr b="1" i="0" lang="en-US" sz="1100" u="none" cap="none" strike="noStrike">
                <a:solidFill>
                  <a:schemeClr val="dk2"/>
                </a:solidFill>
                <a:latin typeface="Arial"/>
                <a:ea typeface="Arial"/>
                <a:cs typeface="Arial"/>
                <a:sym typeface="Arial"/>
              </a:rPr>
              <a:t>Mencetak dengan Gaya yang Berbeda:</a:t>
            </a:r>
            <a:endParaRPr b="1"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Gunakan perintah print() untuk mencetak "Kopi", "Donat", dan "Croissant" dalam satu baris, dipisahkan oleh tanda koma. (Hint: Gunakan parameter sep).</a:t>
            </a:r>
            <a:endParaRPr b="0"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Cetak "Laporan penjualan" dan "sudah selesai" di baris yang sama. (Hint: Gunakan parameter end).</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rgbClr val="000000"/>
              </a:buClr>
              <a:buSzPts val="1100"/>
              <a:buFont typeface="Arial"/>
              <a:buNone/>
            </a:pPr>
            <a:r>
              <a:t/>
            </a:r>
            <a:endParaRPr b="0" i="0" sz="1100" u="none" cap="none" strike="noStrike">
              <a:solidFill>
                <a:schemeClr val="dk2"/>
              </a:solidFill>
              <a:latin typeface="Arial"/>
              <a:ea typeface="Arial"/>
              <a:cs typeface="Arial"/>
              <a:sym typeface="Arial"/>
            </a:endParaRPr>
          </a:p>
        </p:txBody>
      </p:sp>
      <p:sp>
        <p:nvSpPr>
          <p:cNvPr id="706" name="Google Shape;706;p57"/>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Exercise</a:t>
            </a:r>
            <a:endParaRPr b="1" i="0" sz="3600" u="none" cap="none" strike="noStrike">
              <a:solidFill>
                <a:srgbClr val="48A8C4"/>
              </a:solidFill>
              <a:latin typeface="Plus Jakarta Sans"/>
              <a:ea typeface="Plus Jakarta Sans"/>
              <a:cs typeface="Plus Jakarta Sans"/>
              <a:sym typeface="Plus Jakarta Sans"/>
            </a:endParaRPr>
          </a:p>
        </p:txBody>
      </p:sp>
      <p:pic>
        <p:nvPicPr>
          <p:cNvPr id="707" name="Google Shape;707;p57"/>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711" name="Shape 711"/>
        <p:cNvGrpSpPr/>
        <p:nvPr/>
      </p:nvGrpSpPr>
      <p:grpSpPr>
        <a:xfrm>
          <a:off x="0" y="0"/>
          <a:ext cx="0" cy="0"/>
          <a:chOff x="0" y="0"/>
          <a:chExt cx="0" cy="0"/>
        </a:xfrm>
      </p:grpSpPr>
      <p:sp>
        <p:nvSpPr>
          <p:cNvPr id="712" name="Google Shape;712;p58"/>
          <p:cNvSpPr txBox="1"/>
          <p:nvPr/>
        </p:nvSpPr>
        <p:spPr>
          <a:xfrm>
            <a:off x="394450" y="1033700"/>
            <a:ext cx="8358300" cy="36795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1400"/>
              </a:spcBef>
              <a:spcAft>
                <a:spcPts val="0"/>
              </a:spcAft>
              <a:buClr>
                <a:srgbClr val="000000"/>
              </a:buClr>
              <a:buSzPts val="1100"/>
              <a:buFont typeface="Arial"/>
              <a:buNone/>
            </a:pPr>
            <a:r>
              <a:rPr b="1" i="0" lang="en-US" sz="1100" u="none" cap="none" strike="noStrike">
                <a:solidFill>
                  <a:schemeClr val="dk2"/>
                </a:solidFill>
                <a:latin typeface="Arial"/>
                <a:ea typeface="Arial"/>
                <a:cs typeface="Arial"/>
                <a:sym typeface="Arial"/>
              </a:rPr>
              <a:t>2. Tugas Praktik</a:t>
            </a:r>
            <a:endParaRPr b="1" i="0" sz="1100" u="none" cap="none" strike="noStrike">
              <a:solidFill>
                <a:schemeClr val="dk2"/>
              </a:solidFill>
              <a:latin typeface="Arial"/>
              <a:ea typeface="Arial"/>
              <a:cs typeface="Arial"/>
              <a:sym typeface="Arial"/>
            </a:endParaRPr>
          </a:p>
          <a:p>
            <a:pPr indent="-298450" lvl="0" marL="457200" marR="0" rtl="0" algn="l">
              <a:lnSpc>
                <a:spcPct val="150000"/>
              </a:lnSpc>
              <a:spcBef>
                <a:spcPts val="1200"/>
              </a:spcBef>
              <a:spcAft>
                <a:spcPts val="0"/>
              </a:spcAft>
              <a:buClr>
                <a:schemeClr val="dk2"/>
              </a:buClr>
              <a:buSzPts val="1100"/>
              <a:buFont typeface="Arial"/>
              <a:buAutoNum type="arabicPeriod" startAt="3"/>
            </a:pPr>
            <a:r>
              <a:rPr b="1" i="0" lang="en-US" sz="1100" u="none" cap="none" strike="noStrike">
                <a:solidFill>
                  <a:schemeClr val="dk2"/>
                </a:solidFill>
                <a:latin typeface="Arial"/>
                <a:ea typeface="Arial"/>
                <a:cs typeface="Arial"/>
                <a:sym typeface="Arial"/>
              </a:rPr>
              <a:t>Membuat Struktur Kode dengan Indentasi:</a:t>
            </a:r>
            <a:endParaRPr b="1"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Tulis sebuah if statement dengan kondisi 5000 &gt; 1000.</a:t>
            </a:r>
            <a:endParaRPr b="0"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Di dalamnya, gunakan indentasi yang benar (4 spasi) dan cetak dua pesan berbeda.</a:t>
            </a:r>
            <a:endParaRPr b="0"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Tambahkan komentar di setiap baris print() untuk menjelaskan outputnya.</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0"/>
              </a:spcBef>
              <a:spcAft>
                <a:spcPts val="0"/>
              </a:spcAft>
              <a:buClr>
                <a:schemeClr val="dk2"/>
              </a:buClr>
              <a:buSzPts val="1100"/>
              <a:buFont typeface="Arial"/>
              <a:buAutoNum type="arabicPeriod" startAt="3"/>
            </a:pPr>
            <a:r>
              <a:rPr b="1" i="0" lang="en-US" sz="1100" u="none" cap="none" strike="noStrike">
                <a:solidFill>
                  <a:schemeClr val="dk2"/>
                </a:solidFill>
                <a:latin typeface="Arial"/>
                <a:ea typeface="Arial"/>
                <a:cs typeface="Arial"/>
                <a:sym typeface="Arial"/>
              </a:rPr>
              <a:t>Membuat Kesalahan (Belajar dari Error):</a:t>
            </a:r>
            <a:endParaRPr b="1"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Tulis sebuah print() statement yang sengaja Anda buat salah (misal: hilangkan tanda kutip atau kurung penutup).</a:t>
            </a:r>
            <a:endParaRPr b="0"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Jalankan kode tersebut dan salin pesan </a:t>
            </a:r>
            <a:r>
              <a:rPr b="0" i="1" lang="en-US" sz="1100" u="none" cap="none" strike="noStrike">
                <a:solidFill>
                  <a:schemeClr val="dk2"/>
                </a:solidFill>
                <a:latin typeface="Arial"/>
                <a:ea typeface="Arial"/>
                <a:cs typeface="Arial"/>
                <a:sym typeface="Arial"/>
              </a:rPr>
              <a:t>error</a:t>
            </a:r>
            <a:r>
              <a:rPr b="0" i="0" lang="en-US" sz="1100" u="none" cap="none" strike="noStrike">
                <a:solidFill>
                  <a:schemeClr val="dk2"/>
                </a:solidFill>
                <a:latin typeface="Arial"/>
                <a:ea typeface="Arial"/>
                <a:cs typeface="Arial"/>
                <a:sym typeface="Arial"/>
              </a:rPr>
              <a:t> yang muncul.</a:t>
            </a:r>
            <a:endParaRPr b="0"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Tambahkan komentar yang menjelaskan mengapa </a:t>
            </a:r>
            <a:r>
              <a:rPr b="0" i="1" lang="en-US" sz="1100" u="none" cap="none" strike="noStrike">
                <a:solidFill>
                  <a:schemeClr val="dk2"/>
                </a:solidFill>
                <a:latin typeface="Arial"/>
                <a:ea typeface="Arial"/>
                <a:cs typeface="Arial"/>
                <a:sym typeface="Arial"/>
              </a:rPr>
              <a:t>error</a:t>
            </a:r>
            <a:r>
              <a:rPr b="0" i="0" lang="en-US" sz="1100" u="none" cap="none" strike="noStrike">
                <a:solidFill>
                  <a:schemeClr val="dk2"/>
                </a:solidFill>
                <a:latin typeface="Arial"/>
                <a:ea typeface="Arial"/>
                <a:cs typeface="Arial"/>
                <a:sym typeface="Arial"/>
              </a:rPr>
              <a:t> tersebut terjadi.</a:t>
            </a:r>
            <a:endParaRPr b="0" i="0" sz="1100" u="none" cap="none" strike="noStrike">
              <a:solidFill>
                <a:schemeClr val="dk2"/>
              </a:solidFill>
              <a:latin typeface="Arial"/>
              <a:ea typeface="Arial"/>
              <a:cs typeface="Arial"/>
              <a:sym typeface="Arial"/>
            </a:endParaRPr>
          </a:p>
          <a:p>
            <a:pPr indent="-298450" lvl="0" marL="457200" marR="0" rtl="0" algn="l">
              <a:lnSpc>
                <a:spcPct val="150000"/>
              </a:lnSpc>
              <a:spcBef>
                <a:spcPts val="0"/>
              </a:spcBef>
              <a:spcAft>
                <a:spcPts val="0"/>
              </a:spcAft>
              <a:buClr>
                <a:schemeClr val="dk2"/>
              </a:buClr>
              <a:buSzPts val="1100"/>
              <a:buFont typeface="Arial"/>
              <a:buAutoNum type="arabicPeriod" startAt="3"/>
            </a:pPr>
            <a:r>
              <a:rPr b="1" i="0" lang="en-US" sz="1100" u="none" cap="none" strike="noStrike">
                <a:solidFill>
                  <a:schemeClr val="dk2"/>
                </a:solidFill>
                <a:latin typeface="Arial"/>
                <a:ea typeface="Arial"/>
                <a:cs typeface="Arial"/>
                <a:sym typeface="Arial"/>
              </a:rPr>
              <a:t>Menggunakan Komentar &amp; Keterbacaan:</a:t>
            </a:r>
            <a:endParaRPr b="1"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Tulis kode untuk mencetak laporan sederhana (misal: nama produk dan harganya).</a:t>
            </a:r>
            <a:endParaRPr b="0"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Di atas kode tersebut, gunakan komentar blok (#) untuk memberikan judul laporan.</a:t>
            </a:r>
            <a:endParaRPr b="0"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Tambahkan komentar sebaris di setiap baris cetakan untuk menjelaskan apa yang dicetak.</a:t>
            </a:r>
            <a:endParaRPr b="0" i="0" sz="1100" u="none" cap="none" strike="noStrike">
              <a:solidFill>
                <a:schemeClr val="dk2"/>
              </a:solidFill>
              <a:latin typeface="Arial"/>
              <a:ea typeface="Arial"/>
              <a:cs typeface="Arial"/>
              <a:sym typeface="Arial"/>
            </a:endParaRPr>
          </a:p>
          <a:p>
            <a:pPr indent="-298450" lvl="1" marL="914400" marR="0" rtl="0" algn="l">
              <a:lnSpc>
                <a:spcPct val="150000"/>
              </a:lnSpc>
              <a:spcBef>
                <a:spcPts val="0"/>
              </a:spcBef>
              <a:spcAft>
                <a:spcPts val="0"/>
              </a:spcAft>
              <a:buClr>
                <a:schemeClr val="dk2"/>
              </a:buClr>
              <a:buSzPts val="1100"/>
              <a:buFont typeface="Arial"/>
              <a:buChar char="○"/>
            </a:pPr>
            <a:r>
              <a:rPr b="0" i="0" lang="en-US" sz="1100" u="none" cap="none" strike="noStrike">
                <a:solidFill>
                  <a:schemeClr val="dk2"/>
                </a:solidFill>
                <a:latin typeface="Arial"/>
                <a:ea typeface="Arial"/>
                <a:cs typeface="Arial"/>
                <a:sym typeface="Arial"/>
              </a:rPr>
              <a:t>Pastikan kode Anda memiliki spasi yang rapi dan mudah dibaca.</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1200"/>
              </a:spcBef>
              <a:spcAft>
                <a:spcPts val="0"/>
              </a:spcAft>
              <a:buClr>
                <a:schemeClr val="dk1"/>
              </a:buClr>
              <a:buSzPts val="1100"/>
              <a:buFont typeface="Arial"/>
              <a:buNone/>
            </a:pPr>
            <a:r>
              <a:t/>
            </a:r>
            <a:endParaRPr b="0" i="0" sz="1100" u="none" cap="none" strike="noStrike">
              <a:solidFill>
                <a:schemeClr val="dk2"/>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100"/>
              <a:buFont typeface="Arial"/>
              <a:buNone/>
            </a:pPr>
            <a:r>
              <a:t/>
            </a:r>
            <a:endParaRPr b="1" i="0" sz="1100" u="none" cap="none" strike="noStrike">
              <a:solidFill>
                <a:schemeClr val="dk2"/>
              </a:solidFill>
              <a:latin typeface="Arial"/>
              <a:ea typeface="Arial"/>
              <a:cs typeface="Arial"/>
              <a:sym typeface="Arial"/>
            </a:endParaRPr>
          </a:p>
        </p:txBody>
      </p:sp>
      <p:sp>
        <p:nvSpPr>
          <p:cNvPr id="713" name="Google Shape;713;p58"/>
          <p:cNvSpPr txBox="1"/>
          <p:nvPr/>
        </p:nvSpPr>
        <p:spPr>
          <a:xfrm>
            <a:off x="457200" y="276045"/>
            <a:ext cx="7112100" cy="845700"/>
          </a:xfrm>
          <a:prstGeom prst="rect">
            <a:avLst/>
          </a:prstGeom>
          <a:noFill/>
          <a:ln>
            <a:noFill/>
          </a:ln>
        </p:spPr>
        <p:txBody>
          <a:bodyPr anchorCtr="0" anchor="t" bIns="91450" lIns="91450" spcFirstLastPara="1" rIns="91450" wrap="square" tIns="91450">
            <a:no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48A8C4"/>
                </a:solidFill>
                <a:latin typeface="Plus Jakarta Sans"/>
                <a:ea typeface="Plus Jakarta Sans"/>
                <a:cs typeface="Plus Jakarta Sans"/>
                <a:sym typeface="Plus Jakarta Sans"/>
              </a:rPr>
              <a:t>Exercise</a:t>
            </a:r>
            <a:endParaRPr b="1" i="0" sz="3600" u="none" cap="none" strike="noStrike">
              <a:solidFill>
                <a:srgbClr val="48A8C4"/>
              </a:solidFill>
              <a:latin typeface="Plus Jakarta Sans"/>
              <a:ea typeface="Plus Jakarta Sans"/>
              <a:cs typeface="Plus Jakarta Sans"/>
              <a:sym typeface="Plus Jakarta Sans"/>
            </a:endParaRPr>
          </a:p>
        </p:txBody>
      </p:sp>
      <p:pic>
        <p:nvPicPr>
          <p:cNvPr id="714" name="Google Shape;714;p58"/>
          <p:cNvPicPr preferRelativeResize="0"/>
          <p:nvPr/>
        </p:nvPicPr>
        <p:blipFill rotWithShape="1">
          <a:blip r:embed="rId3">
            <a:alphaModFix/>
          </a:blip>
          <a:srcRect b="0" l="0" r="0" t="0"/>
          <a:stretch/>
        </p:blipFill>
        <p:spPr>
          <a:xfrm>
            <a:off x="7630763" y="276049"/>
            <a:ext cx="1184604" cy="3600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2021-01-13T14:03:51Z</dcterms:created>
  <dc:creator>SINAR X</dc:creator>
</cp:coreProperties>
</file>