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Lst>
  <p:sldSz cy="5145075" cx="9145575"/>
  <p:notesSz cx="6858000" cy="9144000"/>
  <p:embeddedFontLst>
    <p:embeddedFont>
      <p:font typeface="Plus Jakarta Sans"/>
      <p:regular r:id="rId117"/>
      <p:bold r:id="rId118"/>
      <p:italic r:id="rId119"/>
      <p:boldItalic r:id="rId120"/>
    </p:embeddedFont>
    <p:embeddedFont>
      <p:font typeface="Plus Jakarta Sans Medium"/>
      <p:regular r:id="rId121"/>
      <p:bold r:id="rId122"/>
      <p:italic r:id="rId123"/>
      <p:boldItalic r:id="rId124"/>
    </p:embeddedFont>
    <p:embeddedFont>
      <p:font typeface="Roboto Mono"/>
      <p:regular r:id="rId125"/>
      <p:bold r:id="rId126"/>
      <p:italic r:id="rId127"/>
      <p:boldItalic r:id="rId1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1">
          <p15:clr>
            <a:srgbClr val="000000"/>
          </p15:clr>
        </p15:guide>
        <p15:guide id="2" pos="2881">
          <p15:clr>
            <a:srgbClr val="000000"/>
          </p15:clr>
        </p15:guide>
      </p15:sldGuideLst>
    </p:ext>
    <p:ext uri="GoogleSlidesCustomDataVersion2">
      <go:slidesCustomData xmlns:go="http://customooxmlschemas.google.com/" r:id="rId129" roundtripDataSignature="AMtx7misMNHWJX43KIlCeON1lSnaeeAQ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366262-71F3-4DA0-BCD3-4DD03414E94B}">
  <a:tblStyle styleId="{B4366262-71F3-4DA0-BCD3-4DD03414E94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1" orient="horz"/>
        <p:guide pos="288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customschemas.google.com/relationships/presentationmetadata" Target="metadata"/><Relationship Id="rId128" Type="http://schemas.openxmlformats.org/officeDocument/2006/relationships/font" Target="fonts/RobotoMono-boldItalic.fntdata"/><Relationship Id="rId127" Type="http://schemas.openxmlformats.org/officeDocument/2006/relationships/font" Target="fonts/RobotoMono-italic.fntdata"/><Relationship Id="rId126" Type="http://schemas.openxmlformats.org/officeDocument/2006/relationships/font" Target="fonts/RobotoMono-bold.fntdata"/><Relationship Id="rId26" Type="http://schemas.openxmlformats.org/officeDocument/2006/relationships/slide" Target="slides/slide19.xml"/><Relationship Id="rId121" Type="http://schemas.openxmlformats.org/officeDocument/2006/relationships/font" Target="fonts/PlusJakartaSansMedium-regular.fntdata"/><Relationship Id="rId25" Type="http://schemas.openxmlformats.org/officeDocument/2006/relationships/slide" Target="slides/slide18.xml"/><Relationship Id="rId120" Type="http://schemas.openxmlformats.org/officeDocument/2006/relationships/font" Target="fonts/PlusJakartaSans-boldItalic.fntdata"/><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font" Target="fonts/RobotoMono-regular.fntdata"/><Relationship Id="rId29" Type="http://schemas.openxmlformats.org/officeDocument/2006/relationships/slide" Target="slides/slide22.xml"/><Relationship Id="rId124" Type="http://schemas.openxmlformats.org/officeDocument/2006/relationships/font" Target="fonts/PlusJakartaSansMedium-boldItalic.fntdata"/><Relationship Id="rId123" Type="http://schemas.openxmlformats.org/officeDocument/2006/relationships/font" Target="fonts/PlusJakartaSansMedium-italic.fntdata"/><Relationship Id="rId122" Type="http://schemas.openxmlformats.org/officeDocument/2006/relationships/font" Target="fonts/PlusJakartaSansMedium-bold.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PlusJakartaSans-bold.fntdata"/><Relationship Id="rId117" Type="http://schemas.openxmlformats.org/officeDocument/2006/relationships/font" Target="fonts/PlusJakartaSans-regular.fntdata"/><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font" Target="fonts/PlusJakartaSans-italic.fnt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6585e5a41e_0_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26585e5a41e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6585e5a41e_0_2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26585e5a41e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753e428164_3_5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753e428164_3_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72b3c3285c_0_30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72b3c3285c_0_3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Di sub-bab sebelumnya, kita bisa menampilkan pesan dan hasil perhitungan dengan </a:t>
            </a:r>
            <a:r>
              <a:rPr lang="en-US" sz="1100">
                <a:solidFill>
                  <a:srgbClr val="188038"/>
                </a:solidFill>
                <a:latin typeface="Roboto Mono"/>
                <a:ea typeface="Roboto Mono"/>
                <a:cs typeface="Roboto Mono"/>
                <a:sym typeface="Roboto Mono"/>
              </a:rPr>
              <a:t>print()</a:t>
            </a:r>
            <a:r>
              <a:rPr lang="en-US" sz="1100">
                <a:latin typeface="Arial"/>
                <a:ea typeface="Arial"/>
                <a:cs typeface="Arial"/>
                <a:sym typeface="Arial"/>
              </a:rPr>
              <a:t>. Namun, ada masalah besar: nilai-nilai itu hanya muncul di layar dan langsung hilang. Kita tidak bisa menyimpannya untuk digunakan kembali.</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Bayangkan kita ingin menyimpan nama nasabah, usia, dan pendapatan mereka. Jika kita harus mengetik ulang informasi ini setiap kali kita butuh, itu akan sangat tidak efisien dan rentan kesalahan. Bagaimana kita bisa menyimpan informasi ini agar bisa diakses dan dimanipulasi kapan saja?</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753e428164_3_5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753e428164_3_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53e428164_3_6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753e428164_3_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753e428164_3_7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753e428164_3_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753e428164_3_8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753e428164_3_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753e428164_3_12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3753e428164_3_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51cf720b5_0_55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751cf720b5_0_5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55ce053d3_1_2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755ce053d3_1_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55ce053d3_1_4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755ce053d3_1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755ce053d3_1_5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755ce053d3_1_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755ce053d3_1_18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755ce053d3_1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755ce053d3_1_8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3755ce053d3_1_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755ce053d3_1_20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755ce053d3_1_2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755ce053d3_1_12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755ce053d3_1_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55ce053d3_1_21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755ce053d3_1_2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755ce053d3_1_15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755ce053d3_1_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755ce053d3_1_23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755ce053d3_1_2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753e428164_3_10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753e428164_3_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72b3c3285c_0_39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72b3c3285c_0_3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sz="1100">
                <a:latin typeface="Arial"/>
                <a:ea typeface="Arial"/>
                <a:cs typeface="Arial"/>
                <a:sym typeface="Arial"/>
              </a:rPr>
              <a:t>Anda sekarang tahu cara menyimpan nilai dalam </a:t>
            </a:r>
            <a:r>
              <a:rPr b="1" lang="en-US" sz="1100">
                <a:latin typeface="Arial"/>
                <a:ea typeface="Arial"/>
                <a:cs typeface="Arial"/>
                <a:sym typeface="Arial"/>
              </a:rPr>
              <a:t>variabel</a:t>
            </a:r>
            <a:r>
              <a:rPr lang="en-US" sz="1100">
                <a:latin typeface="Arial"/>
                <a:ea typeface="Arial"/>
                <a:cs typeface="Arial"/>
                <a:sym typeface="Arial"/>
              </a:rPr>
              <a:t>. Namun, nilai yang Anda simpan bisa berupa apa saja, mulai dari angka, teks, hingga nilai logis. Komputer memproses setiap jenis data ini secara berbeda. Jika Anda mencoba melakukan operasi yang salah (misalnya, menjumlahkan kata-kata), program Anda akan mengalami </a:t>
            </a:r>
            <a:r>
              <a:rPr i="1" lang="en-US" sz="1100">
                <a:latin typeface="Arial"/>
                <a:ea typeface="Arial"/>
                <a:cs typeface="Arial"/>
                <a:sym typeface="Arial"/>
              </a:rPr>
              <a:t>error</a:t>
            </a:r>
            <a:r>
              <a:rPr lang="en-US" sz="1100">
                <a:latin typeface="Arial"/>
                <a:ea typeface="Arial"/>
                <a:cs typeface="Arial"/>
                <a:sym typeface="Arial"/>
              </a:rPr>
              <a:t>. Jadi, bagaimana kita bisa mengetahui jenis data apa yang sedang kita tangani, dan apa saja tipe data dasar yang paling sering digunakan dalam Python?</a:t>
            </a:r>
            <a:endParaRPr sz="11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72b3c3285c_0_40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72b3c3285c_0_4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72b3c3285c_0_42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372b3c3285c_0_4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753e428164_3_13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753e428164_3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755ce053d3_1_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3755ce053d3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755ce053d3_1_24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3755ce053d3_1_2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755ce053d3_1_64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755ce053d3_1_6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755ce053d3_1_26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g3755ce053d3_1_2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755ce053d3_1_66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755ce053d3_1_6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755ce053d3_1_28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g3755ce053d3_1_2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755ce053d3_1_68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g3755ce053d3_1_6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755ce053d3_1_29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g3755ce053d3_1_2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755ce053d3_1_69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755ce053d3_1_6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755ce053d3_1_31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755ce053d3_1_3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755ce053d3_1_71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755ce053d3_1_7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753e428164_3_15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753e428164_3_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753e428164_3_16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g3753e428164_3_1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sz="1100">
                <a:latin typeface="Arial"/>
                <a:ea typeface="Arial"/>
                <a:cs typeface="Arial"/>
                <a:sym typeface="Arial"/>
              </a:rPr>
              <a:t>Anda sudah mengetahui berbagai tipe data seperti </a:t>
            </a:r>
            <a:r>
              <a:rPr b="1" lang="en-US" sz="1100">
                <a:solidFill>
                  <a:srgbClr val="188038"/>
                </a:solidFill>
                <a:latin typeface="Roboto Mono"/>
                <a:ea typeface="Roboto Mono"/>
                <a:cs typeface="Roboto Mono"/>
                <a:sym typeface="Roboto Mono"/>
              </a:rPr>
              <a:t>int</a:t>
            </a:r>
            <a:r>
              <a:rPr lang="en-US" sz="1100">
                <a:latin typeface="Arial"/>
                <a:ea typeface="Arial"/>
                <a:cs typeface="Arial"/>
                <a:sym typeface="Arial"/>
              </a:rPr>
              <a:t>, </a:t>
            </a:r>
            <a:r>
              <a:rPr b="1" lang="en-US" sz="1100">
                <a:solidFill>
                  <a:srgbClr val="188038"/>
                </a:solidFill>
                <a:latin typeface="Roboto Mono"/>
                <a:ea typeface="Roboto Mono"/>
                <a:cs typeface="Roboto Mono"/>
                <a:sym typeface="Roboto Mono"/>
              </a:rPr>
              <a:t>float</a:t>
            </a:r>
            <a:r>
              <a:rPr lang="en-US" sz="1100">
                <a:latin typeface="Arial"/>
                <a:ea typeface="Arial"/>
                <a:cs typeface="Arial"/>
                <a:sym typeface="Arial"/>
              </a:rPr>
              <a:t>, dan </a:t>
            </a:r>
            <a:r>
              <a:rPr b="1" lang="en-US" sz="1100">
                <a:solidFill>
                  <a:srgbClr val="188038"/>
                </a:solidFill>
                <a:latin typeface="Roboto Mono"/>
                <a:ea typeface="Roboto Mono"/>
                <a:cs typeface="Roboto Mono"/>
                <a:sym typeface="Roboto Mono"/>
              </a:rPr>
              <a:t>str</a:t>
            </a:r>
            <a:r>
              <a:rPr lang="en-US" sz="1100">
                <a:latin typeface="Arial"/>
                <a:ea typeface="Arial"/>
                <a:cs typeface="Arial"/>
                <a:sym typeface="Arial"/>
              </a:rPr>
              <a:t>. Namun, data dari berbagai sumber, seperti dari file, database, atau bahkan input pengguna, sering kali datang dalam format yang tidak sesuai. Misalnya, angka </a:t>
            </a:r>
            <a:r>
              <a:rPr lang="en-US" sz="1100">
                <a:solidFill>
                  <a:srgbClr val="188038"/>
                </a:solidFill>
                <a:latin typeface="Roboto Mono"/>
                <a:ea typeface="Roboto Mono"/>
                <a:cs typeface="Roboto Mono"/>
                <a:sym typeface="Roboto Mono"/>
              </a:rPr>
              <a:t>100</a:t>
            </a:r>
            <a:r>
              <a:rPr lang="en-US" sz="1100">
                <a:latin typeface="Arial"/>
                <a:ea typeface="Arial"/>
                <a:cs typeface="Arial"/>
                <a:sym typeface="Arial"/>
              </a:rPr>
              <a:t> bisa saja dibaca sebagai teks </a:t>
            </a:r>
            <a:r>
              <a:rPr lang="en-US" sz="1100">
                <a:solidFill>
                  <a:srgbClr val="188038"/>
                </a:solidFill>
                <a:latin typeface="Roboto Mono"/>
                <a:ea typeface="Roboto Mono"/>
                <a:cs typeface="Roboto Mono"/>
                <a:sym typeface="Roboto Mono"/>
              </a:rPr>
              <a:t>"100"</a:t>
            </a:r>
            <a:r>
              <a:rPr lang="en-US" sz="1100">
                <a:latin typeface="Arial"/>
                <a:ea typeface="Arial"/>
                <a:cs typeface="Arial"/>
                <a:sym typeface="Arial"/>
              </a:rPr>
              <a:t>. Jika Anda mencoba melakukan operasi matematika pada teks, program Anda akan mengalami </a:t>
            </a:r>
            <a:r>
              <a:rPr i="1" lang="en-US" sz="1100">
                <a:latin typeface="Arial"/>
                <a:ea typeface="Arial"/>
                <a:cs typeface="Arial"/>
                <a:sym typeface="Arial"/>
              </a:rPr>
              <a:t>error</a:t>
            </a:r>
            <a:r>
              <a:rPr lang="en-US" sz="1100">
                <a:latin typeface="Arial"/>
                <a:ea typeface="Arial"/>
                <a:cs typeface="Arial"/>
                <a:sym typeface="Arial"/>
              </a:rPr>
              <a:t>. Jadi, bagaimana cara Anda mengubah satu jenis data ke jenis data lainnya dengan aman dan efektif?</a:t>
            </a:r>
            <a:endParaRPr sz="1100">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753e428164_3_17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g3753e428164_3_1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753e428164_3_21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753e428164_3_2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753e428164_3_23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g3753e428164_3_2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753e428164_3_18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g3753e428164_3_1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755ce053d3_1_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g3755ce053d3_1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755ce053d3_1_32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g3755ce053d3_1_3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755ce053d3_1_72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g3755ce053d3_1_7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755ce053d3_1_34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g3755ce053d3_1_3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755ce053d3_1_74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755ce053d3_1_7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755ce053d3_1_36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755ce053d3_1_3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755ce053d3_1_76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g3755ce053d3_1_7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755ce053d3_1_37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g3755ce053d3_1_3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755ce053d3_1_77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 name="Google Shape;824;g3755ce053d3_1_7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755ce053d3_1_39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g3755ce053d3_1_3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755ce053d3_1_79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g3755ce053d3_1_7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753e428164_3_25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g3753e428164_3_2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72b3c3285c_0_36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4" name="Google Shape;884;g372b3c3285c_0_3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sz="1100">
                <a:latin typeface="Arial"/>
                <a:ea typeface="Arial"/>
                <a:cs typeface="Arial"/>
                <a:sym typeface="Arial"/>
              </a:rPr>
              <a:t>Anda sudah belajar cara menyimpan nilai dalam variabel dan cara mengonversi tipe data. Sekarang, bagaimana jika Anda ingin membuat program yang interaktif? Artinya, program Anda harus bisa menerima masukan langsung dari pengguna. Bagaimana cara meminta nama, usia, atau jumlah penjualan dari pengguna dan menyimpannya ke dalam variabel untuk diproses?</a:t>
            </a:r>
            <a:endParaRPr sz="1100">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72b3c3285c_0_36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g372b3c3285c_0_3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7548cf76b3_0_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g37548cf76b3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7548cf76b3_0_7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g37548cf76b3_0_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755ce053d3_1_1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g3755ce053d3_1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755ce053d3_1_40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 name="Google Shape;932;g3755ce053d3_1_4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755ce053d3_1_80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9" name="Google Shape;949;g3755ce053d3_1_8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755ce053d3_1_42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g3755ce053d3_1_4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755ce053d3_1_82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g3755ce053d3_1_8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755ce053d3_1_44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g3755ce053d3_1_4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755ce053d3_1_84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7" name="Google Shape;1017;g3755ce053d3_1_8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755ce053d3_1_45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4" name="Google Shape;1034;g3755ce053d3_1_4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755ce053d3_1_85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g3755ce053d3_1_8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755ce053d3_1_47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g3755ce053d3_1_4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755ce053d3_1_87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g3755ce053d3_1_8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7548cf76b3_0_6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2" name="Google Shape;1102;g37548cf76b3_0_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72b3c3285c_0_48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1" name="Google Shape;1111;g372b3c3285c_0_4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Anda sekarang bisa menyimpan angka dalam variabel dan bahkan mendapatkan angka tersebut dari pengguna. Tetapi, data angka yang disimpan tidak akan berguna jika Anda tidak bisa mengolahnya. Dalam analisis data di </a:t>
            </a:r>
            <a:r>
              <a:rPr i="1" lang="en-US" sz="1100">
                <a:latin typeface="Arial"/>
                <a:ea typeface="Arial"/>
                <a:cs typeface="Arial"/>
                <a:sym typeface="Arial"/>
              </a:rPr>
              <a:t>coffee shop</a:t>
            </a:r>
            <a:r>
              <a:rPr lang="en-US" sz="1100">
                <a:latin typeface="Arial"/>
                <a:ea typeface="Arial"/>
                <a:cs typeface="Arial"/>
                <a:sym typeface="Arial"/>
              </a:rPr>
              <a:t>, Anda perlu menghitung total penjualan, rata-rata harga, atau menghitung kembalian. Bagaimana Anda melakukan operasi matematika dasar seperti penjumlahan, pengurangan, perkalian, dan pembagian di Python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72b3c3285c_0_49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9" name="Google Shape;1119;g372b3c3285c_0_4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72b3c3285c_0_50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g372b3c3285c_0_5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7548cf76b3_0_2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5" name="Google Shape;1135;g37548cf76b3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7548cf76b3_0_3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5" name="Google Shape;1145;g37548cf76b3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7548cf76b3_0_4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4" name="Google Shape;1154;g37548cf76b3_0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755ce053d3_1_1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0" name="Google Shape;1170;g3755ce053d3_1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755ce053d3_1_48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g3755ce053d3_1_4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755ce053d3_1_88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3" name="Google Shape;1193;g3755ce053d3_1_8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755ce053d3_1_50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0" name="Google Shape;1210;g3755ce053d3_1_5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755ce053d3_1_90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7" name="Google Shape;1227;g3755ce053d3_1_9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755ce053d3_1_52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4" name="Google Shape;1244;g3755ce053d3_1_5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755ce053d3_1_92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1" name="Google Shape;1261;g3755ce053d3_1_9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755ce053d3_1_53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8" name="Google Shape;1278;g3755ce053d3_1_5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755ce053d3_1_93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5" name="Google Shape;1295;g3755ce053d3_1_9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3755ce053d3_1_55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g3755ce053d3_1_5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755ce053d3_1_95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9" name="Google Shape;1329;g3755ce053d3_1_9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37548cf76b3_0_9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6" name="Google Shape;1346;g37548cf76b3_0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7548cf76b3_0_10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5" name="Google Shape;1355;g37548cf76b3_0_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sz="1100">
                <a:latin typeface="Arial"/>
                <a:ea typeface="Arial"/>
                <a:cs typeface="Arial"/>
                <a:sym typeface="Arial"/>
              </a:rPr>
              <a:t>Anda sudah belajar tentang tipe data string, tetapi untuk bekerja dengan teks di dunia nyata, Anda perlu lebih dari sekadar menggabungkan kata. Anda mungkin perlu memformat pesan, mengekstrak informasi penting dari sebuah teks, atau membersihkan data yang tidak rapi. Bagaimana Anda bisa melakukan semua ini secara efisien di Python?</a:t>
            </a:r>
            <a:endParaRPr sz="1100">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7548cf76b3_0_10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g37548cf76b3_0_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37548cf76b3_0_15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4" name="Google Shape;1374;g37548cf76b3_0_1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37548cf76b3_0_16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4" name="Google Shape;1384;g37548cf76b3_0_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37548cf76b3_0_18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2" name="Google Shape;1392;g37548cf76b3_0_1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7548cf76b3_0_11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0" name="Google Shape;1400;g37548cf76b3_0_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3755ce053d3_1_2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6" name="Google Shape;1416;g3755ce053d3_1_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3755ce053d3_1_56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2" name="Google Shape;1422;g3755ce053d3_1_5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755ce053d3_1_96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9" name="Google Shape;1439;g3755ce053d3_1_9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755ce053d3_1_58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6" name="Google Shape;1456;g3755ce053d3_1_5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3755ce053d3_1_98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3" name="Google Shape;1473;g3755ce053d3_1_9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755ce053d3_1_60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0" name="Google Shape;1490;g3755ce053d3_1_6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3755ce053d3_1_101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g3755ce053d3_1_10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3755ce053d3_1_61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4" name="Google Shape;1524;g3755ce053d3_1_6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3755ce053d3_1_103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1" name="Google Shape;1541;g3755ce053d3_1_10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755ce053d3_1_63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8" name="Google Shape;1558;g3755ce053d3_1_6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g3755ce053d3_1_104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5" name="Google Shape;1575;g3755ce053d3_1_10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g3753e428164_3_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2" name="Google Shape;1592;g3753e428164_3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37548cf76b3_0_19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9" name="Google Shape;1599;g37548cf76b3_0_1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g37548cf76b3_0_20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6" name="Google Shape;1606;g37548cf76b3_0_2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7548cf76b3_0_20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3" name="Google Shape;1613;g37548cf76b3_0_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920" y="1598313"/>
            <a:ext cx="7773750" cy="110285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
          <p:cNvSpPr txBox="1"/>
          <p:nvPr>
            <p:ph idx="1" type="subTitle"/>
          </p:nvPr>
        </p:nvSpPr>
        <p:spPr>
          <a:xfrm>
            <a:off x="1371839" y="2915550"/>
            <a:ext cx="6401911" cy="1314856"/>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1"/>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0"/>
          <p:cNvSpPr txBox="1"/>
          <p:nvPr>
            <p:ph idx="1" type="body"/>
          </p:nvPr>
        </p:nvSpPr>
        <p:spPr>
          <a:xfrm>
            <a:off x="457280" y="1200521"/>
            <a:ext cx="8231030" cy="3395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0"/>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0"/>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27" name="Shape 27"/>
        <p:cNvGrpSpPr/>
        <p:nvPr/>
      </p:nvGrpSpPr>
      <p:grpSpPr>
        <a:xfrm>
          <a:off x="0" y="0"/>
          <a:ext cx="0" cy="0"/>
          <a:chOff x="0" y="0"/>
          <a:chExt cx="0" cy="0"/>
        </a:xfrm>
      </p:grpSpPr>
      <p:sp>
        <p:nvSpPr>
          <p:cNvPr id="28" name="Google Shape;28;g142ff3d8b87_1_105"/>
          <p:cNvSpPr txBox="1"/>
          <p:nvPr>
            <p:ph idx="11" type="ftr"/>
          </p:nvPr>
        </p:nvSpPr>
        <p:spPr>
          <a:xfrm>
            <a:off x="3109495" y="4784920"/>
            <a:ext cx="2926800" cy="2574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700"/>
              <a:buNone/>
              <a:defRPr>
                <a:solidFill>
                  <a:srgbClr val="888888"/>
                </a:solidFill>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g142ff3d8b87_1_105"/>
          <p:cNvSpPr txBox="1"/>
          <p:nvPr>
            <p:ph idx="10" type="dt"/>
          </p:nvPr>
        </p:nvSpPr>
        <p:spPr>
          <a:xfrm>
            <a:off x="457279" y="4784920"/>
            <a:ext cx="2103300" cy="257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700"/>
              <a:buNone/>
              <a:defRPr>
                <a:solidFill>
                  <a:srgbClr val="888888"/>
                </a:solidFill>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0" name="Google Shape;30;g142ff3d8b87_1_105"/>
          <p:cNvSpPr txBox="1"/>
          <p:nvPr>
            <p:ph idx="12" type="sldNum"/>
          </p:nvPr>
        </p:nvSpPr>
        <p:spPr>
          <a:xfrm>
            <a:off x="6584814" y="4784920"/>
            <a:ext cx="2103300" cy="1386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2"/>
          <p:cNvSpPr txBox="1"/>
          <p:nvPr>
            <p:ph type="title"/>
          </p:nvPr>
        </p:nvSpPr>
        <p:spPr>
          <a:xfrm>
            <a:off x="722438" y="3306196"/>
            <a:ext cx="7773750" cy="102187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2"/>
          <p:cNvSpPr txBox="1"/>
          <p:nvPr>
            <p:ph idx="1" type="body"/>
          </p:nvPr>
        </p:nvSpPr>
        <p:spPr>
          <a:xfrm>
            <a:off x="722438" y="2180709"/>
            <a:ext cx="7773750" cy="11254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2"/>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2"/>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3"/>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3"/>
          <p:cNvSpPr txBox="1"/>
          <p:nvPr>
            <p:ph idx="1" type="body"/>
          </p:nvPr>
        </p:nvSpPr>
        <p:spPr>
          <a:xfrm>
            <a:off x="350899" y="1229105"/>
            <a:ext cx="3083461" cy="347650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3"/>
          <p:cNvSpPr txBox="1"/>
          <p:nvPr>
            <p:ph idx="2" type="body"/>
          </p:nvPr>
        </p:nvSpPr>
        <p:spPr>
          <a:xfrm>
            <a:off x="3586787" y="1229105"/>
            <a:ext cx="3085047" cy="347650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3"/>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3"/>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3"/>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4"/>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4"/>
          <p:cNvSpPr txBox="1"/>
          <p:nvPr>
            <p:ph idx="1" type="body"/>
          </p:nvPr>
        </p:nvSpPr>
        <p:spPr>
          <a:xfrm>
            <a:off x="457279" y="1151690"/>
            <a:ext cx="4040890" cy="47997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4"/>
          <p:cNvSpPr txBox="1"/>
          <p:nvPr>
            <p:ph idx="2" type="body"/>
          </p:nvPr>
        </p:nvSpPr>
        <p:spPr>
          <a:xfrm>
            <a:off x="457279" y="1631660"/>
            <a:ext cx="4040890" cy="2964381"/>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4"/>
          <p:cNvSpPr txBox="1"/>
          <p:nvPr>
            <p:ph idx="3" type="body"/>
          </p:nvPr>
        </p:nvSpPr>
        <p:spPr>
          <a:xfrm>
            <a:off x="4645833" y="1151690"/>
            <a:ext cx="4042477" cy="47997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4"/>
          <p:cNvSpPr txBox="1"/>
          <p:nvPr>
            <p:ph idx="4" type="body"/>
          </p:nvPr>
        </p:nvSpPr>
        <p:spPr>
          <a:xfrm>
            <a:off x="4645833" y="1631660"/>
            <a:ext cx="4042477" cy="2964381"/>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4"/>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4"/>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5"/>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5"/>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5"/>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6"/>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6"/>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6"/>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7"/>
          <p:cNvSpPr txBox="1"/>
          <p:nvPr>
            <p:ph type="title"/>
          </p:nvPr>
        </p:nvSpPr>
        <p:spPr>
          <a:xfrm>
            <a:off x="457280" y="204851"/>
            <a:ext cx="3008835" cy="87180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7"/>
          <p:cNvSpPr txBox="1"/>
          <p:nvPr>
            <p:ph idx="1" type="body"/>
          </p:nvPr>
        </p:nvSpPr>
        <p:spPr>
          <a:xfrm>
            <a:off x="3575671" y="204852"/>
            <a:ext cx="5112638" cy="439119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5" name="Google Shape;65;p17"/>
          <p:cNvSpPr txBox="1"/>
          <p:nvPr>
            <p:ph idx="2" type="body"/>
          </p:nvPr>
        </p:nvSpPr>
        <p:spPr>
          <a:xfrm>
            <a:off x="457280" y="1076658"/>
            <a:ext cx="3008835" cy="351938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17"/>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7"/>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7"/>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8"/>
          <p:cNvSpPr txBox="1"/>
          <p:nvPr>
            <p:ph type="title"/>
          </p:nvPr>
        </p:nvSpPr>
        <p:spPr>
          <a:xfrm>
            <a:off x="1792600" y="3601562"/>
            <a:ext cx="5487353" cy="42518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8"/>
          <p:cNvSpPr/>
          <p:nvPr>
            <p:ph idx="2" type="pic"/>
          </p:nvPr>
        </p:nvSpPr>
        <p:spPr>
          <a:xfrm>
            <a:off x="1792600" y="459723"/>
            <a:ext cx="5487353" cy="3087053"/>
          </a:xfrm>
          <a:prstGeom prst="rect">
            <a:avLst/>
          </a:prstGeom>
          <a:noFill/>
          <a:ln>
            <a:noFill/>
          </a:ln>
        </p:spPr>
      </p:sp>
      <p:sp>
        <p:nvSpPr>
          <p:cNvPr id="72" name="Google Shape;72;p18"/>
          <p:cNvSpPr txBox="1"/>
          <p:nvPr>
            <p:ph idx="1" type="body"/>
          </p:nvPr>
        </p:nvSpPr>
        <p:spPr>
          <a:xfrm>
            <a:off x="1792600" y="4026747"/>
            <a:ext cx="5487353" cy="60383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3" name="Google Shape;73;p18"/>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8"/>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8"/>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9"/>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9"/>
          <p:cNvSpPr txBox="1"/>
          <p:nvPr>
            <p:ph idx="1" type="body"/>
          </p:nvPr>
        </p:nvSpPr>
        <p:spPr>
          <a:xfrm rot="5400000">
            <a:off x="2875035" y="-1217234"/>
            <a:ext cx="3395520" cy="823103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19"/>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9"/>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9"/>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20"/>
          <p:cNvSpPr txBox="1"/>
          <p:nvPr>
            <p:ph type="title"/>
          </p:nvPr>
        </p:nvSpPr>
        <p:spPr>
          <a:xfrm rot="5400000">
            <a:off x="3634513" y="1668292"/>
            <a:ext cx="4494806" cy="1579836"/>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0"/>
          <p:cNvSpPr txBox="1"/>
          <p:nvPr>
            <p:ph idx="1" type="body"/>
          </p:nvPr>
        </p:nvSpPr>
        <p:spPr>
          <a:xfrm rot="5400000">
            <a:off x="397832" y="163874"/>
            <a:ext cx="4494806" cy="45886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p20"/>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0"/>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0"/>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g2ad97f235b5_0_171"/>
          <p:cNvSpPr txBox="1"/>
          <p:nvPr>
            <p:ph type="ctrTitle"/>
          </p:nvPr>
        </p:nvSpPr>
        <p:spPr>
          <a:xfrm>
            <a:off x="311762" y="744803"/>
            <a:ext cx="8522100" cy="20532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4" name="Google Shape;94;g2ad97f235b5_0_171"/>
          <p:cNvSpPr txBox="1"/>
          <p:nvPr>
            <p:ph idx="1" type="subTitle"/>
          </p:nvPr>
        </p:nvSpPr>
        <p:spPr>
          <a:xfrm>
            <a:off x="311754" y="2834993"/>
            <a:ext cx="8522100" cy="792900"/>
          </a:xfrm>
          <a:prstGeom prst="rect">
            <a:avLst/>
          </a:prstGeom>
          <a:noFill/>
          <a:ln>
            <a:noFill/>
          </a:ln>
        </p:spPr>
        <p:txBody>
          <a:bodyPr anchorCtr="0" anchor="t" bIns="91450" lIns="91450" spcFirstLastPara="1" rIns="91450" wrap="square" tIns="9145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5" name="Google Shape;95;g2ad97f235b5_0_171"/>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g2ad97f235b5_0_175"/>
          <p:cNvSpPr txBox="1"/>
          <p:nvPr>
            <p:ph type="title"/>
          </p:nvPr>
        </p:nvSpPr>
        <p:spPr>
          <a:xfrm>
            <a:off x="311754" y="2151509"/>
            <a:ext cx="8522100" cy="842100"/>
          </a:xfrm>
          <a:prstGeom prst="rect">
            <a:avLst/>
          </a:prstGeom>
          <a:noFill/>
          <a:ln>
            <a:noFill/>
          </a:ln>
        </p:spPr>
        <p:txBody>
          <a:bodyPr anchorCtr="0" anchor="ctr" bIns="91450" lIns="91450" spcFirstLastPara="1" rIns="91450" wrap="square" tIns="9145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8" name="Google Shape;98;g2ad97f235b5_0_175"/>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sp>
        <p:nvSpPr>
          <p:cNvPr id="100" name="Google Shape;100;g2ad97f235b5_0_178"/>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g2ad97f235b5_0_178"/>
          <p:cNvSpPr txBox="1"/>
          <p:nvPr>
            <p:ph idx="1" type="body"/>
          </p:nvPr>
        </p:nvSpPr>
        <p:spPr>
          <a:xfrm>
            <a:off x="311754" y="1152828"/>
            <a:ext cx="8522100" cy="3417300"/>
          </a:xfrm>
          <a:prstGeom prst="rect">
            <a:avLst/>
          </a:prstGeom>
          <a:noFill/>
          <a:ln>
            <a:noFill/>
          </a:ln>
        </p:spPr>
        <p:txBody>
          <a:bodyPr anchorCtr="0" anchor="t"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2" name="Google Shape;102;g2ad97f235b5_0_178"/>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 name="Shape 103"/>
        <p:cNvGrpSpPr/>
        <p:nvPr/>
      </p:nvGrpSpPr>
      <p:grpSpPr>
        <a:xfrm>
          <a:off x="0" y="0"/>
          <a:ext cx="0" cy="0"/>
          <a:chOff x="0" y="0"/>
          <a:chExt cx="0" cy="0"/>
        </a:xfrm>
      </p:grpSpPr>
      <p:sp>
        <p:nvSpPr>
          <p:cNvPr id="104" name="Google Shape;104;g2ad97f235b5_0_182"/>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5" name="Google Shape;105;g2ad97f235b5_0_182"/>
          <p:cNvSpPr txBox="1"/>
          <p:nvPr>
            <p:ph idx="1" type="body"/>
          </p:nvPr>
        </p:nvSpPr>
        <p:spPr>
          <a:xfrm>
            <a:off x="311754" y="1152828"/>
            <a:ext cx="4000500" cy="3417300"/>
          </a:xfrm>
          <a:prstGeom prst="rect">
            <a:avLst/>
          </a:prstGeom>
          <a:noFill/>
          <a:ln>
            <a:noFill/>
          </a:ln>
        </p:spPr>
        <p:txBody>
          <a:bodyPr anchorCtr="0" anchor="t" bIns="91450" lIns="91450" spcFirstLastPara="1" rIns="91450" wrap="square" tIns="9145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g2ad97f235b5_0_182"/>
          <p:cNvSpPr txBox="1"/>
          <p:nvPr>
            <p:ph idx="2" type="body"/>
          </p:nvPr>
        </p:nvSpPr>
        <p:spPr>
          <a:xfrm>
            <a:off x="4833232" y="1152828"/>
            <a:ext cx="4000500" cy="3417300"/>
          </a:xfrm>
          <a:prstGeom prst="rect">
            <a:avLst/>
          </a:prstGeom>
          <a:noFill/>
          <a:ln>
            <a:noFill/>
          </a:ln>
        </p:spPr>
        <p:txBody>
          <a:bodyPr anchorCtr="0" anchor="t" bIns="91450" lIns="91450" spcFirstLastPara="1" rIns="91450" wrap="square" tIns="9145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7" name="Google Shape;107;g2ad97f235b5_0_182"/>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g2ad97f235b5_0_187"/>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g2ad97f235b5_0_187"/>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1" name="Shape 111"/>
        <p:cNvGrpSpPr/>
        <p:nvPr/>
      </p:nvGrpSpPr>
      <p:grpSpPr>
        <a:xfrm>
          <a:off x="0" y="0"/>
          <a:ext cx="0" cy="0"/>
          <a:chOff x="0" y="0"/>
          <a:chExt cx="0" cy="0"/>
        </a:xfrm>
      </p:grpSpPr>
      <p:sp>
        <p:nvSpPr>
          <p:cNvPr id="112" name="Google Shape;112;g2ad97f235b5_0_190"/>
          <p:cNvSpPr txBox="1"/>
          <p:nvPr>
            <p:ph type="title"/>
          </p:nvPr>
        </p:nvSpPr>
        <p:spPr>
          <a:xfrm>
            <a:off x="311754" y="555770"/>
            <a:ext cx="2808600" cy="756000"/>
          </a:xfrm>
          <a:prstGeom prst="rect">
            <a:avLst/>
          </a:prstGeom>
          <a:noFill/>
          <a:ln>
            <a:noFill/>
          </a:ln>
        </p:spPr>
        <p:txBody>
          <a:bodyPr anchorCtr="0" anchor="b" bIns="91450" lIns="91450" spcFirstLastPara="1" rIns="91450" wrap="square" tIns="9145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3" name="Google Shape;113;g2ad97f235b5_0_190"/>
          <p:cNvSpPr txBox="1"/>
          <p:nvPr>
            <p:ph idx="1" type="body"/>
          </p:nvPr>
        </p:nvSpPr>
        <p:spPr>
          <a:xfrm>
            <a:off x="311754" y="1390026"/>
            <a:ext cx="2808600" cy="3180300"/>
          </a:xfrm>
          <a:prstGeom prst="rect">
            <a:avLst/>
          </a:prstGeom>
          <a:noFill/>
          <a:ln>
            <a:noFill/>
          </a:ln>
        </p:spPr>
        <p:txBody>
          <a:bodyPr anchorCtr="0" anchor="t" bIns="91450" lIns="91450" spcFirstLastPara="1" rIns="91450" wrap="square" tIns="91450">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4" name="Google Shape;114;g2ad97f235b5_0_190"/>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5" name="Shape 115"/>
        <p:cNvGrpSpPr/>
        <p:nvPr/>
      </p:nvGrpSpPr>
      <p:grpSpPr>
        <a:xfrm>
          <a:off x="0" y="0"/>
          <a:ext cx="0" cy="0"/>
          <a:chOff x="0" y="0"/>
          <a:chExt cx="0" cy="0"/>
        </a:xfrm>
      </p:grpSpPr>
      <p:sp>
        <p:nvSpPr>
          <p:cNvPr id="116" name="Google Shape;116;g2ad97f235b5_0_194"/>
          <p:cNvSpPr txBox="1"/>
          <p:nvPr>
            <p:ph type="title"/>
          </p:nvPr>
        </p:nvSpPr>
        <p:spPr>
          <a:xfrm>
            <a:off x="490334" y="450288"/>
            <a:ext cx="6369000" cy="4092000"/>
          </a:xfrm>
          <a:prstGeom prst="rect">
            <a:avLst/>
          </a:prstGeom>
          <a:noFill/>
          <a:ln>
            <a:noFill/>
          </a:ln>
        </p:spPr>
        <p:txBody>
          <a:bodyPr anchorCtr="0" anchor="ctr" bIns="91450" lIns="91450" spcFirstLastPara="1" rIns="91450" wrap="square" tIns="914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7" name="Google Shape;117;g2ad97f235b5_0_194"/>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g2ad97f235b5_0_197"/>
          <p:cNvSpPr/>
          <p:nvPr/>
        </p:nvSpPr>
        <p:spPr>
          <a:xfrm>
            <a:off x="4572788" y="-125"/>
            <a:ext cx="4572900" cy="5145000"/>
          </a:xfrm>
          <a:prstGeom prst="rect">
            <a:avLst/>
          </a:pr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2ad97f235b5_0_197"/>
          <p:cNvSpPr txBox="1"/>
          <p:nvPr>
            <p:ph type="title"/>
          </p:nvPr>
        </p:nvSpPr>
        <p:spPr>
          <a:xfrm>
            <a:off x="265546" y="1233553"/>
            <a:ext cx="4045800" cy="14829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1" name="Google Shape;121;g2ad97f235b5_0_197"/>
          <p:cNvSpPr txBox="1"/>
          <p:nvPr>
            <p:ph idx="1" type="subTitle"/>
          </p:nvPr>
        </p:nvSpPr>
        <p:spPr>
          <a:xfrm>
            <a:off x="265546" y="2803933"/>
            <a:ext cx="4045800" cy="1235400"/>
          </a:xfrm>
          <a:prstGeom prst="rect">
            <a:avLst/>
          </a:prstGeom>
          <a:noFill/>
          <a:ln>
            <a:noFill/>
          </a:ln>
        </p:spPr>
        <p:txBody>
          <a:bodyPr anchorCtr="0" anchor="t" bIns="91450" lIns="91450" spcFirstLastPara="1" rIns="91450" wrap="square" tIns="9145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g2ad97f235b5_0_197"/>
          <p:cNvSpPr txBox="1"/>
          <p:nvPr>
            <p:ph idx="2" type="body"/>
          </p:nvPr>
        </p:nvSpPr>
        <p:spPr>
          <a:xfrm>
            <a:off x="4940351" y="724297"/>
            <a:ext cx="3837600" cy="3696300"/>
          </a:xfrm>
          <a:prstGeom prst="rect">
            <a:avLst/>
          </a:prstGeom>
          <a:noFill/>
          <a:ln>
            <a:noFill/>
          </a:ln>
        </p:spPr>
        <p:txBody>
          <a:bodyPr anchorCtr="0" anchor="ctr"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3" name="Google Shape;123;g2ad97f235b5_0_197"/>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g2ad97f235b5_0_203"/>
          <p:cNvSpPr txBox="1"/>
          <p:nvPr>
            <p:ph idx="1" type="body"/>
          </p:nvPr>
        </p:nvSpPr>
        <p:spPr>
          <a:xfrm>
            <a:off x="311754" y="4231870"/>
            <a:ext cx="5999700" cy="605400"/>
          </a:xfrm>
          <a:prstGeom prst="rect">
            <a:avLst/>
          </a:prstGeom>
          <a:noFill/>
          <a:ln>
            <a:noFill/>
          </a:ln>
        </p:spPr>
        <p:txBody>
          <a:bodyPr anchorCtr="0" anchor="ctr" bIns="91450" lIns="91450" spcFirstLastPara="1" rIns="91450" wrap="square" tIns="91450">
            <a:normAutofit/>
          </a:bodyPr>
          <a:lstStyle>
            <a:lvl1pPr indent="-228600" lvl="0" marL="457200" algn="l">
              <a:lnSpc>
                <a:spcPct val="100000"/>
              </a:lnSpc>
              <a:spcBef>
                <a:spcPts val="0"/>
              </a:spcBef>
              <a:spcAft>
                <a:spcPts val="0"/>
              </a:spcAft>
              <a:buSzPts val="1800"/>
              <a:buNone/>
              <a:defRPr/>
            </a:lvl1pPr>
          </a:lstStyle>
          <a:p/>
        </p:txBody>
      </p:sp>
      <p:sp>
        <p:nvSpPr>
          <p:cNvPr id="126" name="Google Shape;126;g2ad97f235b5_0_203"/>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g2ad97f235b5_0_206"/>
          <p:cNvSpPr txBox="1"/>
          <p:nvPr>
            <p:ph hasCustomPrompt="1" type="title"/>
          </p:nvPr>
        </p:nvSpPr>
        <p:spPr>
          <a:xfrm>
            <a:off x="311754" y="1106464"/>
            <a:ext cx="8522100" cy="19641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9" name="Google Shape;129;g2ad97f235b5_0_206"/>
          <p:cNvSpPr txBox="1"/>
          <p:nvPr>
            <p:ph idx="1" type="body"/>
          </p:nvPr>
        </p:nvSpPr>
        <p:spPr>
          <a:xfrm>
            <a:off x="311754" y="3153190"/>
            <a:ext cx="8522100" cy="1301100"/>
          </a:xfrm>
          <a:prstGeom prst="rect">
            <a:avLst/>
          </a:prstGeom>
          <a:noFill/>
          <a:ln>
            <a:noFill/>
          </a:ln>
        </p:spPr>
        <p:txBody>
          <a:bodyPr anchorCtr="0" anchor="t" bIns="91450" lIns="91450" spcFirstLastPara="1" rIns="91450" wrap="square" tIns="91450">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0" name="Google Shape;130;g2ad97f235b5_0_206"/>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g2ad97f235b5_0_210"/>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9"/>
          <p:cNvSpPr txBox="1"/>
          <p:nvPr>
            <p:ph idx="1" type="body"/>
          </p:nvPr>
        </p:nvSpPr>
        <p:spPr>
          <a:xfrm>
            <a:off x="457280" y="1200521"/>
            <a:ext cx="8231030" cy="339552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9"/>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9"/>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9"/>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8" name="Shape 88"/>
        <p:cNvGrpSpPr/>
        <p:nvPr/>
      </p:nvGrpSpPr>
      <p:grpSpPr>
        <a:xfrm>
          <a:off x="0" y="0"/>
          <a:ext cx="0" cy="0"/>
          <a:chOff x="0" y="0"/>
          <a:chExt cx="0" cy="0"/>
        </a:xfrm>
      </p:grpSpPr>
      <p:sp>
        <p:nvSpPr>
          <p:cNvPr id="89" name="Google Shape;89;g2ad97f235b5_0_167"/>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0" name="Google Shape;90;g2ad97f235b5_0_167"/>
          <p:cNvSpPr txBox="1"/>
          <p:nvPr>
            <p:ph idx="1" type="body"/>
          </p:nvPr>
        </p:nvSpPr>
        <p:spPr>
          <a:xfrm>
            <a:off x="311754" y="1152828"/>
            <a:ext cx="8522100" cy="3417300"/>
          </a:xfrm>
          <a:prstGeom prst="rect">
            <a:avLst/>
          </a:prstGeom>
          <a:noFill/>
          <a:ln>
            <a:noFill/>
          </a:ln>
        </p:spPr>
        <p:txBody>
          <a:bodyPr anchorCtr="0" anchor="t" bIns="91450" lIns="91450" spcFirstLastPara="1" rIns="91450" wrap="square" tIns="91450">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1" name="Google Shape;91;g2ad97f235b5_0_167"/>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www.linkedin.com/in/galuh-ramaditya/" TargetMode="External"/><Relationship Id="rId6"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5.png"/><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 Id="rId3"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 Id="rId3" Type="http://schemas.openxmlformats.org/officeDocument/2006/relationships/image" Target="../media/image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 Id="rId3" Type="http://schemas.openxmlformats.org/officeDocument/2006/relationships/image" Target="../media/image5.png"/><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 Id="rId3" Type="http://schemas.openxmlformats.org/officeDocument/2006/relationships/image" Target="../media/image5.png"/><Relationship Id="rId4" Type="http://schemas.openxmlformats.org/officeDocument/2006/relationships/image" Target="../media/image12.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 Id="rId3"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 Id="rId3" Type="http://schemas.openxmlformats.org/officeDocument/2006/relationships/image" Target="../media/image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 Id="rId3" Type="http://schemas.openxmlformats.org/officeDocument/2006/relationships/image" Target="../media/image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 Id="rId3" Type="http://schemas.openxmlformats.org/officeDocument/2006/relationships/image" Target="../media/image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 Id="rId3" Type="http://schemas.openxmlformats.org/officeDocument/2006/relationships/image" Target="../media/image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 Id="rId3" Type="http://schemas.openxmlformats.org/officeDocument/2006/relationships/image" Target="../media/image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 Id="rId3" Type="http://schemas.openxmlformats.org/officeDocument/2006/relationships/image" Target="../media/image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 Id="rId3" Type="http://schemas.openxmlformats.org/officeDocument/2006/relationships/image" Target="../media/image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 Id="rId3" Type="http://schemas.openxmlformats.org/officeDocument/2006/relationships/image" Target="../media/image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 Id="rId3" Type="http://schemas.openxmlformats.org/officeDocument/2006/relationships/image" Target="../media/image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 Id="rId3" Type="http://schemas.openxmlformats.org/officeDocument/2006/relationships/image" Target="../media/image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 Id="rId3" Type="http://schemas.openxmlformats.org/officeDocument/2006/relationships/image" Target="../media/image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 Id="rId3"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 Id="rId3" Type="http://schemas.openxmlformats.org/officeDocument/2006/relationships/image" Target="../media/image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 Id="rId3" Type="http://schemas.openxmlformats.org/officeDocument/2006/relationships/image" Target="../media/image5.png"/><Relationship Id="rId4" Type="http://schemas.openxmlformats.org/officeDocument/2006/relationships/image" Target="../media/image8.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 Id="rId3" Type="http://schemas.openxmlformats.org/officeDocument/2006/relationships/image" Target="../media/image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 Id="rId3" Type="http://schemas.openxmlformats.org/officeDocument/2006/relationships/image" Target="../media/image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 Id="rId3" Type="http://schemas.openxmlformats.org/officeDocument/2006/relationships/image" Target="../media/image5.png"/><Relationship Id="rId4" Type="http://schemas.openxmlformats.org/officeDocument/2006/relationships/image" Target="../media/image1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 Id="rId3" Type="http://schemas.openxmlformats.org/officeDocument/2006/relationships/image" Target="../media/image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 Id="rId3"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6.xml"/><Relationship Id="rId3" Type="http://schemas.openxmlformats.org/officeDocument/2006/relationships/image" Target="../media/image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7.xml"/><Relationship Id="rId3" Type="http://schemas.openxmlformats.org/officeDocument/2006/relationships/image" Target="../media/image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 Id="rId3" Type="http://schemas.openxmlformats.org/officeDocument/2006/relationships/image" Target="../media/image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9.xml"/><Relationship Id="rId3" Type="http://schemas.openxmlformats.org/officeDocument/2006/relationships/image" Target="../media/image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Relationship Id="rId3" Type="http://schemas.openxmlformats.org/officeDocument/2006/relationships/image" Target="../media/image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1.xml"/><Relationship Id="rId3" Type="http://schemas.openxmlformats.org/officeDocument/2006/relationships/image" Target="../media/image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2.xml"/><Relationship Id="rId3"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3.xml"/><Relationship Id="rId3" Type="http://schemas.openxmlformats.org/officeDocument/2006/relationships/image" Target="../media/image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4.xml"/><Relationship Id="rId3" Type="http://schemas.openxmlformats.org/officeDocument/2006/relationships/image" Target="../media/image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5.xml"/><Relationship Id="rId3" Type="http://schemas.openxmlformats.org/officeDocument/2006/relationships/image" Target="../media/image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6.xml"/><Relationship Id="rId3" Type="http://schemas.openxmlformats.org/officeDocument/2006/relationships/image" Target="../media/image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7.xml"/><Relationship Id="rId3" Type="http://schemas.openxmlformats.org/officeDocument/2006/relationships/image" Target="../media/image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8.xml"/><Relationship Id="rId3" Type="http://schemas.openxmlformats.org/officeDocument/2006/relationships/image" Target="../media/image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6" name="Shape 136"/>
        <p:cNvGrpSpPr/>
        <p:nvPr/>
      </p:nvGrpSpPr>
      <p:grpSpPr>
        <a:xfrm>
          <a:off x="0" y="0"/>
          <a:ext cx="0" cy="0"/>
          <a:chOff x="0" y="0"/>
          <a:chExt cx="0" cy="0"/>
        </a:xfrm>
      </p:grpSpPr>
      <p:sp>
        <p:nvSpPr>
          <p:cNvPr id="137" name="Google Shape;137;g26585e5a41e_0_0"/>
          <p:cNvSpPr/>
          <p:nvPr/>
        </p:nvSpPr>
        <p:spPr>
          <a:xfrm>
            <a:off x="-1050025" y="1042200"/>
            <a:ext cx="7580100" cy="41028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8" name="Google Shape;138;g26585e5a41e_0_0"/>
          <p:cNvSpPr txBox="1"/>
          <p:nvPr>
            <p:ph idx="1" type="subTitle"/>
          </p:nvPr>
        </p:nvSpPr>
        <p:spPr>
          <a:xfrm>
            <a:off x="508650" y="3641075"/>
            <a:ext cx="4789500" cy="7929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Clr>
                <a:schemeClr val="dk1"/>
              </a:buClr>
              <a:buSzPts val="1100"/>
              <a:buFont typeface="Arial"/>
              <a:buNone/>
            </a:pPr>
            <a:r>
              <a:rPr lang="en-US" sz="1800">
                <a:solidFill>
                  <a:schemeClr val="lt1"/>
                </a:solidFill>
                <a:latin typeface="Plus Jakarta Sans Medium"/>
                <a:ea typeface="Plus Jakarta Sans Medium"/>
                <a:cs typeface="Plus Jakarta Sans Medium"/>
                <a:sym typeface="Plus Jakarta Sans Medium"/>
              </a:rPr>
              <a:t>Samsung Innovation Campus 7</a:t>
            </a:r>
            <a:endParaRPr sz="1800">
              <a:solidFill>
                <a:schemeClr val="lt1"/>
              </a:solidFill>
              <a:latin typeface="Plus Jakarta Sans Medium"/>
              <a:ea typeface="Plus Jakarta Sans Medium"/>
              <a:cs typeface="Plus Jakarta Sans Medium"/>
              <a:sym typeface="Plus Jakarta Sans Medium"/>
            </a:endParaRPr>
          </a:p>
        </p:txBody>
      </p:sp>
      <p:pic>
        <p:nvPicPr>
          <p:cNvPr id="139" name="Google Shape;139;g26585e5a41e_0_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cxnSp>
        <p:nvCxnSpPr>
          <p:cNvPr id="140" name="Google Shape;140;g26585e5a41e_0_0"/>
          <p:cNvCxnSpPr/>
          <p:nvPr/>
        </p:nvCxnSpPr>
        <p:spPr>
          <a:xfrm>
            <a:off x="609925" y="4433975"/>
            <a:ext cx="3933900" cy="0"/>
          </a:xfrm>
          <a:prstGeom prst="straightConnector1">
            <a:avLst/>
          </a:prstGeom>
          <a:noFill/>
          <a:ln cap="flat" cmpd="sng" w="9525">
            <a:solidFill>
              <a:schemeClr val="lt1"/>
            </a:solidFill>
            <a:prstDash val="solid"/>
            <a:round/>
            <a:headEnd len="sm" w="sm" type="none"/>
            <a:tailEnd len="sm" w="sm" type="none"/>
          </a:ln>
        </p:spPr>
      </p:cxnSp>
      <p:sp>
        <p:nvSpPr>
          <p:cNvPr id="141" name="Google Shape;141;g26585e5a41e_0_0"/>
          <p:cNvSpPr/>
          <p:nvPr/>
        </p:nvSpPr>
        <p:spPr>
          <a:xfrm>
            <a:off x="1144250" y="4372475"/>
            <a:ext cx="611700" cy="123000"/>
          </a:xfrm>
          <a:prstGeom prst="roundRect">
            <a:avLst>
              <a:gd fmla="val 50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2" name="Google Shape;142;g26585e5a41e_0_0"/>
          <p:cNvSpPr/>
          <p:nvPr/>
        </p:nvSpPr>
        <p:spPr>
          <a:xfrm rot="-1974178">
            <a:off x="5563413" y="2328431"/>
            <a:ext cx="1120545" cy="1120545"/>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 name="Google Shape;143;g26585e5a41e_0_0"/>
          <p:cNvSpPr/>
          <p:nvPr/>
        </p:nvSpPr>
        <p:spPr>
          <a:xfrm rot="-3576283">
            <a:off x="4993794" y="3068971"/>
            <a:ext cx="3038762" cy="3137189"/>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4" name="Google Shape;144;g26585e5a41e_0_0"/>
          <p:cNvSpPr txBox="1"/>
          <p:nvPr>
            <p:ph type="ctrTitle"/>
          </p:nvPr>
        </p:nvSpPr>
        <p:spPr>
          <a:xfrm>
            <a:off x="455175" y="2359501"/>
            <a:ext cx="5605200" cy="14682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chemeClr val="lt1"/>
                </a:solidFill>
                <a:latin typeface="Plus Jakarta Sans"/>
                <a:ea typeface="Plus Jakarta Sans"/>
                <a:cs typeface="Plus Jakarta Sans"/>
                <a:sym typeface="Plus Jakarta Sans"/>
              </a:rPr>
              <a:t>Variables &amp; Data Types</a:t>
            </a:r>
            <a:endParaRPr b="1" sz="48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8" name="Shape 148"/>
        <p:cNvGrpSpPr/>
        <p:nvPr/>
      </p:nvGrpSpPr>
      <p:grpSpPr>
        <a:xfrm>
          <a:off x="0" y="0"/>
          <a:ext cx="0" cy="0"/>
          <a:chOff x="0" y="0"/>
          <a:chExt cx="0" cy="0"/>
        </a:xfrm>
      </p:grpSpPr>
      <p:pic>
        <p:nvPicPr>
          <p:cNvPr id="149" name="Google Shape;149;g26585e5a41e_0_24"/>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
        <p:nvSpPr>
          <p:cNvPr id="150" name="Google Shape;150;g26585e5a41e_0_24"/>
          <p:cNvSpPr txBox="1"/>
          <p:nvPr/>
        </p:nvSpPr>
        <p:spPr>
          <a:xfrm>
            <a:off x="503685" y="2774031"/>
            <a:ext cx="3000600" cy="446400"/>
          </a:xfrm>
          <a:prstGeom prst="rect">
            <a:avLst/>
          </a:prstGeom>
          <a:noFill/>
          <a:ln>
            <a:noFill/>
          </a:ln>
        </p:spPr>
        <p:txBody>
          <a:bodyPr anchorCtr="0" anchor="t" bIns="91450" lIns="91450" spcFirstLastPara="1" rIns="91450" wrap="square" tIns="91450">
            <a:spAutoFit/>
          </a:bodyPr>
          <a:lstStyle/>
          <a:p>
            <a:pPr indent="0" lvl="0" marL="0" marR="0" rtl="0" algn="l">
              <a:lnSpc>
                <a:spcPct val="135000"/>
              </a:lnSpc>
              <a:spcBef>
                <a:spcPts val="700"/>
              </a:spcBef>
              <a:spcAft>
                <a:spcPts val="0"/>
              </a:spcAft>
              <a:buClr>
                <a:srgbClr val="000000"/>
              </a:buClr>
              <a:buSzPts val="1700"/>
              <a:buFont typeface="Arial"/>
              <a:buNone/>
            </a:pPr>
            <a:r>
              <a:rPr b="1" i="0" lang="en-US" sz="1700" u="none" cap="none" strike="noStrike">
                <a:solidFill>
                  <a:srgbClr val="48A8C4"/>
                </a:solidFill>
                <a:latin typeface="Plus Jakarta Sans"/>
                <a:ea typeface="Plus Jakarta Sans"/>
                <a:cs typeface="Plus Jakarta Sans"/>
                <a:sym typeface="Plus Jakarta Sans"/>
              </a:rPr>
              <a:t>Mentor</a:t>
            </a:r>
            <a:endParaRPr b="1" i="0" sz="1600" u="none" cap="none" strike="noStrike">
              <a:solidFill>
                <a:srgbClr val="48A8C4"/>
              </a:solidFill>
              <a:latin typeface="Plus Jakarta Sans"/>
              <a:ea typeface="Plus Jakarta Sans"/>
              <a:cs typeface="Plus Jakarta Sans"/>
              <a:sym typeface="Plus Jakarta Sans"/>
            </a:endParaRPr>
          </a:p>
        </p:txBody>
      </p:sp>
      <p:sp>
        <p:nvSpPr>
          <p:cNvPr id="151" name="Google Shape;151;g26585e5a41e_0_24"/>
          <p:cNvSpPr txBox="1"/>
          <p:nvPr/>
        </p:nvSpPr>
        <p:spPr>
          <a:xfrm>
            <a:off x="503672" y="2327500"/>
            <a:ext cx="3583800" cy="577200"/>
          </a:xfrm>
          <a:prstGeom prst="rect">
            <a:avLst/>
          </a:prstGeom>
          <a:noFill/>
          <a:ln>
            <a:noFill/>
          </a:ln>
        </p:spPr>
        <p:txBody>
          <a:bodyPr anchorCtr="0" anchor="t" bIns="91450" lIns="91450" spcFirstLastPara="1" rIns="91450" wrap="square" tIns="91450">
            <a:spAutoFit/>
          </a:bodyPr>
          <a:lstStyle/>
          <a:p>
            <a:pPr indent="0" lvl="0" marL="0" marR="0" rtl="0" algn="l">
              <a:lnSpc>
                <a:spcPct val="85000"/>
              </a:lnSpc>
              <a:spcBef>
                <a:spcPts val="0"/>
              </a:spcBef>
              <a:spcAft>
                <a:spcPts val="0"/>
              </a:spcAft>
              <a:buClr>
                <a:srgbClr val="000000"/>
              </a:buClr>
              <a:buSzPts val="3000"/>
              <a:buFont typeface="Arial"/>
              <a:buNone/>
            </a:pPr>
            <a:r>
              <a:rPr b="1" i="0" lang="en-US" sz="3000" u="none" cap="none" strike="noStrike">
                <a:solidFill>
                  <a:srgbClr val="000000"/>
                </a:solidFill>
                <a:latin typeface="Plus Jakarta Sans"/>
                <a:ea typeface="Plus Jakarta Sans"/>
                <a:cs typeface="Plus Jakarta Sans"/>
                <a:sym typeface="Plus Jakarta Sans"/>
              </a:rPr>
              <a:t>Galuh Ramaditya</a:t>
            </a:r>
            <a:endParaRPr b="1" i="0" sz="3000" u="none" cap="none" strike="noStrike">
              <a:solidFill>
                <a:srgbClr val="000000"/>
              </a:solidFill>
              <a:latin typeface="Plus Jakarta Sans"/>
              <a:ea typeface="Plus Jakarta Sans"/>
              <a:cs typeface="Plus Jakarta Sans"/>
              <a:sym typeface="Plus Jakarta Sans"/>
            </a:endParaRPr>
          </a:p>
        </p:txBody>
      </p:sp>
      <p:sp>
        <p:nvSpPr>
          <p:cNvPr id="152" name="Google Shape;152;g26585e5a41e_0_24"/>
          <p:cNvSpPr txBox="1"/>
          <p:nvPr/>
        </p:nvSpPr>
        <p:spPr>
          <a:xfrm>
            <a:off x="503678" y="3107625"/>
            <a:ext cx="3078900" cy="4002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400"/>
              <a:buFont typeface="Arial"/>
              <a:buNone/>
            </a:pPr>
            <a:r>
              <a:rPr b="0" i="1" lang="en-US" sz="1400" u="none" cap="none" strike="noStrike">
                <a:solidFill>
                  <a:srgbClr val="000000"/>
                </a:solidFill>
                <a:latin typeface="Plus Jakarta Sans Medium"/>
                <a:ea typeface="Plus Jakarta Sans Medium"/>
                <a:cs typeface="Plus Jakarta Sans Medium"/>
                <a:sym typeface="Plus Jakarta Sans Medium"/>
              </a:rPr>
              <a:t>Data Engineer</a:t>
            </a:r>
            <a:endParaRPr b="0" i="1" sz="1400" u="none" cap="none" strike="noStrike">
              <a:solidFill>
                <a:srgbClr val="000000"/>
              </a:solidFill>
              <a:latin typeface="Plus Jakarta Sans Medium"/>
              <a:ea typeface="Plus Jakarta Sans Medium"/>
              <a:cs typeface="Plus Jakarta Sans Medium"/>
              <a:sym typeface="Plus Jakarta Sans Medium"/>
            </a:endParaRPr>
          </a:p>
        </p:txBody>
      </p:sp>
      <p:pic>
        <p:nvPicPr>
          <p:cNvPr id="153" name="Google Shape;153;g26585e5a41e_0_24"/>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pic>
        <p:nvPicPr>
          <p:cNvPr id="154" name="Google Shape;154;g26585e5a41e_0_24"/>
          <p:cNvPicPr preferRelativeResize="0"/>
          <p:nvPr/>
        </p:nvPicPr>
        <p:blipFill rotWithShape="1">
          <a:blip r:embed="rId4">
            <a:alphaModFix/>
          </a:blip>
          <a:srcRect b="0" l="0" r="0" t="0"/>
          <a:stretch/>
        </p:blipFill>
        <p:spPr>
          <a:xfrm>
            <a:off x="7630763" y="276049"/>
            <a:ext cx="1184604" cy="360062"/>
          </a:xfrm>
          <a:prstGeom prst="rect">
            <a:avLst/>
          </a:prstGeom>
          <a:noFill/>
          <a:ln>
            <a:noFill/>
          </a:ln>
        </p:spPr>
      </p:pic>
      <p:sp>
        <p:nvSpPr>
          <p:cNvPr id="155" name="Google Shape;155;g26585e5a41e_0_24"/>
          <p:cNvSpPr txBox="1"/>
          <p:nvPr/>
        </p:nvSpPr>
        <p:spPr>
          <a:xfrm>
            <a:off x="503675" y="4005850"/>
            <a:ext cx="3646800" cy="8958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400"/>
              <a:buFont typeface="Arial"/>
              <a:buNone/>
            </a:pPr>
            <a:r>
              <a:rPr b="1" i="1" lang="en-US" sz="1400" u="none" cap="none" strike="noStrike">
                <a:solidFill>
                  <a:srgbClr val="000000"/>
                </a:solidFill>
                <a:latin typeface="Plus Jakarta Sans"/>
                <a:ea typeface="Plus Jakarta Sans"/>
                <a:cs typeface="Plus Jakarta Sans"/>
                <a:sym typeface="Plus Jakarta Sans"/>
              </a:rPr>
              <a:t>LinkedIn:</a:t>
            </a:r>
            <a:endParaRPr b="1" i="1"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15000"/>
              </a:lnSpc>
              <a:spcBef>
                <a:spcPts val="0"/>
              </a:spcBef>
              <a:spcAft>
                <a:spcPts val="0"/>
              </a:spcAft>
              <a:buClr>
                <a:srgbClr val="000000"/>
              </a:buClr>
              <a:buSzPts val="1400"/>
              <a:buFont typeface="Arial"/>
              <a:buNone/>
            </a:pPr>
            <a:r>
              <a:rPr b="0" i="1" lang="en-US" sz="1400" u="sng" cap="none" strike="noStrike">
                <a:solidFill>
                  <a:schemeClr val="hlink"/>
                </a:solidFill>
                <a:latin typeface="Plus Jakarta Sans Medium"/>
                <a:ea typeface="Plus Jakarta Sans Medium"/>
                <a:cs typeface="Plus Jakarta Sans Medium"/>
                <a:sym typeface="Plus Jakarta Sans Medium"/>
                <a:hlinkClick r:id="rId5"/>
              </a:rPr>
              <a:t>https://www.linkedin.com/in/galuh-ramaditya/</a:t>
            </a:r>
            <a:endParaRPr b="0" i="1" sz="1400" u="none" cap="none" strike="noStrike">
              <a:solidFill>
                <a:srgbClr val="000000"/>
              </a:solidFill>
              <a:latin typeface="Plus Jakarta Sans Medium"/>
              <a:ea typeface="Plus Jakarta Sans Medium"/>
              <a:cs typeface="Plus Jakarta Sans Medium"/>
              <a:sym typeface="Plus Jakarta Sans Medium"/>
            </a:endParaRPr>
          </a:p>
        </p:txBody>
      </p:sp>
      <p:sp>
        <p:nvSpPr>
          <p:cNvPr id="156" name="Google Shape;156;g26585e5a41e_0_24"/>
          <p:cNvSpPr/>
          <p:nvPr/>
        </p:nvSpPr>
        <p:spPr>
          <a:xfrm rot="-3576382">
            <a:off x="-547808" y="-2388310"/>
            <a:ext cx="3914117" cy="3914117"/>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7" name="Google Shape;157;g26585e5a41e_0_24"/>
          <p:cNvSpPr/>
          <p:nvPr/>
        </p:nvSpPr>
        <p:spPr>
          <a:xfrm rot="-4242470">
            <a:off x="8039051" y="235535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 name="Google Shape;158;g26585e5a41e_0_24"/>
          <p:cNvSpPr/>
          <p:nvPr/>
        </p:nvSpPr>
        <p:spPr>
          <a:xfrm rot="-1974178">
            <a:off x="8406288" y="4307981"/>
            <a:ext cx="1120545" cy="1120545"/>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59" name="Google Shape;159;g26585e5a41e_0_24" title="Copy of DBB02863.jpg"/>
          <p:cNvPicPr preferRelativeResize="0"/>
          <p:nvPr/>
        </p:nvPicPr>
        <p:blipFill rotWithShape="1">
          <a:blip r:embed="rId6">
            <a:alphaModFix/>
          </a:blip>
          <a:srcRect b="25313" l="0" r="0" t="8036"/>
          <a:stretch/>
        </p:blipFill>
        <p:spPr>
          <a:xfrm>
            <a:off x="541800" y="308725"/>
            <a:ext cx="1734900" cy="1734900"/>
          </a:xfrm>
          <a:prstGeom prst="ellipse">
            <a:avLst/>
          </a:prstGeom>
          <a:noFill/>
          <a:ln>
            <a:noFill/>
          </a:ln>
        </p:spPr>
      </p:pic>
      <p:grpSp>
        <p:nvGrpSpPr>
          <p:cNvPr id="160" name="Google Shape;160;g26585e5a41e_0_24"/>
          <p:cNvGrpSpPr/>
          <p:nvPr/>
        </p:nvGrpSpPr>
        <p:grpSpPr>
          <a:xfrm>
            <a:off x="4812258" y="2039725"/>
            <a:ext cx="3810072" cy="1942400"/>
            <a:chOff x="466625" y="2083326"/>
            <a:chExt cx="4728310" cy="1942400"/>
          </a:xfrm>
        </p:grpSpPr>
        <p:grpSp>
          <p:nvGrpSpPr>
            <p:cNvPr id="161" name="Google Shape;161;g26585e5a41e_0_24"/>
            <p:cNvGrpSpPr/>
            <p:nvPr/>
          </p:nvGrpSpPr>
          <p:grpSpPr>
            <a:xfrm>
              <a:off x="571335" y="2083326"/>
              <a:ext cx="4623600" cy="570000"/>
              <a:chOff x="571335" y="2048451"/>
              <a:chExt cx="4623600" cy="570000"/>
            </a:xfrm>
          </p:grpSpPr>
          <p:sp>
            <p:nvSpPr>
              <p:cNvPr id="162" name="Google Shape;162;g26585e5a41e_0_24"/>
              <p:cNvSpPr txBox="1"/>
              <p:nvPr/>
            </p:nvSpPr>
            <p:spPr>
              <a:xfrm>
                <a:off x="571335" y="2279751"/>
                <a:ext cx="4623600" cy="3387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000"/>
                  <a:buFont typeface="Arial"/>
                  <a:buNone/>
                </a:pPr>
                <a:r>
                  <a:rPr b="0" i="0" lang="en-US" sz="1000" u="none" cap="none" strike="noStrike">
                    <a:solidFill>
                      <a:srgbClr val="000000"/>
                    </a:solidFill>
                    <a:latin typeface="Plus Jakarta Sans"/>
                    <a:ea typeface="Plus Jakarta Sans"/>
                    <a:cs typeface="Plus Jakarta Sans"/>
                    <a:sym typeface="Plus Jakarta Sans"/>
                  </a:rPr>
                  <a:t>at </a:t>
                </a:r>
                <a:r>
                  <a:rPr b="0" i="0" lang="en-US" sz="1000" u="none" cap="none" strike="noStrike">
                    <a:solidFill>
                      <a:schemeClr val="dk1"/>
                    </a:solidFill>
                    <a:latin typeface="Plus Jakarta Sans"/>
                    <a:ea typeface="Plus Jakarta Sans"/>
                    <a:cs typeface="Plus Jakarta Sans"/>
                    <a:sym typeface="Plus Jakarta Sans"/>
                  </a:rPr>
                  <a:t>Kredivo Group (2022-present)</a:t>
                </a:r>
                <a:endParaRPr b="0" i="0" sz="1000" u="none" cap="none" strike="noStrike">
                  <a:solidFill>
                    <a:srgbClr val="000000"/>
                  </a:solidFill>
                  <a:latin typeface="Plus Jakarta Sans"/>
                  <a:ea typeface="Plus Jakarta Sans"/>
                  <a:cs typeface="Plus Jakarta Sans"/>
                  <a:sym typeface="Plus Jakarta Sans"/>
                </a:endParaRPr>
              </a:p>
            </p:txBody>
          </p:sp>
          <p:sp>
            <p:nvSpPr>
              <p:cNvPr id="163" name="Google Shape;163;g26585e5a41e_0_24"/>
              <p:cNvSpPr txBox="1"/>
              <p:nvPr/>
            </p:nvSpPr>
            <p:spPr>
              <a:xfrm>
                <a:off x="571335" y="2048451"/>
                <a:ext cx="4623600" cy="3693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000000"/>
                    </a:solidFill>
                    <a:latin typeface="Plus Jakarta Sans"/>
                    <a:ea typeface="Plus Jakarta Sans"/>
                    <a:cs typeface="Plus Jakarta Sans"/>
                    <a:sym typeface="Plus Jakarta Sans"/>
                  </a:rPr>
                  <a:t>Data </a:t>
                </a:r>
                <a:r>
                  <a:rPr b="1" i="0" lang="en-US" sz="1200" u="none" cap="none" strike="noStrike">
                    <a:solidFill>
                      <a:schemeClr val="dk1"/>
                    </a:solidFill>
                    <a:latin typeface="Plus Jakarta Sans"/>
                    <a:ea typeface="Plus Jakarta Sans"/>
                    <a:cs typeface="Plus Jakarta Sans"/>
                    <a:sym typeface="Plus Jakarta Sans"/>
                  </a:rPr>
                  <a:t>Engineer</a:t>
                </a:r>
                <a:endParaRPr b="1" i="0" sz="1200" u="none" cap="none" strike="noStrike">
                  <a:solidFill>
                    <a:srgbClr val="000000"/>
                  </a:solidFill>
                  <a:latin typeface="Plus Jakarta Sans"/>
                  <a:ea typeface="Plus Jakarta Sans"/>
                  <a:cs typeface="Plus Jakarta Sans"/>
                  <a:sym typeface="Plus Jakarta Sans"/>
                </a:endParaRPr>
              </a:p>
            </p:txBody>
          </p:sp>
        </p:grpSp>
        <p:sp>
          <p:nvSpPr>
            <p:cNvPr id="164" name="Google Shape;164;g26585e5a41e_0_24"/>
            <p:cNvSpPr/>
            <p:nvPr/>
          </p:nvSpPr>
          <p:spPr>
            <a:xfrm>
              <a:off x="466625" y="2219450"/>
              <a:ext cx="104700" cy="104700"/>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g26585e5a41e_0_24"/>
            <p:cNvGrpSpPr/>
            <p:nvPr/>
          </p:nvGrpSpPr>
          <p:grpSpPr>
            <a:xfrm>
              <a:off x="571335" y="2780976"/>
              <a:ext cx="4623600" cy="570000"/>
              <a:chOff x="571335" y="2048451"/>
              <a:chExt cx="4623600" cy="570000"/>
            </a:xfrm>
          </p:grpSpPr>
          <p:sp>
            <p:nvSpPr>
              <p:cNvPr id="166" name="Google Shape;166;g26585e5a41e_0_24"/>
              <p:cNvSpPr txBox="1"/>
              <p:nvPr/>
            </p:nvSpPr>
            <p:spPr>
              <a:xfrm>
                <a:off x="571335" y="2279751"/>
                <a:ext cx="4623600" cy="3387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000"/>
                  <a:buFont typeface="Arial"/>
                  <a:buNone/>
                </a:pPr>
                <a:r>
                  <a:rPr b="0" i="0" lang="en-US" sz="1000" u="none" cap="none" strike="noStrike">
                    <a:solidFill>
                      <a:srgbClr val="000000"/>
                    </a:solidFill>
                    <a:latin typeface="Plus Jakarta Sans"/>
                    <a:ea typeface="Plus Jakarta Sans"/>
                    <a:cs typeface="Plus Jakarta Sans"/>
                    <a:sym typeface="Plus Jakarta Sans"/>
                  </a:rPr>
                  <a:t>at </a:t>
                </a:r>
                <a:r>
                  <a:rPr b="0" i="0" lang="en-US" sz="1000" u="none" cap="none" strike="noStrike">
                    <a:solidFill>
                      <a:schemeClr val="dk1"/>
                    </a:solidFill>
                    <a:latin typeface="Plus Jakarta Sans"/>
                    <a:ea typeface="Plus Jakarta Sans"/>
                    <a:cs typeface="Plus Jakarta Sans"/>
                    <a:sym typeface="Plus Jakarta Sans"/>
                  </a:rPr>
                  <a:t>XL (2023-2024)</a:t>
                </a:r>
                <a:endParaRPr b="0" i="0" sz="1000" u="none" cap="none" strike="noStrike">
                  <a:solidFill>
                    <a:srgbClr val="000000"/>
                  </a:solidFill>
                  <a:latin typeface="Plus Jakarta Sans"/>
                  <a:ea typeface="Plus Jakarta Sans"/>
                  <a:cs typeface="Plus Jakarta Sans"/>
                  <a:sym typeface="Plus Jakarta Sans"/>
                </a:endParaRPr>
              </a:p>
            </p:txBody>
          </p:sp>
          <p:sp>
            <p:nvSpPr>
              <p:cNvPr id="167" name="Google Shape;167;g26585e5a41e_0_24"/>
              <p:cNvSpPr txBox="1"/>
              <p:nvPr/>
            </p:nvSpPr>
            <p:spPr>
              <a:xfrm>
                <a:off x="571335" y="2048451"/>
                <a:ext cx="4623600" cy="3693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000000"/>
                    </a:solidFill>
                    <a:latin typeface="Plus Jakarta Sans"/>
                    <a:ea typeface="Plus Jakarta Sans"/>
                    <a:cs typeface="Plus Jakarta Sans"/>
                    <a:sym typeface="Plus Jakarta Sans"/>
                  </a:rPr>
                  <a:t>Data </a:t>
                </a:r>
                <a:r>
                  <a:rPr b="1" i="0" lang="en-US" sz="1200" u="none" cap="none" strike="noStrike">
                    <a:solidFill>
                      <a:schemeClr val="dk1"/>
                    </a:solidFill>
                    <a:latin typeface="Plus Jakarta Sans"/>
                    <a:ea typeface="Plus Jakarta Sans"/>
                    <a:cs typeface="Plus Jakarta Sans"/>
                    <a:sym typeface="Plus Jakarta Sans"/>
                  </a:rPr>
                  <a:t>Mediation</a:t>
                </a:r>
                <a:endParaRPr b="1" i="0" sz="1200" u="none" cap="none" strike="noStrike">
                  <a:solidFill>
                    <a:srgbClr val="000000"/>
                  </a:solidFill>
                  <a:latin typeface="Plus Jakarta Sans"/>
                  <a:ea typeface="Plus Jakarta Sans"/>
                  <a:cs typeface="Plus Jakarta Sans"/>
                  <a:sym typeface="Plus Jakarta Sans"/>
                </a:endParaRPr>
              </a:p>
            </p:txBody>
          </p:sp>
        </p:grpSp>
        <p:sp>
          <p:nvSpPr>
            <p:cNvPr id="168" name="Google Shape;168;g26585e5a41e_0_24"/>
            <p:cNvSpPr/>
            <p:nvPr/>
          </p:nvSpPr>
          <p:spPr>
            <a:xfrm>
              <a:off x="466625" y="2917100"/>
              <a:ext cx="104700" cy="104700"/>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 name="Google Shape;169;g26585e5a41e_0_24"/>
            <p:cNvGrpSpPr/>
            <p:nvPr/>
          </p:nvGrpSpPr>
          <p:grpSpPr>
            <a:xfrm>
              <a:off x="571335" y="3455726"/>
              <a:ext cx="4623600" cy="570000"/>
              <a:chOff x="571335" y="2048451"/>
              <a:chExt cx="4623600" cy="570000"/>
            </a:xfrm>
          </p:grpSpPr>
          <p:sp>
            <p:nvSpPr>
              <p:cNvPr id="170" name="Google Shape;170;g26585e5a41e_0_24"/>
              <p:cNvSpPr txBox="1"/>
              <p:nvPr/>
            </p:nvSpPr>
            <p:spPr>
              <a:xfrm>
                <a:off x="571335" y="2279751"/>
                <a:ext cx="4623600" cy="3387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000"/>
                  <a:buFont typeface="Arial"/>
                  <a:buNone/>
                </a:pPr>
                <a:r>
                  <a:rPr b="0" i="0" lang="en-US" sz="1000" u="none" cap="none" strike="noStrike">
                    <a:solidFill>
                      <a:srgbClr val="000000"/>
                    </a:solidFill>
                    <a:latin typeface="Plus Jakarta Sans"/>
                    <a:ea typeface="Plus Jakarta Sans"/>
                    <a:cs typeface="Plus Jakarta Sans"/>
                    <a:sym typeface="Plus Jakarta Sans"/>
                  </a:rPr>
                  <a:t>at SIRCLO (2021-2022)</a:t>
                </a:r>
                <a:endParaRPr b="0" i="0" sz="1000" u="none" cap="none" strike="noStrike">
                  <a:solidFill>
                    <a:srgbClr val="000000"/>
                  </a:solidFill>
                  <a:latin typeface="Plus Jakarta Sans"/>
                  <a:ea typeface="Plus Jakarta Sans"/>
                  <a:cs typeface="Plus Jakarta Sans"/>
                  <a:sym typeface="Plus Jakarta Sans"/>
                </a:endParaRPr>
              </a:p>
            </p:txBody>
          </p:sp>
          <p:sp>
            <p:nvSpPr>
              <p:cNvPr id="171" name="Google Shape;171;g26585e5a41e_0_24"/>
              <p:cNvSpPr txBox="1"/>
              <p:nvPr/>
            </p:nvSpPr>
            <p:spPr>
              <a:xfrm>
                <a:off x="571335" y="2048451"/>
                <a:ext cx="4623600" cy="3693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000000"/>
                    </a:solidFill>
                    <a:latin typeface="Plus Jakarta Sans"/>
                    <a:ea typeface="Plus Jakarta Sans"/>
                    <a:cs typeface="Plus Jakarta Sans"/>
                    <a:sym typeface="Plus Jakarta Sans"/>
                  </a:rPr>
                  <a:t>Data Engineer</a:t>
                </a:r>
                <a:endParaRPr b="1" i="0" sz="1200" u="none" cap="none" strike="noStrike">
                  <a:solidFill>
                    <a:srgbClr val="000000"/>
                  </a:solidFill>
                  <a:latin typeface="Plus Jakarta Sans"/>
                  <a:ea typeface="Plus Jakarta Sans"/>
                  <a:cs typeface="Plus Jakarta Sans"/>
                  <a:sym typeface="Plus Jakarta Sans"/>
                </a:endParaRPr>
              </a:p>
            </p:txBody>
          </p:sp>
        </p:grpSp>
        <p:sp>
          <p:nvSpPr>
            <p:cNvPr id="172" name="Google Shape;172;g26585e5a41e_0_24"/>
            <p:cNvSpPr/>
            <p:nvPr/>
          </p:nvSpPr>
          <p:spPr>
            <a:xfrm>
              <a:off x="466625" y="3591850"/>
              <a:ext cx="104700" cy="104700"/>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6" name="Shape 176"/>
        <p:cNvGrpSpPr/>
        <p:nvPr/>
      </p:nvGrpSpPr>
      <p:grpSpPr>
        <a:xfrm>
          <a:off x="0" y="0"/>
          <a:ext cx="0" cy="0"/>
          <a:chOff x="0" y="0"/>
          <a:chExt cx="0" cy="0"/>
        </a:xfrm>
      </p:grpSpPr>
      <p:sp>
        <p:nvSpPr>
          <p:cNvPr id="177" name="Google Shape;177;g3753e428164_3_51"/>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8" name="Google Shape;178;g3753e428164_3_51"/>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9" name="Google Shape;179;g3753e428164_3_51"/>
          <p:cNvSpPr/>
          <p:nvPr/>
        </p:nvSpPr>
        <p:spPr>
          <a:xfrm rot="-3576382">
            <a:off x="5139692" y="2219687"/>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80" name="Google Shape;180;g3753e428164_3_5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81" name="Google Shape;181;g3753e428164_3_51"/>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Variables dan Assignment</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5" name="Shape 185"/>
        <p:cNvGrpSpPr/>
        <p:nvPr/>
      </p:nvGrpSpPr>
      <p:grpSpPr>
        <a:xfrm>
          <a:off x="0" y="0"/>
          <a:ext cx="0" cy="0"/>
          <a:chOff x="0" y="0"/>
          <a:chExt cx="0" cy="0"/>
        </a:xfrm>
      </p:grpSpPr>
      <p:sp>
        <p:nvSpPr>
          <p:cNvPr id="186" name="Google Shape;186;g372b3c3285c_0_30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187" name="Google Shape;187;g372b3c3285c_0_30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188" name="Google Shape;188;g372b3c3285c_0_307" title="A frustrated coder retyping customer data repeatedly name, age, income. A thought bubble shows a better way—data neatly stored in containers like boxes labeled with names. The scene suggests the n.png"/>
          <p:cNvPicPr preferRelativeResize="0"/>
          <p:nvPr/>
        </p:nvPicPr>
        <p:blipFill rotWithShape="1">
          <a:blip r:embed="rId4">
            <a:alphaModFix/>
          </a:blip>
          <a:srcRect b="0" l="0" r="0" t="0"/>
          <a:stretch/>
        </p:blipFill>
        <p:spPr>
          <a:xfrm>
            <a:off x="3277375" y="1274145"/>
            <a:ext cx="2590804" cy="2590804"/>
          </a:xfrm>
          <a:prstGeom prst="rect">
            <a:avLst/>
          </a:prstGeom>
          <a:noFill/>
          <a:ln>
            <a:noFill/>
          </a:ln>
        </p:spPr>
      </p:pic>
      <p:sp>
        <p:nvSpPr>
          <p:cNvPr id="189" name="Google Shape;189;g372b3c3285c_0_307"/>
          <p:cNvSpPr txBox="1"/>
          <p:nvPr/>
        </p:nvSpPr>
        <p:spPr>
          <a:xfrm>
            <a:off x="1962475" y="4017350"/>
            <a:ext cx="5220600" cy="845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“Bagaimana kita bisa menyimpan informasi ini agar bisa diakses dan dimanipulasi kapan saja?”</a:t>
            </a:r>
            <a:endParaRPr b="1" i="0" sz="14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3" name="Shape 193"/>
        <p:cNvGrpSpPr/>
        <p:nvPr/>
      </p:nvGrpSpPr>
      <p:grpSpPr>
        <a:xfrm>
          <a:off x="0" y="0"/>
          <a:ext cx="0" cy="0"/>
          <a:chOff x="0" y="0"/>
          <a:chExt cx="0" cy="0"/>
        </a:xfrm>
      </p:grpSpPr>
      <p:sp>
        <p:nvSpPr>
          <p:cNvPr id="194" name="Google Shape;194;g3753e428164_3_59"/>
          <p:cNvSpPr txBox="1"/>
          <p:nvPr/>
        </p:nvSpPr>
        <p:spPr>
          <a:xfrm>
            <a:off x="457200" y="1121750"/>
            <a:ext cx="5661000" cy="3523500"/>
          </a:xfrm>
          <a:prstGeom prst="rect">
            <a:avLst/>
          </a:prstGeom>
          <a:noFill/>
          <a:ln>
            <a:noFill/>
          </a:ln>
        </p:spPr>
        <p:txBody>
          <a:bodyPr anchorCtr="0" anchor="t" bIns="0" lIns="0" spcFirstLastPara="1" rIns="0" wrap="square" tIns="13950">
            <a:spAutoFit/>
          </a:bodyPr>
          <a:lstStyle/>
          <a:p>
            <a:pPr indent="0" lvl="0" marL="0" marR="0" rtl="0" algn="ctr">
              <a:lnSpc>
                <a:spcPct val="150000"/>
              </a:lnSpc>
              <a:spcBef>
                <a:spcPts val="0"/>
              </a:spcBef>
              <a:spcAft>
                <a:spcPts val="0"/>
              </a:spcAft>
              <a:buClr>
                <a:srgbClr val="000000"/>
              </a:buClr>
              <a:buSzPts val="1400"/>
              <a:buFont typeface="Arial"/>
              <a:buNone/>
            </a:pPr>
            <a:r>
              <a:t/>
            </a:r>
            <a:endParaRPr b="1"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rPr b="1" i="0" lang="en-US" sz="1200" u="none" cap="none" strike="noStrike">
                <a:solidFill>
                  <a:schemeClr val="dk2"/>
                </a:solidFill>
                <a:latin typeface="Arial"/>
                <a:ea typeface="Arial"/>
                <a:cs typeface="Arial"/>
                <a:sym typeface="Arial"/>
              </a:rPr>
              <a:t>variable dan assignment operators</a:t>
            </a:r>
            <a:endParaRPr b="1"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t/>
            </a:r>
            <a:endParaRPr b="1" i="0" sz="12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en-US" sz="1200" u="none" cap="none" strike="noStrike">
                <a:solidFill>
                  <a:schemeClr val="dk2"/>
                </a:solidFill>
                <a:latin typeface="Arial"/>
                <a:ea typeface="Arial"/>
                <a:cs typeface="Arial"/>
                <a:sym typeface="Arial"/>
              </a:rPr>
              <a:t>Variable</a:t>
            </a:r>
            <a:r>
              <a:rPr b="0" i="0" lang="en-US" sz="1200" u="none" cap="none" strike="noStrike">
                <a:solidFill>
                  <a:schemeClr val="dk2"/>
                </a:solidFill>
                <a:latin typeface="Arial"/>
                <a:ea typeface="Arial"/>
                <a:cs typeface="Arial"/>
                <a:sym typeface="Arial"/>
              </a:rPr>
              <a:t> adalah </a:t>
            </a:r>
            <a:r>
              <a:rPr b="1" i="0" lang="en-US" sz="1200" u="none" cap="none" strike="noStrike">
                <a:solidFill>
                  <a:schemeClr val="dk2"/>
                </a:solidFill>
                <a:latin typeface="Arial"/>
                <a:ea typeface="Arial"/>
                <a:cs typeface="Arial"/>
                <a:sym typeface="Arial"/>
              </a:rPr>
              <a:t>wadah</a:t>
            </a:r>
            <a:r>
              <a:rPr b="0" i="0" lang="en-US" sz="1200" u="none" cap="none" strike="noStrike">
                <a:solidFill>
                  <a:schemeClr val="dk2"/>
                </a:solidFill>
                <a:latin typeface="Arial"/>
                <a:ea typeface="Arial"/>
                <a:cs typeface="Arial"/>
                <a:sym typeface="Arial"/>
              </a:rPr>
              <a:t> atau label yang digunakan </a:t>
            </a:r>
            <a:r>
              <a:rPr b="1" i="0" lang="en-US" sz="1200" u="none" cap="none" strike="noStrike">
                <a:solidFill>
                  <a:schemeClr val="dk2"/>
                </a:solidFill>
                <a:latin typeface="Arial"/>
                <a:ea typeface="Arial"/>
                <a:cs typeface="Arial"/>
                <a:sym typeface="Arial"/>
              </a:rPr>
              <a:t>untuk menyimpan sebuah nilai</a:t>
            </a:r>
            <a:r>
              <a:rPr b="0" i="0" lang="en-US" sz="1200" u="none" cap="none" strike="noStrike">
                <a:solidFill>
                  <a:schemeClr val="dk2"/>
                </a:solidFill>
                <a:latin typeface="Arial"/>
                <a:ea typeface="Arial"/>
                <a:cs typeface="Arial"/>
                <a:sym typeface="Arial"/>
              </a:rPr>
              <a:t> di dalam memori komputer.</a:t>
            </a:r>
            <a:endParaRPr b="0" i="0" sz="12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2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en-US" sz="1200" u="none" cap="none" strike="noStrike">
                <a:solidFill>
                  <a:schemeClr val="dk2"/>
                </a:solidFill>
                <a:latin typeface="Arial"/>
                <a:ea typeface="Arial"/>
                <a:cs typeface="Arial"/>
                <a:sym typeface="Arial"/>
              </a:rPr>
              <a:t>Assignment operator (=)</a:t>
            </a:r>
            <a:r>
              <a:rPr b="0" i="0" lang="en-US" sz="1200" u="none" cap="none" strike="noStrike">
                <a:solidFill>
                  <a:schemeClr val="dk2"/>
                </a:solidFill>
                <a:latin typeface="Arial"/>
                <a:ea typeface="Arial"/>
                <a:cs typeface="Arial"/>
                <a:sym typeface="Arial"/>
              </a:rPr>
              <a:t> adalah simbol yang digunakan untuk "menetapkan" atau </a:t>
            </a:r>
            <a:r>
              <a:rPr b="1" i="0" lang="en-US" sz="1200" u="none" cap="none" strike="noStrike">
                <a:solidFill>
                  <a:schemeClr val="dk2"/>
                </a:solidFill>
                <a:latin typeface="Arial"/>
                <a:ea typeface="Arial"/>
                <a:cs typeface="Arial"/>
                <a:sym typeface="Arial"/>
              </a:rPr>
              <a:t>menaruh nilai ke dalam variable</a:t>
            </a:r>
            <a:r>
              <a:rPr b="0" i="0" lang="en-US" sz="1200" u="none" cap="none" strike="noStrike">
                <a:solidFill>
                  <a:schemeClr val="dk2"/>
                </a:solidFill>
                <a:latin typeface="Arial"/>
                <a:ea typeface="Arial"/>
                <a:cs typeface="Arial"/>
                <a:sym typeface="Arial"/>
              </a:rPr>
              <a:t> tersebut.</a:t>
            </a:r>
            <a:endParaRPr b="0" i="0" sz="12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rPr b="0" i="0" lang="en-US" sz="1200" u="none" cap="none" strike="noStrike">
                <a:solidFill>
                  <a:schemeClr val="dk2"/>
                </a:solidFill>
                <a:latin typeface="Arial"/>
                <a:ea typeface="Arial"/>
                <a:cs typeface="Arial"/>
                <a:sym typeface="Arial"/>
              </a:rPr>
              <a:t>Dengan menggunakan keduanya, Anda bisa mengelola dan memanipulasi data dengan cara yang terstruktur dan mudah dipahami.</a:t>
            </a:r>
            <a:endParaRPr b="0"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t/>
            </a:r>
            <a:endParaRPr b="0"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t/>
            </a:r>
            <a:endParaRPr b="0" i="0" sz="1200" u="none" cap="none" strike="noStrike">
              <a:solidFill>
                <a:schemeClr val="dk2"/>
              </a:solidFill>
              <a:latin typeface="Arial"/>
              <a:ea typeface="Arial"/>
              <a:cs typeface="Arial"/>
              <a:sym typeface="Arial"/>
            </a:endParaRPr>
          </a:p>
        </p:txBody>
      </p:sp>
      <p:sp>
        <p:nvSpPr>
          <p:cNvPr id="195" name="Google Shape;195;g3753e428164_3_59"/>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196" name="Google Shape;196;g3753e428164_3_5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97" name="Google Shape;197;g3753e428164_3_59"/>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1" name="Shape 201"/>
        <p:cNvGrpSpPr/>
        <p:nvPr/>
      </p:nvGrpSpPr>
      <p:grpSpPr>
        <a:xfrm>
          <a:off x="0" y="0"/>
          <a:ext cx="0" cy="0"/>
          <a:chOff x="0" y="0"/>
          <a:chExt cx="0" cy="0"/>
        </a:xfrm>
      </p:grpSpPr>
      <p:sp>
        <p:nvSpPr>
          <p:cNvPr id="202" name="Google Shape;202;g3753e428164_3_67"/>
          <p:cNvSpPr txBox="1"/>
          <p:nvPr/>
        </p:nvSpPr>
        <p:spPr>
          <a:xfrm>
            <a:off x="457200" y="1121750"/>
            <a:ext cx="5661000" cy="272310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1200"/>
              </a:spcBef>
              <a:spcAft>
                <a:spcPts val="0"/>
              </a:spcAft>
              <a:buClr>
                <a:schemeClr val="dk1"/>
              </a:buClr>
              <a:buSzPts val="1100"/>
              <a:buFont typeface="Arial"/>
              <a:buNone/>
            </a:pPr>
            <a:r>
              <a:rPr b="0" i="0" lang="en-US" sz="1200" u="none" cap="none" strike="noStrike">
                <a:solidFill>
                  <a:schemeClr val="dk2"/>
                </a:solidFill>
                <a:latin typeface="Arial"/>
                <a:ea typeface="Arial"/>
                <a:cs typeface="Arial"/>
                <a:sym typeface="Arial"/>
              </a:rPr>
              <a:t>Aturan Penamaan Variable:</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12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Nama variable </a:t>
            </a:r>
            <a:r>
              <a:rPr b="1" i="0" lang="en-US" sz="1200" u="none" cap="none" strike="noStrike">
                <a:solidFill>
                  <a:schemeClr val="dk2"/>
                </a:solidFill>
                <a:latin typeface="Arial"/>
                <a:ea typeface="Arial"/>
                <a:cs typeface="Arial"/>
                <a:sym typeface="Arial"/>
              </a:rPr>
              <a:t>tidak boleh diawali dengan angka.</a:t>
            </a:r>
            <a:endParaRPr b="1" i="0" sz="1200" u="none" cap="none" strike="noStrike">
              <a:solidFill>
                <a:schemeClr val="dk2"/>
              </a:solidFill>
              <a:latin typeface="Arial"/>
              <a:ea typeface="Arial"/>
              <a:cs typeface="Arial"/>
              <a:sym typeface="Arial"/>
            </a:endParaRPr>
          </a:p>
          <a:p>
            <a:pPr indent="-304800" lvl="0" marL="457200" marR="0" rtl="0" algn="l">
              <a:lnSpc>
                <a:spcPct val="150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Nama variable hanya bisa </a:t>
            </a:r>
            <a:r>
              <a:rPr b="1" i="0" lang="en-US" sz="1200" u="none" cap="none" strike="noStrike">
                <a:solidFill>
                  <a:schemeClr val="dk2"/>
                </a:solidFill>
                <a:latin typeface="Arial"/>
                <a:ea typeface="Arial"/>
                <a:cs typeface="Arial"/>
                <a:sym typeface="Arial"/>
              </a:rPr>
              <a:t>berisi huruf (a-z, A-Z), angka (0-9), dan garis bawah (_)</a:t>
            </a:r>
            <a:r>
              <a:rPr b="0" i="0" lang="en-US" sz="12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Nama variable sensitif terhadap huruf besar dan kecil (misalnya, harga dan Harga adalah dua variable yang berbeda).</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Sebaiknya </a:t>
            </a:r>
            <a:r>
              <a:rPr b="1" i="0" lang="en-US" sz="1200" u="none" cap="none" strike="noStrike">
                <a:solidFill>
                  <a:schemeClr val="dk2"/>
                </a:solidFill>
                <a:latin typeface="Arial"/>
                <a:ea typeface="Arial"/>
                <a:cs typeface="Arial"/>
                <a:sym typeface="Arial"/>
              </a:rPr>
              <a:t>gunakan nama yang deskriptif</a:t>
            </a:r>
            <a:r>
              <a:rPr b="0" i="0" lang="en-US" sz="1200" u="none" cap="none" strike="noStrike">
                <a:solidFill>
                  <a:schemeClr val="dk2"/>
                </a:solidFill>
                <a:latin typeface="Arial"/>
                <a:ea typeface="Arial"/>
                <a:cs typeface="Arial"/>
                <a:sym typeface="Arial"/>
              </a:rPr>
              <a:t> (total_penjualan lebih baik daripada tp).</a:t>
            </a:r>
            <a:endParaRPr b="0" i="0" sz="12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400"/>
              <a:buFont typeface="Arial"/>
              <a:buNone/>
            </a:pPr>
            <a:r>
              <a:t/>
            </a:r>
            <a:endParaRPr b="0" i="0" sz="1200" u="none" cap="none" strike="noStrike">
              <a:solidFill>
                <a:schemeClr val="dk2"/>
              </a:solidFill>
              <a:latin typeface="Arial"/>
              <a:ea typeface="Arial"/>
              <a:cs typeface="Arial"/>
              <a:sym typeface="Arial"/>
            </a:endParaRPr>
          </a:p>
        </p:txBody>
      </p:sp>
      <p:sp>
        <p:nvSpPr>
          <p:cNvPr id="203" name="Google Shape;203;g3753e428164_3_6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Aturan</a:t>
            </a:r>
            <a:endParaRPr b="1" i="0" sz="3600" u="none" cap="none" strike="noStrike">
              <a:solidFill>
                <a:srgbClr val="48A8C4"/>
              </a:solidFill>
              <a:latin typeface="Plus Jakarta Sans"/>
              <a:ea typeface="Plus Jakarta Sans"/>
              <a:cs typeface="Plus Jakarta Sans"/>
              <a:sym typeface="Plus Jakarta Sans"/>
            </a:endParaRPr>
          </a:p>
        </p:txBody>
      </p:sp>
      <p:pic>
        <p:nvPicPr>
          <p:cNvPr id="204" name="Google Shape;204;g3753e428164_3_6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05" name="Google Shape;205;g3753e428164_3_67"/>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9" name="Shape 209"/>
        <p:cNvGrpSpPr/>
        <p:nvPr/>
      </p:nvGrpSpPr>
      <p:grpSpPr>
        <a:xfrm>
          <a:off x="0" y="0"/>
          <a:ext cx="0" cy="0"/>
          <a:chOff x="0" y="0"/>
          <a:chExt cx="0" cy="0"/>
        </a:xfrm>
      </p:grpSpPr>
      <p:sp>
        <p:nvSpPr>
          <p:cNvPr id="210" name="Google Shape;210;g3753e428164_3_76"/>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211" name="Google Shape;211;g3753e428164_3_7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12" name="Google Shape;212;g3753e428164_3_76"/>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3" name="Google Shape;213;g3753e428164_3_76"/>
          <p:cNvSpPr txBox="1"/>
          <p:nvPr/>
        </p:nvSpPr>
        <p:spPr>
          <a:xfrm>
            <a:off x="457200" y="1121750"/>
            <a:ext cx="5687400" cy="11544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9CDCFE"/>
                </a:solidFill>
                <a:highlight>
                  <a:srgbClr val="1F1F1F"/>
                </a:highlight>
                <a:latin typeface="Consolas"/>
                <a:ea typeface="Consolas"/>
                <a:cs typeface="Consolas"/>
                <a:sym typeface="Consolas"/>
              </a:rPr>
              <a:t>nama_produk</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"Kopi Latte"</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Nilai "Kopi Latte" ditetapkan ke variable nama_produk</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9CDCFE"/>
                </a:solidFill>
                <a:highlight>
                  <a:srgbClr val="1F1F1F"/>
                </a:highlight>
                <a:latin typeface="Consolas"/>
                <a:ea typeface="Consolas"/>
                <a:cs typeface="Consolas"/>
                <a:sym typeface="Consolas"/>
              </a:rPr>
              <a:t>harga</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25000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Nilai 25000 ditetapkan ke variable harga</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nama_produk</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harga</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p:txBody>
      </p:sp>
      <p:sp>
        <p:nvSpPr>
          <p:cNvPr id="214" name="Google Shape;214;g3753e428164_3_76"/>
          <p:cNvSpPr txBox="1"/>
          <p:nvPr/>
        </p:nvSpPr>
        <p:spPr>
          <a:xfrm>
            <a:off x="457200" y="2352350"/>
            <a:ext cx="5687400" cy="17778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6A9955"/>
                </a:solidFill>
                <a:highlight>
                  <a:srgbClr val="1F1F1F"/>
                </a:highlight>
                <a:latin typeface="Consolas"/>
                <a:ea typeface="Consolas"/>
                <a:cs typeface="Consolas"/>
                <a:sym typeface="Consolas"/>
              </a:rPr>
              <a:t># Menetapkan nilai awal</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total_pelanggan</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50</a:t>
            </a:r>
            <a:endParaRPr b="0" i="0" sz="900" u="none" cap="none" strike="noStrike">
              <a:solidFill>
                <a:srgbClr val="B5CEA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"Jumlah pelanggan awal:"</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total_pelanggan</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6A9955"/>
                </a:solidFill>
                <a:highlight>
                  <a:srgbClr val="1F1F1F"/>
                </a:highlight>
                <a:latin typeface="Consolas"/>
                <a:ea typeface="Consolas"/>
                <a:cs typeface="Consolas"/>
                <a:sym typeface="Consolas"/>
              </a:rPr>
              <a:t># Mengubah nilai variable</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total_pelanggan</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75</a:t>
            </a:r>
            <a:endParaRPr b="0" i="0" sz="900" u="none" cap="none" strike="noStrike">
              <a:solidFill>
                <a:srgbClr val="B5CEA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"Jumlah pelanggan setelah berubah:"</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total_pelanggan</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t/>
            </a:r>
            <a:endParaRPr b="0" i="0" sz="900" u="none" cap="none" strike="noStrike">
              <a:solidFill>
                <a:srgbClr val="9CDCFE"/>
              </a:solidFill>
              <a:highlight>
                <a:srgbClr val="1F1F1F"/>
              </a:highlight>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8" name="Shape 218"/>
        <p:cNvGrpSpPr/>
        <p:nvPr/>
      </p:nvGrpSpPr>
      <p:grpSpPr>
        <a:xfrm>
          <a:off x="0" y="0"/>
          <a:ext cx="0" cy="0"/>
          <a:chOff x="0" y="0"/>
          <a:chExt cx="0" cy="0"/>
        </a:xfrm>
      </p:grpSpPr>
      <p:sp>
        <p:nvSpPr>
          <p:cNvPr id="219" name="Google Shape;219;g3753e428164_3_88"/>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Case Study</a:t>
            </a:r>
            <a:endParaRPr b="1" i="0" sz="3600" u="none" cap="none" strike="noStrike">
              <a:solidFill>
                <a:srgbClr val="48A8C4"/>
              </a:solidFill>
              <a:latin typeface="Plus Jakarta Sans"/>
              <a:ea typeface="Plus Jakarta Sans"/>
              <a:cs typeface="Plus Jakarta Sans"/>
              <a:sym typeface="Plus Jakarta Sans"/>
            </a:endParaRPr>
          </a:p>
        </p:txBody>
      </p:sp>
      <p:pic>
        <p:nvPicPr>
          <p:cNvPr id="220" name="Google Shape;220;g3753e428164_3_8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21" name="Google Shape;221;g3753e428164_3_88"/>
          <p:cNvSpPr txBox="1"/>
          <p:nvPr/>
        </p:nvSpPr>
        <p:spPr>
          <a:xfrm>
            <a:off x="457200" y="1865150"/>
            <a:ext cx="8358300" cy="6165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6A9955"/>
                </a:solidFill>
                <a:highlight>
                  <a:srgbClr val="1F1F1F"/>
                </a:highlight>
                <a:latin typeface="Consolas"/>
                <a:ea typeface="Consolas"/>
                <a:cs typeface="Consolas"/>
                <a:sym typeface="Consolas"/>
              </a:rPr>
              <a:t># Tentukan variable untuk menyimpan data</a:t>
            </a:r>
            <a:endParaRPr b="0" i="0" sz="85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9CDCFE"/>
                </a:solidFill>
                <a:highlight>
                  <a:srgbClr val="1F1F1F"/>
                </a:highlight>
                <a:latin typeface="Consolas"/>
                <a:ea typeface="Consolas"/>
                <a:cs typeface="Consolas"/>
                <a:sym typeface="Consolas"/>
              </a:rPr>
              <a:t>harga_kopi</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D4D4D4"/>
                </a:solidFill>
                <a:highlight>
                  <a:srgbClr val="1F1F1F"/>
                </a:highlight>
                <a:latin typeface="Consolas"/>
                <a:ea typeface="Consolas"/>
                <a:cs typeface="Consolas"/>
                <a:sym typeface="Consolas"/>
              </a:rPr>
              <a:t>=</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B5CEA8"/>
                </a:solidFill>
                <a:highlight>
                  <a:srgbClr val="1F1F1F"/>
                </a:highlight>
                <a:latin typeface="Consolas"/>
                <a:ea typeface="Consolas"/>
                <a:cs typeface="Consolas"/>
                <a:sym typeface="Consolas"/>
              </a:rPr>
              <a:t>25000</a:t>
            </a:r>
            <a:endParaRPr b="0" i="0" sz="850" u="none" cap="none" strike="noStrike">
              <a:solidFill>
                <a:srgbClr val="B5CEA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9CDCFE"/>
                </a:solidFill>
                <a:highlight>
                  <a:srgbClr val="1F1F1F"/>
                </a:highlight>
                <a:latin typeface="Consolas"/>
                <a:ea typeface="Consolas"/>
                <a:cs typeface="Consolas"/>
                <a:sym typeface="Consolas"/>
              </a:rPr>
              <a:t>jumlah_kopi</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D4D4D4"/>
                </a:solidFill>
                <a:highlight>
                  <a:srgbClr val="1F1F1F"/>
                </a:highlight>
                <a:latin typeface="Consolas"/>
                <a:ea typeface="Consolas"/>
                <a:cs typeface="Consolas"/>
                <a:sym typeface="Consolas"/>
              </a:rPr>
              <a:t>=</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B5CEA8"/>
                </a:solidFill>
                <a:highlight>
                  <a:srgbClr val="1F1F1F"/>
                </a:highlight>
                <a:latin typeface="Consolas"/>
                <a:ea typeface="Consolas"/>
                <a:cs typeface="Consolas"/>
                <a:sym typeface="Consolas"/>
              </a:rPr>
              <a:t>30</a:t>
            </a:r>
            <a:endParaRPr b="0" i="0" sz="850" u="none" cap="none" strike="noStrike">
              <a:solidFill>
                <a:srgbClr val="6A9955"/>
              </a:solidFill>
              <a:highlight>
                <a:srgbClr val="1F1F1F"/>
              </a:highlight>
              <a:latin typeface="Consolas"/>
              <a:ea typeface="Consolas"/>
              <a:cs typeface="Consolas"/>
              <a:sym typeface="Consolas"/>
            </a:endParaRPr>
          </a:p>
        </p:txBody>
      </p:sp>
      <p:sp>
        <p:nvSpPr>
          <p:cNvPr id="222" name="Google Shape;222;g3753e428164_3_88"/>
          <p:cNvSpPr txBox="1"/>
          <p:nvPr/>
        </p:nvSpPr>
        <p:spPr>
          <a:xfrm>
            <a:off x="457200" y="1121750"/>
            <a:ext cx="83583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0" i="0" lang="en-US" sz="1100" u="none" cap="none" strike="noStrike">
                <a:solidFill>
                  <a:schemeClr val="dk2"/>
                </a:solidFill>
                <a:latin typeface="Arial"/>
                <a:ea typeface="Arial"/>
                <a:cs typeface="Arial"/>
                <a:sym typeface="Arial"/>
              </a:rPr>
              <a:t>Pemilik </a:t>
            </a:r>
            <a:r>
              <a:rPr b="0" i="1" lang="en-US" sz="1100" u="none" cap="none" strike="noStrike">
                <a:solidFill>
                  <a:schemeClr val="dk2"/>
                </a:solidFill>
                <a:latin typeface="Arial"/>
                <a:ea typeface="Arial"/>
                <a:cs typeface="Arial"/>
                <a:sym typeface="Arial"/>
              </a:rPr>
              <a:t>coffee shop</a:t>
            </a:r>
            <a:r>
              <a:rPr b="0" i="0" lang="en-US" sz="1100" u="none" cap="none" strike="noStrike">
                <a:solidFill>
                  <a:schemeClr val="dk2"/>
                </a:solidFill>
                <a:latin typeface="Arial"/>
                <a:ea typeface="Arial"/>
                <a:cs typeface="Arial"/>
                <a:sym typeface="Arial"/>
              </a:rPr>
              <a:t> ingin </a:t>
            </a:r>
            <a:r>
              <a:rPr b="1" i="0" lang="en-US" sz="1100" u="none" cap="none" strike="noStrike">
                <a:solidFill>
                  <a:schemeClr val="dk2"/>
                </a:solidFill>
                <a:latin typeface="Arial"/>
                <a:ea typeface="Arial"/>
                <a:cs typeface="Arial"/>
                <a:sym typeface="Arial"/>
              </a:rPr>
              <a:t>menyimpan data</a:t>
            </a:r>
            <a:r>
              <a:rPr b="0" i="0" lang="en-US" sz="1100" u="none" cap="none" strike="noStrike">
                <a:solidFill>
                  <a:schemeClr val="dk2"/>
                </a:solidFill>
                <a:latin typeface="Arial"/>
                <a:ea typeface="Arial"/>
                <a:cs typeface="Arial"/>
                <a:sym typeface="Arial"/>
              </a:rPr>
              <a:t> tentang harga dan jumlah pesanan, dan </a:t>
            </a:r>
            <a:r>
              <a:rPr b="1" i="0" lang="en-US" sz="1100" u="none" cap="none" strike="noStrike">
                <a:solidFill>
                  <a:schemeClr val="dk2"/>
                </a:solidFill>
                <a:latin typeface="Arial"/>
                <a:ea typeface="Arial"/>
                <a:cs typeface="Arial"/>
                <a:sym typeface="Arial"/>
              </a:rPr>
              <a:t>mencetaknya di beberapa bagian laporan</a:t>
            </a:r>
            <a:r>
              <a:rPr b="0" i="0" lang="en-US" sz="1100" u="none" cap="none" strike="noStrike">
                <a:solidFill>
                  <a:schemeClr val="dk2"/>
                </a:solidFill>
                <a:latin typeface="Arial"/>
                <a:ea typeface="Arial"/>
                <a:cs typeface="Arial"/>
                <a:sym typeface="Arial"/>
              </a:rPr>
              <a:t>. Suatu hari, </a:t>
            </a:r>
            <a:r>
              <a:rPr b="1" i="0" lang="en-US" sz="1100" u="none" cap="none" strike="noStrike">
                <a:solidFill>
                  <a:schemeClr val="dk2"/>
                </a:solidFill>
                <a:latin typeface="Arial"/>
                <a:ea typeface="Arial"/>
                <a:cs typeface="Arial"/>
                <a:sym typeface="Arial"/>
              </a:rPr>
              <a:t>harga sebuah produk berubah</a:t>
            </a:r>
            <a:r>
              <a:rPr b="0" i="0" lang="en-US" sz="1100" u="none" cap="none" strike="noStrike">
                <a:solidFill>
                  <a:schemeClr val="dk2"/>
                </a:solidFill>
                <a:latin typeface="Arial"/>
                <a:ea typeface="Arial"/>
                <a:cs typeface="Arial"/>
                <a:sym typeface="Arial"/>
              </a:rPr>
              <a:t> dan pemilik ingin </a:t>
            </a:r>
            <a:r>
              <a:rPr b="1" i="0" lang="en-US" sz="1100" u="none" cap="none" strike="noStrike">
                <a:solidFill>
                  <a:schemeClr val="dk2"/>
                </a:solidFill>
                <a:latin typeface="Arial"/>
                <a:ea typeface="Arial"/>
                <a:cs typeface="Arial"/>
                <a:sym typeface="Arial"/>
              </a:rPr>
              <a:t>mengubahnya di semua laporan dengan cepat</a:t>
            </a:r>
            <a:r>
              <a:rPr b="0" i="0" lang="en-US" sz="1100" u="none" cap="none" strike="noStrike">
                <a:solidFill>
                  <a:schemeClr val="dk2"/>
                </a:solidFill>
                <a:latin typeface="Arial"/>
                <a:ea typeface="Arial"/>
                <a:cs typeface="Arial"/>
                <a:sym typeface="Arial"/>
              </a:rPr>
              <a:t>. Bagaimana cara untuk mempermudah proses ini?</a:t>
            </a:r>
            <a:endParaRPr b="0" i="0" sz="1100" u="none" cap="none" strike="noStrike">
              <a:solidFill>
                <a:schemeClr val="dk2"/>
              </a:solidFill>
              <a:latin typeface="Arial"/>
              <a:ea typeface="Arial"/>
              <a:cs typeface="Arial"/>
              <a:sym typeface="Arial"/>
            </a:endParaRPr>
          </a:p>
        </p:txBody>
      </p:sp>
      <p:sp>
        <p:nvSpPr>
          <p:cNvPr id="223" name="Google Shape;223;g3753e428164_3_88"/>
          <p:cNvSpPr txBox="1"/>
          <p:nvPr/>
        </p:nvSpPr>
        <p:spPr>
          <a:xfrm>
            <a:off x="457200" y="2557850"/>
            <a:ext cx="8358300" cy="13686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6A9955"/>
                </a:solidFill>
                <a:highlight>
                  <a:srgbClr val="1F1F1F"/>
                </a:highlight>
                <a:latin typeface="Consolas"/>
                <a:ea typeface="Consolas"/>
                <a:cs typeface="Consolas"/>
                <a:sym typeface="Consolas"/>
              </a:rPr>
              <a:t># Gunakan variable di berbagai bagian laporan</a:t>
            </a:r>
            <a:endParaRPr b="0" i="0" sz="85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"Laporan Penjualan Harian"</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"Harga Kopi:"</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9CDCFE"/>
                </a:solidFill>
                <a:highlight>
                  <a:srgbClr val="1F1F1F"/>
                </a:highlight>
                <a:latin typeface="Consolas"/>
                <a:ea typeface="Consolas"/>
                <a:cs typeface="Consolas"/>
                <a:sym typeface="Consolas"/>
              </a:rPr>
              <a:t>harga_kopi</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"Jumlah Kopi Terjual:"</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9CDCFE"/>
                </a:solidFill>
                <a:highlight>
                  <a:srgbClr val="1F1F1F"/>
                </a:highlight>
                <a:latin typeface="Consolas"/>
                <a:ea typeface="Consolas"/>
                <a:cs typeface="Consolas"/>
                <a:sym typeface="Consolas"/>
              </a:rPr>
              <a:t>jumlah_kopi</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10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"Harga Kopi untuk laporan stok:"</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9CDCFE"/>
                </a:solidFill>
                <a:highlight>
                  <a:srgbClr val="1F1F1F"/>
                </a:highlight>
                <a:latin typeface="Consolas"/>
                <a:ea typeface="Consolas"/>
                <a:cs typeface="Consolas"/>
                <a:sym typeface="Consolas"/>
              </a:rPr>
              <a:t>harga_kopi</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"Harga Kopi untuk laporan keuangan:"</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9CDCFE"/>
                </a:solidFill>
                <a:highlight>
                  <a:srgbClr val="1F1F1F"/>
                </a:highlight>
                <a:latin typeface="Consolas"/>
                <a:ea typeface="Consolas"/>
                <a:cs typeface="Consolas"/>
                <a:sym typeface="Consolas"/>
              </a:rPr>
              <a:t>harga_kopi</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6A9955"/>
              </a:solidFill>
              <a:highlight>
                <a:srgbClr val="1F1F1F"/>
              </a:highlight>
              <a:latin typeface="Consolas"/>
              <a:ea typeface="Consolas"/>
              <a:cs typeface="Consolas"/>
              <a:sym typeface="Consolas"/>
            </a:endParaRPr>
          </a:p>
        </p:txBody>
      </p:sp>
      <p:sp>
        <p:nvSpPr>
          <p:cNvPr id="224" name="Google Shape;224;g3753e428164_3_88"/>
          <p:cNvSpPr txBox="1"/>
          <p:nvPr/>
        </p:nvSpPr>
        <p:spPr>
          <a:xfrm>
            <a:off x="457200" y="4002650"/>
            <a:ext cx="8358300" cy="12183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6A9955"/>
                </a:solidFill>
                <a:highlight>
                  <a:srgbClr val="1F1F1F"/>
                </a:highlight>
                <a:latin typeface="Consolas"/>
                <a:ea typeface="Consolas"/>
                <a:cs typeface="Consolas"/>
                <a:sym typeface="Consolas"/>
              </a:rPr>
              <a:t># Jika harga kopi berubah, Anda hanya perlu mengubahnya di satu baris</a:t>
            </a:r>
            <a:endParaRPr b="0" i="0" sz="85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 Perubahan Harga Kopi ---"</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9CDCFE"/>
                </a:solidFill>
                <a:highlight>
                  <a:srgbClr val="1F1F1F"/>
                </a:highlight>
                <a:latin typeface="Consolas"/>
                <a:ea typeface="Consolas"/>
                <a:cs typeface="Consolas"/>
                <a:sym typeface="Consolas"/>
              </a:rPr>
              <a:t>harga_kopi</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D4D4D4"/>
                </a:solidFill>
                <a:highlight>
                  <a:srgbClr val="1F1F1F"/>
                </a:highlight>
                <a:latin typeface="Consolas"/>
                <a:ea typeface="Consolas"/>
                <a:cs typeface="Consolas"/>
                <a:sym typeface="Consolas"/>
              </a:rPr>
              <a:t>=</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B5CEA8"/>
                </a:solidFill>
                <a:highlight>
                  <a:srgbClr val="1F1F1F"/>
                </a:highlight>
                <a:latin typeface="Consolas"/>
                <a:ea typeface="Consolas"/>
                <a:cs typeface="Consolas"/>
                <a:sym typeface="Consolas"/>
              </a:rPr>
              <a:t>27000</a:t>
            </a:r>
            <a:endParaRPr b="0" i="0" sz="850" u="none" cap="none" strike="noStrike">
              <a:solidFill>
                <a:srgbClr val="B5CEA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6A9955"/>
                </a:solidFill>
                <a:highlight>
                  <a:srgbClr val="1F1F1F"/>
                </a:highlight>
                <a:latin typeface="Consolas"/>
                <a:ea typeface="Consolas"/>
                <a:cs typeface="Consolas"/>
                <a:sym typeface="Consolas"/>
              </a:rPr>
              <a:t># Semua baris yang menggunakan variable harga_kopi akan otomatis diperbarui</a:t>
            </a:r>
            <a:endParaRPr b="0" i="0" sz="85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"Harga Kopi baru untuk laporan stok:"</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9CDCFE"/>
                </a:solidFill>
                <a:highlight>
                  <a:srgbClr val="1F1F1F"/>
                </a:highlight>
                <a:latin typeface="Consolas"/>
                <a:ea typeface="Consolas"/>
                <a:cs typeface="Consolas"/>
                <a:sym typeface="Consolas"/>
              </a:rPr>
              <a:t>harga_kopi</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850"/>
              <a:buFont typeface="Arial"/>
              <a:buNone/>
            </a:pPr>
            <a:r>
              <a:rPr b="0" i="0" lang="en-US" sz="850" u="none" cap="none" strike="noStrike">
                <a:solidFill>
                  <a:srgbClr val="DCDCAA"/>
                </a:solidFill>
                <a:highlight>
                  <a:srgbClr val="1F1F1F"/>
                </a:highlight>
                <a:latin typeface="Consolas"/>
                <a:ea typeface="Consolas"/>
                <a:cs typeface="Consolas"/>
                <a:sym typeface="Consolas"/>
              </a:rPr>
              <a:t>print</a:t>
            </a:r>
            <a:r>
              <a:rPr b="0" i="0" lang="en-US" sz="850" u="none" cap="none" strike="noStrike">
                <a:solidFill>
                  <a:srgbClr val="CCCCCC"/>
                </a:solidFill>
                <a:highlight>
                  <a:srgbClr val="1F1F1F"/>
                </a:highlight>
                <a:latin typeface="Consolas"/>
                <a:ea typeface="Consolas"/>
                <a:cs typeface="Consolas"/>
                <a:sym typeface="Consolas"/>
              </a:rPr>
              <a:t>(</a:t>
            </a:r>
            <a:r>
              <a:rPr b="0" i="0" lang="en-US" sz="850" u="none" cap="none" strike="noStrike">
                <a:solidFill>
                  <a:srgbClr val="CE9178"/>
                </a:solidFill>
                <a:highlight>
                  <a:srgbClr val="1F1F1F"/>
                </a:highlight>
                <a:latin typeface="Consolas"/>
                <a:ea typeface="Consolas"/>
                <a:cs typeface="Consolas"/>
                <a:sym typeface="Consolas"/>
              </a:rPr>
              <a:t>"Harga Kopi baru untuk laporan keuangan:"</a:t>
            </a:r>
            <a:r>
              <a:rPr b="0" i="0" lang="en-US" sz="850" u="none" cap="none" strike="noStrike">
                <a:solidFill>
                  <a:srgbClr val="CCCCCC"/>
                </a:solidFill>
                <a:highlight>
                  <a:srgbClr val="1F1F1F"/>
                </a:highlight>
                <a:latin typeface="Consolas"/>
                <a:ea typeface="Consolas"/>
                <a:cs typeface="Consolas"/>
                <a:sym typeface="Consolas"/>
              </a:rPr>
              <a:t>, </a:t>
            </a:r>
            <a:r>
              <a:rPr b="0" i="0" lang="en-US" sz="850" u="none" cap="none" strike="noStrike">
                <a:solidFill>
                  <a:srgbClr val="9CDCFE"/>
                </a:solidFill>
                <a:highlight>
                  <a:srgbClr val="1F1F1F"/>
                </a:highlight>
                <a:latin typeface="Consolas"/>
                <a:ea typeface="Consolas"/>
                <a:cs typeface="Consolas"/>
                <a:sym typeface="Consolas"/>
              </a:rPr>
              <a:t>harga_kopi</a:t>
            </a:r>
            <a:r>
              <a:rPr b="0" i="0" lang="en-US" sz="850" u="none" cap="none" strike="noStrike">
                <a:solidFill>
                  <a:srgbClr val="CCCCCC"/>
                </a:solidFill>
                <a:highlight>
                  <a:srgbClr val="1F1F1F"/>
                </a:highlight>
                <a:latin typeface="Consolas"/>
                <a:ea typeface="Consolas"/>
                <a:cs typeface="Consolas"/>
                <a:sym typeface="Consolas"/>
              </a:rPr>
              <a:t>)</a:t>
            </a:r>
            <a:endParaRPr b="0" i="0" sz="850" u="none" cap="none" strike="noStrike">
              <a:solidFill>
                <a:srgbClr val="CCCCCC"/>
              </a:solidFill>
              <a:highlight>
                <a:srgbClr val="1F1F1F"/>
              </a:highlight>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8" name="Shape 228"/>
        <p:cNvGrpSpPr/>
        <p:nvPr/>
      </p:nvGrpSpPr>
      <p:grpSpPr>
        <a:xfrm>
          <a:off x="0" y="0"/>
          <a:ext cx="0" cy="0"/>
          <a:chOff x="0" y="0"/>
          <a:chExt cx="0" cy="0"/>
        </a:xfrm>
      </p:grpSpPr>
      <p:sp>
        <p:nvSpPr>
          <p:cNvPr id="229" name="Google Shape;229;g3753e428164_3_122"/>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230" name="Google Shape;230;g3753e428164_3_122"/>
          <p:cNvGrpSpPr/>
          <p:nvPr/>
        </p:nvGrpSpPr>
        <p:grpSpPr>
          <a:xfrm>
            <a:off x="159" y="-214211"/>
            <a:ext cx="2765532" cy="2691752"/>
            <a:chOff x="9584423" y="-302695"/>
            <a:chExt cx="4822201" cy="4822201"/>
          </a:xfrm>
        </p:grpSpPr>
        <p:sp>
          <p:nvSpPr>
            <p:cNvPr id="231" name="Google Shape;231;g3753e428164_3_122"/>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2" name="Google Shape;232;g3753e428164_3_122"/>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3" name="Google Shape;233;g3753e428164_3_122"/>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4" name="Google Shape;234;g3753e428164_3_122"/>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235" name="Google Shape;235;g3753e428164_3_122"/>
          <p:cNvGrpSpPr/>
          <p:nvPr/>
        </p:nvGrpSpPr>
        <p:grpSpPr>
          <a:xfrm>
            <a:off x="-840830" y="1116257"/>
            <a:ext cx="5795400" cy="5795400"/>
            <a:chOff x="4094945" y="667082"/>
            <a:chExt cx="5795400" cy="5795400"/>
          </a:xfrm>
        </p:grpSpPr>
        <p:sp>
          <p:nvSpPr>
            <p:cNvPr id="236" name="Google Shape;236;g3753e428164_3_122"/>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7" name="Google Shape;237;g3753e428164_3_122"/>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8" name="Google Shape;238;g3753e428164_3_122"/>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9" name="Google Shape;239;g3753e428164_3_122"/>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240" name="Google Shape;240;g3753e428164_3_12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244" name="Shape 244"/>
        <p:cNvGrpSpPr/>
        <p:nvPr/>
      </p:nvGrpSpPr>
      <p:grpSpPr>
        <a:xfrm>
          <a:off x="0" y="0"/>
          <a:ext cx="0" cy="0"/>
          <a:chOff x="0" y="0"/>
          <a:chExt cx="0" cy="0"/>
        </a:xfrm>
      </p:grpSpPr>
      <p:sp>
        <p:nvSpPr>
          <p:cNvPr id="245" name="Google Shape;245;g3751cf720b5_0_558"/>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Pop Up Quiz </a:t>
            </a:r>
            <a:r>
              <a:rPr b="1" lang="en-US" sz="3420">
                <a:solidFill>
                  <a:schemeClr val="lt1"/>
                </a:solidFill>
                <a:latin typeface="Plus Jakarta Sans"/>
                <a:ea typeface="Plus Jakarta Sans"/>
                <a:cs typeface="Plus Jakarta Sans"/>
                <a:sym typeface="Plus Jakarta Sans"/>
              </a:rPr>
              <a:t>Time..</a:t>
            </a:r>
            <a:endParaRPr b="1" sz="3420">
              <a:solidFill>
                <a:schemeClr val="lt1"/>
              </a:solidFill>
              <a:latin typeface="Plus Jakarta Sans"/>
              <a:ea typeface="Plus Jakarta Sans"/>
              <a:cs typeface="Plus Jakarta Sans"/>
              <a:sym typeface="Plus Jakarta Sans"/>
            </a:endParaRPr>
          </a:p>
        </p:txBody>
      </p:sp>
      <p:pic>
        <p:nvPicPr>
          <p:cNvPr id="246" name="Google Shape;246;g3751cf720b5_0_558"/>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0" name="Shape 250"/>
        <p:cNvGrpSpPr/>
        <p:nvPr/>
      </p:nvGrpSpPr>
      <p:grpSpPr>
        <a:xfrm>
          <a:off x="0" y="0"/>
          <a:ext cx="0" cy="0"/>
          <a:chOff x="0" y="0"/>
          <a:chExt cx="0" cy="0"/>
        </a:xfrm>
      </p:grpSpPr>
      <p:sp>
        <p:nvSpPr>
          <p:cNvPr id="251" name="Google Shape;251;g3755ce053d3_1_2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t>
            </a:r>
            <a:r>
              <a:rPr b="1" lang="en-US" sz="1800">
                <a:latin typeface="Plus Jakarta Sans"/>
                <a:ea typeface="Plus Jakarta Sans"/>
                <a:cs typeface="Plus Jakarta Sans"/>
                <a:sym typeface="Plus Jakarta Sans"/>
              </a:rPr>
              <a:t>Apa fungsi utama dari variable di Python?</a:t>
            </a:r>
            <a:endParaRPr b="1" sz="1800">
              <a:latin typeface="Plus Jakarta Sans"/>
              <a:ea typeface="Plus Jakarta Sans"/>
              <a:cs typeface="Plus Jakarta Sans"/>
              <a:sym typeface="Plus Jakarta Sans"/>
            </a:endParaRPr>
          </a:p>
        </p:txBody>
      </p:sp>
      <p:grpSp>
        <p:nvGrpSpPr>
          <p:cNvPr id="252" name="Google Shape;252;g3755ce053d3_1_25"/>
          <p:cNvGrpSpPr/>
          <p:nvPr/>
        </p:nvGrpSpPr>
        <p:grpSpPr>
          <a:xfrm>
            <a:off x="158" y="-214211"/>
            <a:ext cx="2765532" cy="2691752"/>
            <a:chOff x="9584424" y="-302694"/>
            <a:chExt cx="4822200" cy="4822200"/>
          </a:xfrm>
        </p:grpSpPr>
        <p:sp>
          <p:nvSpPr>
            <p:cNvPr id="253" name="Google Shape;253;g3755ce053d3_1_2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4" name="Google Shape;254;g3755ce053d3_1_2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5" name="Google Shape;255;g3755ce053d3_1_2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6" name="Google Shape;256;g3755ce053d3_1_2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257" name="Google Shape;257;g3755ce053d3_1_25"/>
          <p:cNvGrpSpPr/>
          <p:nvPr/>
        </p:nvGrpSpPr>
        <p:grpSpPr>
          <a:xfrm>
            <a:off x="-840830" y="1116257"/>
            <a:ext cx="5795400" cy="5795400"/>
            <a:chOff x="4094945" y="667082"/>
            <a:chExt cx="5795400" cy="5795400"/>
          </a:xfrm>
        </p:grpSpPr>
        <p:sp>
          <p:nvSpPr>
            <p:cNvPr id="258" name="Google Shape;258;g3755ce053d3_1_2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9" name="Google Shape;259;g3755ce053d3_1_2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0" name="Google Shape;260;g3755ce053d3_1_2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1" name="Google Shape;261;g3755ce053d3_1_2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262" name="Google Shape;262;g3755ce053d3_1_2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63" name="Google Shape;263;g3755ce053d3_1_2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menampilkan output.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menyimpan nilai di memori.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menjalankan program.</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membuat komentar.</a:t>
            </a:r>
            <a:endParaRPr sz="1800">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7" name="Shape 267"/>
        <p:cNvGrpSpPr/>
        <p:nvPr/>
      </p:nvGrpSpPr>
      <p:grpSpPr>
        <a:xfrm>
          <a:off x="0" y="0"/>
          <a:ext cx="0" cy="0"/>
          <a:chOff x="0" y="0"/>
          <a:chExt cx="0" cy="0"/>
        </a:xfrm>
      </p:grpSpPr>
      <p:sp>
        <p:nvSpPr>
          <p:cNvPr id="268" name="Google Shape;268;g3755ce053d3_1_4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Apa fungsi utama dari variable di Python?</a:t>
            </a:r>
            <a:endParaRPr b="1" sz="1800">
              <a:latin typeface="Plus Jakarta Sans"/>
              <a:ea typeface="Plus Jakarta Sans"/>
              <a:cs typeface="Plus Jakarta Sans"/>
              <a:sym typeface="Plus Jakarta Sans"/>
            </a:endParaRPr>
          </a:p>
        </p:txBody>
      </p:sp>
      <p:grpSp>
        <p:nvGrpSpPr>
          <p:cNvPr id="269" name="Google Shape;269;g3755ce053d3_1_41"/>
          <p:cNvGrpSpPr/>
          <p:nvPr/>
        </p:nvGrpSpPr>
        <p:grpSpPr>
          <a:xfrm>
            <a:off x="158" y="-214211"/>
            <a:ext cx="2765532" cy="2691752"/>
            <a:chOff x="9584424" y="-302694"/>
            <a:chExt cx="4822200" cy="4822200"/>
          </a:xfrm>
        </p:grpSpPr>
        <p:sp>
          <p:nvSpPr>
            <p:cNvPr id="270" name="Google Shape;270;g3755ce053d3_1_4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1" name="Google Shape;271;g3755ce053d3_1_4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2" name="Google Shape;272;g3755ce053d3_1_4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3" name="Google Shape;273;g3755ce053d3_1_4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274" name="Google Shape;274;g3755ce053d3_1_41"/>
          <p:cNvGrpSpPr/>
          <p:nvPr/>
        </p:nvGrpSpPr>
        <p:grpSpPr>
          <a:xfrm>
            <a:off x="-840830" y="1116257"/>
            <a:ext cx="5795400" cy="5795400"/>
            <a:chOff x="4094945" y="667082"/>
            <a:chExt cx="5795400" cy="5795400"/>
          </a:xfrm>
        </p:grpSpPr>
        <p:sp>
          <p:nvSpPr>
            <p:cNvPr id="275" name="Google Shape;275;g3755ce053d3_1_4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6" name="Google Shape;276;g3755ce053d3_1_4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7" name="Google Shape;277;g3755ce053d3_1_4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8" name="Google Shape;278;g3755ce053d3_1_4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279" name="Google Shape;279;g3755ce053d3_1_4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80" name="Google Shape;280;g3755ce053d3_1_4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menampilkan output.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Untuk menyimpan nilai di memori.</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menjalankan program.</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membuat komentar.</a:t>
            </a:r>
            <a:endParaRPr sz="1800">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84" name="Shape 284"/>
        <p:cNvGrpSpPr/>
        <p:nvPr/>
      </p:nvGrpSpPr>
      <p:grpSpPr>
        <a:xfrm>
          <a:off x="0" y="0"/>
          <a:ext cx="0" cy="0"/>
          <a:chOff x="0" y="0"/>
          <a:chExt cx="0" cy="0"/>
        </a:xfrm>
      </p:grpSpPr>
      <p:sp>
        <p:nvSpPr>
          <p:cNvPr id="285" name="Google Shape;285;g3755ce053d3_1_5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a:t>
            </a:r>
            <a:r>
              <a:rPr b="1" lang="en-US" sz="1800">
                <a:latin typeface="Plus Jakarta Sans"/>
                <a:ea typeface="Plus Jakarta Sans"/>
                <a:cs typeface="Plus Jakarta Sans"/>
                <a:sym typeface="Plus Jakarta Sans"/>
              </a:rPr>
              <a:t>. </a:t>
            </a:r>
            <a:r>
              <a:rPr b="1" lang="en-US" sz="1800">
                <a:latin typeface="Plus Jakarta Sans"/>
                <a:ea typeface="Plus Jakarta Sans"/>
                <a:cs typeface="Plus Jakarta Sans"/>
                <a:sym typeface="Plus Jakarta Sans"/>
              </a:rPr>
              <a:t>Apa nama operator yang digunakan untuk menetapkan nilai?</a:t>
            </a:r>
            <a:endParaRPr b="1" sz="1800">
              <a:latin typeface="Plus Jakarta Sans"/>
              <a:ea typeface="Plus Jakarta Sans"/>
              <a:cs typeface="Plus Jakarta Sans"/>
              <a:sym typeface="Plus Jakarta Sans"/>
            </a:endParaRPr>
          </a:p>
        </p:txBody>
      </p:sp>
      <p:grpSp>
        <p:nvGrpSpPr>
          <p:cNvPr id="286" name="Google Shape;286;g3755ce053d3_1_57"/>
          <p:cNvGrpSpPr/>
          <p:nvPr/>
        </p:nvGrpSpPr>
        <p:grpSpPr>
          <a:xfrm>
            <a:off x="158" y="-214211"/>
            <a:ext cx="2765532" cy="2691752"/>
            <a:chOff x="9584424" y="-302694"/>
            <a:chExt cx="4822200" cy="4822200"/>
          </a:xfrm>
        </p:grpSpPr>
        <p:sp>
          <p:nvSpPr>
            <p:cNvPr id="287" name="Google Shape;287;g3755ce053d3_1_5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8" name="Google Shape;288;g3755ce053d3_1_5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9" name="Google Shape;289;g3755ce053d3_1_5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0" name="Google Shape;290;g3755ce053d3_1_5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291" name="Google Shape;291;g3755ce053d3_1_57"/>
          <p:cNvGrpSpPr/>
          <p:nvPr/>
        </p:nvGrpSpPr>
        <p:grpSpPr>
          <a:xfrm>
            <a:off x="-840830" y="1116257"/>
            <a:ext cx="5795400" cy="5795400"/>
            <a:chOff x="4094945" y="667082"/>
            <a:chExt cx="5795400" cy="5795400"/>
          </a:xfrm>
        </p:grpSpPr>
        <p:sp>
          <p:nvSpPr>
            <p:cNvPr id="292" name="Google Shape;292;g3755ce053d3_1_5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3" name="Google Shape;293;g3755ce053d3_1_5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4" name="Google Shape;294;g3755ce053d3_1_5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5" name="Google Shape;295;g3755ce053d3_1_5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296" name="Google Shape;296;g3755ce053d3_1_5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97" name="Google Shape;297;g3755ce053d3_1_5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Equality operator (==)</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Addition operator (+)</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Assignment operator (=)</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Division operator (/)</a:t>
            </a:r>
            <a:endParaRPr sz="1800">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1" name="Shape 301"/>
        <p:cNvGrpSpPr/>
        <p:nvPr/>
      </p:nvGrpSpPr>
      <p:grpSpPr>
        <a:xfrm>
          <a:off x="0" y="0"/>
          <a:ext cx="0" cy="0"/>
          <a:chOff x="0" y="0"/>
          <a:chExt cx="0" cy="0"/>
        </a:xfrm>
      </p:grpSpPr>
      <p:sp>
        <p:nvSpPr>
          <p:cNvPr id="302" name="Google Shape;302;g3755ce053d3_1_18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Apa nama operator yang digunakan untuk menetapkan nilai?</a:t>
            </a:r>
            <a:endParaRPr b="1" sz="1800">
              <a:latin typeface="Plus Jakarta Sans"/>
              <a:ea typeface="Plus Jakarta Sans"/>
              <a:cs typeface="Plus Jakarta Sans"/>
              <a:sym typeface="Plus Jakarta Sans"/>
            </a:endParaRPr>
          </a:p>
        </p:txBody>
      </p:sp>
      <p:grpSp>
        <p:nvGrpSpPr>
          <p:cNvPr id="303" name="Google Shape;303;g3755ce053d3_1_185"/>
          <p:cNvGrpSpPr/>
          <p:nvPr/>
        </p:nvGrpSpPr>
        <p:grpSpPr>
          <a:xfrm>
            <a:off x="158" y="-214211"/>
            <a:ext cx="2765532" cy="2691752"/>
            <a:chOff x="9584424" y="-302694"/>
            <a:chExt cx="4822200" cy="4822200"/>
          </a:xfrm>
        </p:grpSpPr>
        <p:sp>
          <p:nvSpPr>
            <p:cNvPr id="304" name="Google Shape;304;g3755ce053d3_1_18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05" name="Google Shape;305;g3755ce053d3_1_18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06" name="Google Shape;306;g3755ce053d3_1_18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07" name="Google Shape;307;g3755ce053d3_1_18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08" name="Google Shape;308;g3755ce053d3_1_185"/>
          <p:cNvGrpSpPr/>
          <p:nvPr/>
        </p:nvGrpSpPr>
        <p:grpSpPr>
          <a:xfrm>
            <a:off x="-840830" y="1116257"/>
            <a:ext cx="5795400" cy="5795400"/>
            <a:chOff x="4094945" y="667082"/>
            <a:chExt cx="5795400" cy="5795400"/>
          </a:xfrm>
        </p:grpSpPr>
        <p:sp>
          <p:nvSpPr>
            <p:cNvPr id="309" name="Google Shape;309;g3755ce053d3_1_18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0" name="Google Shape;310;g3755ce053d3_1_18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1" name="Google Shape;311;g3755ce053d3_1_18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2" name="Google Shape;312;g3755ce053d3_1_18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313" name="Google Shape;313;g3755ce053d3_1_18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14" name="Google Shape;314;g3755ce053d3_1_18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Equality operator (==)</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Addition operator (+)</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Assignment operator (=)</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Division operator (/)</a:t>
            </a:r>
            <a:endParaRPr sz="1800">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8" name="Shape 318"/>
        <p:cNvGrpSpPr/>
        <p:nvPr/>
      </p:nvGrpSpPr>
      <p:grpSpPr>
        <a:xfrm>
          <a:off x="0" y="0"/>
          <a:ext cx="0" cy="0"/>
          <a:chOff x="0" y="0"/>
          <a:chExt cx="0" cy="0"/>
        </a:xfrm>
      </p:grpSpPr>
      <p:sp>
        <p:nvSpPr>
          <p:cNvPr id="319" name="Google Shape;319;g3755ce053d3_1_8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a:t>
            </a:r>
            <a:r>
              <a:rPr b="1" lang="en-US" sz="1800">
                <a:latin typeface="Plus Jakarta Sans"/>
                <a:ea typeface="Plus Jakarta Sans"/>
                <a:cs typeface="Plus Jakarta Sans"/>
                <a:sym typeface="Plus Jakarta Sans"/>
              </a:rPr>
              <a:t>. </a:t>
            </a:r>
            <a:r>
              <a:rPr b="1" lang="en-US" sz="1800">
                <a:latin typeface="Plus Jakarta Sans"/>
                <a:ea typeface="Plus Jakarta Sans"/>
                <a:cs typeface="Plus Jakarta Sans"/>
                <a:sym typeface="Plus Jakarta Sans"/>
              </a:rPr>
              <a:t>Mana dari berikut yang merupakan nama variable yang salah?</a:t>
            </a:r>
            <a:endParaRPr b="1" sz="1800">
              <a:latin typeface="Plus Jakarta Sans"/>
              <a:ea typeface="Plus Jakarta Sans"/>
              <a:cs typeface="Plus Jakarta Sans"/>
              <a:sym typeface="Plus Jakarta Sans"/>
            </a:endParaRPr>
          </a:p>
        </p:txBody>
      </p:sp>
      <p:grpSp>
        <p:nvGrpSpPr>
          <p:cNvPr id="320" name="Google Shape;320;g3755ce053d3_1_89"/>
          <p:cNvGrpSpPr/>
          <p:nvPr/>
        </p:nvGrpSpPr>
        <p:grpSpPr>
          <a:xfrm>
            <a:off x="158" y="-214211"/>
            <a:ext cx="2765532" cy="2691752"/>
            <a:chOff x="9584424" y="-302694"/>
            <a:chExt cx="4822200" cy="4822200"/>
          </a:xfrm>
        </p:grpSpPr>
        <p:sp>
          <p:nvSpPr>
            <p:cNvPr id="321" name="Google Shape;321;g3755ce053d3_1_8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2" name="Google Shape;322;g3755ce053d3_1_8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3" name="Google Shape;323;g3755ce053d3_1_8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4" name="Google Shape;324;g3755ce053d3_1_8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25" name="Google Shape;325;g3755ce053d3_1_89"/>
          <p:cNvGrpSpPr/>
          <p:nvPr/>
        </p:nvGrpSpPr>
        <p:grpSpPr>
          <a:xfrm>
            <a:off x="-840830" y="1116257"/>
            <a:ext cx="5795400" cy="5795400"/>
            <a:chOff x="4094945" y="667082"/>
            <a:chExt cx="5795400" cy="5795400"/>
          </a:xfrm>
        </p:grpSpPr>
        <p:sp>
          <p:nvSpPr>
            <p:cNvPr id="326" name="Google Shape;326;g3755ce053d3_1_8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7" name="Google Shape;327;g3755ce053d3_1_8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8" name="Google Shape;328;g3755ce053d3_1_8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9" name="Google Shape;329;g3755ce053d3_1_8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330" name="Google Shape;330;g3755ce053d3_1_8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31" name="Google Shape;331;g3755ce053d3_1_8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total_penjualan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hargaKopi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1harga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_total</a:t>
            </a:r>
            <a:endParaRPr sz="1800">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5" name="Shape 335"/>
        <p:cNvGrpSpPr/>
        <p:nvPr/>
      </p:nvGrpSpPr>
      <p:grpSpPr>
        <a:xfrm>
          <a:off x="0" y="0"/>
          <a:ext cx="0" cy="0"/>
          <a:chOff x="0" y="0"/>
          <a:chExt cx="0" cy="0"/>
        </a:xfrm>
      </p:grpSpPr>
      <p:sp>
        <p:nvSpPr>
          <p:cNvPr id="336" name="Google Shape;336;g3755ce053d3_1_20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Mana dari berikut yang merupakan nama variable yang salah?</a:t>
            </a:r>
            <a:endParaRPr b="1" sz="1800">
              <a:latin typeface="Plus Jakarta Sans"/>
              <a:ea typeface="Plus Jakarta Sans"/>
              <a:cs typeface="Plus Jakarta Sans"/>
              <a:sym typeface="Plus Jakarta Sans"/>
            </a:endParaRPr>
          </a:p>
        </p:txBody>
      </p:sp>
      <p:grpSp>
        <p:nvGrpSpPr>
          <p:cNvPr id="337" name="Google Shape;337;g3755ce053d3_1_201"/>
          <p:cNvGrpSpPr/>
          <p:nvPr/>
        </p:nvGrpSpPr>
        <p:grpSpPr>
          <a:xfrm>
            <a:off x="158" y="-214211"/>
            <a:ext cx="2765532" cy="2691752"/>
            <a:chOff x="9584424" y="-302694"/>
            <a:chExt cx="4822200" cy="4822200"/>
          </a:xfrm>
        </p:grpSpPr>
        <p:sp>
          <p:nvSpPr>
            <p:cNvPr id="338" name="Google Shape;338;g3755ce053d3_1_20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9" name="Google Shape;339;g3755ce053d3_1_20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0" name="Google Shape;340;g3755ce053d3_1_20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1" name="Google Shape;341;g3755ce053d3_1_20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42" name="Google Shape;342;g3755ce053d3_1_201"/>
          <p:cNvGrpSpPr/>
          <p:nvPr/>
        </p:nvGrpSpPr>
        <p:grpSpPr>
          <a:xfrm>
            <a:off x="-840830" y="1116257"/>
            <a:ext cx="5795400" cy="5795400"/>
            <a:chOff x="4094945" y="667082"/>
            <a:chExt cx="5795400" cy="5795400"/>
          </a:xfrm>
        </p:grpSpPr>
        <p:sp>
          <p:nvSpPr>
            <p:cNvPr id="343" name="Google Shape;343;g3755ce053d3_1_20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4" name="Google Shape;344;g3755ce053d3_1_20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5" name="Google Shape;345;g3755ce053d3_1_20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6" name="Google Shape;346;g3755ce053d3_1_20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347" name="Google Shape;347;g3755ce053d3_1_20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48" name="Google Shape;348;g3755ce053d3_1_20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total_penjualan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hargaKopi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1harga</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_total</a:t>
            </a:r>
            <a:endParaRPr sz="1800">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2" name="Shape 352"/>
        <p:cNvGrpSpPr/>
        <p:nvPr/>
      </p:nvGrpSpPr>
      <p:grpSpPr>
        <a:xfrm>
          <a:off x="0" y="0"/>
          <a:ext cx="0" cy="0"/>
          <a:chOff x="0" y="0"/>
          <a:chExt cx="0" cy="0"/>
        </a:xfrm>
      </p:grpSpPr>
      <p:sp>
        <p:nvSpPr>
          <p:cNvPr id="353" name="Google Shape;353;g3755ce053d3_1_12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a:t>
            </a:r>
            <a:r>
              <a:rPr b="1" lang="en-US" sz="1800">
                <a:latin typeface="Plus Jakarta Sans"/>
                <a:ea typeface="Plus Jakarta Sans"/>
                <a:cs typeface="Plus Jakarta Sans"/>
                <a:sym typeface="Plus Jakarta Sans"/>
              </a:rPr>
              <a:t>. </a:t>
            </a:r>
            <a:r>
              <a:rPr b="1" lang="en-US" sz="1800">
                <a:latin typeface="Plus Jakarta Sans"/>
                <a:ea typeface="Plus Jakarta Sans"/>
                <a:cs typeface="Plus Jakarta Sans"/>
                <a:sym typeface="Plus Jakarta Sans"/>
              </a:rPr>
              <a:t>Apa yang terjadi pada nilai lama saat variable ditetapkan nilai baru?</a:t>
            </a:r>
            <a:endParaRPr b="1" sz="1800">
              <a:latin typeface="Plus Jakarta Sans"/>
              <a:ea typeface="Plus Jakarta Sans"/>
              <a:cs typeface="Plus Jakarta Sans"/>
              <a:sym typeface="Plus Jakarta Sans"/>
            </a:endParaRPr>
          </a:p>
        </p:txBody>
      </p:sp>
      <p:grpSp>
        <p:nvGrpSpPr>
          <p:cNvPr id="354" name="Google Shape;354;g3755ce053d3_1_121"/>
          <p:cNvGrpSpPr/>
          <p:nvPr/>
        </p:nvGrpSpPr>
        <p:grpSpPr>
          <a:xfrm>
            <a:off x="158" y="-214211"/>
            <a:ext cx="2765532" cy="2691752"/>
            <a:chOff x="9584424" y="-302694"/>
            <a:chExt cx="4822200" cy="4822200"/>
          </a:xfrm>
        </p:grpSpPr>
        <p:sp>
          <p:nvSpPr>
            <p:cNvPr id="355" name="Google Shape;355;g3755ce053d3_1_12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6" name="Google Shape;356;g3755ce053d3_1_12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7" name="Google Shape;357;g3755ce053d3_1_12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8" name="Google Shape;358;g3755ce053d3_1_12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59" name="Google Shape;359;g3755ce053d3_1_121"/>
          <p:cNvGrpSpPr/>
          <p:nvPr/>
        </p:nvGrpSpPr>
        <p:grpSpPr>
          <a:xfrm>
            <a:off x="-840830" y="1116257"/>
            <a:ext cx="5795400" cy="5795400"/>
            <a:chOff x="4094945" y="667082"/>
            <a:chExt cx="5795400" cy="5795400"/>
          </a:xfrm>
        </p:grpSpPr>
        <p:sp>
          <p:nvSpPr>
            <p:cNvPr id="360" name="Google Shape;360;g3755ce053d3_1_12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1" name="Google Shape;361;g3755ce053d3_1_12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2" name="Google Shape;362;g3755ce053d3_1_12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3" name="Google Shape;363;g3755ce053d3_1_12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364" name="Google Shape;364;g3755ce053d3_1_12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65" name="Google Shape;365;g3755ce053d3_1_12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lama disimpan di tempat lain.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lama diganti oleh nilai baru.</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lama diabaikan.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lama ditambahkan.</a:t>
            </a:r>
            <a:endParaRPr sz="1800">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9" name="Shape 369"/>
        <p:cNvGrpSpPr/>
        <p:nvPr/>
      </p:nvGrpSpPr>
      <p:grpSpPr>
        <a:xfrm>
          <a:off x="0" y="0"/>
          <a:ext cx="0" cy="0"/>
          <a:chOff x="0" y="0"/>
          <a:chExt cx="0" cy="0"/>
        </a:xfrm>
      </p:grpSpPr>
      <p:sp>
        <p:nvSpPr>
          <p:cNvPr id="370" name="Google Shape;370;g3755ce053d3_1_21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Apa yang terjadi pada nilai lama saat variable ditetapkan nilai baru?</a:t>
            </a:r>
            <a:endParaRPr b="1" sz="1800">
              <a:latin typeface="Plus Jakarta Sans"/>
              <a:ea typeface="Plus Jakarta Sans"/>
              <a:cs typeface="Plus Jakarta Sans"/>
              <a:sym typeface="Plus Jakarta Sans"/>
            </a:endParaRPr>
          </a:p>
        </p:txBody>
      </p:sp>
      <p:grpSp>
        <p:nvGrpSpPr>
          <p:cNvPr id="371" name="Google Shape;371;g3755ce053d3_1_217"/>
          <p:cNvGrpSpPr/>
          <p:nvPr/>
        </p:nvGrpSpPr>
        <p:grpSpPr>
          <a:xfrm>
            <a:off x="158" y="-214211"/>
            <a:ext cx="2765532" cy="2691752"/>
            <a:chOff x="9584424" y="-302694"/>
            <a:chExt cx="4822200" cy="4822200"/>
          </a:xfrm>
        </p:grpSpPr>
        <p:sp>
          <p:nvSpPr>
            <p:cNvPr id="372" name="Google Shape;372;g3755ce053d3_1_21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3" name="Google Shape;373;g3755ce053d3_1_21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4" name="Google Shape;374;g3755ce053d3_1_21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5" name="Google Shape;375;g3755ce053d3_1_21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76" name="Google Shape;376;g3755ce053d3_1_217"/>
          <p:cNvGrpSpPr/>
          <p:nvPr/>
        </p:nvGrpSpPr>
        <p:grpSpPr>
          <a:xfrm>
            <a:off x="-840830" y="1116257"/>
            <a:ext cx="5795400" cy="5795400"/>
            <a:chOff x="4094945" y="667082"/>
            <a:chExt cx="5795400" cy="5795400"/>
          </a:xfrm>
        </p:grpSpPr>
        <p:sp>
          <p:nvSpPr>
            <p:cNvPr id="377" name="Google Shape;377;g3755ce053d3_1_21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8" name="Google Shape;378;g3755ce053d3_1_21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9" name="Google Shape;379;g3755ce053d3_1_21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0" name="Google Shape;380;g3755ce053d3_1_21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381" name="Google Shape;381;g3755ce053d3_1_21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82" name="Google Shape;382;g3755ce053d3_1_21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lama disimpan di tempat lain.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Nilai lama diganti oleh nilai baru.</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lama diabaikan.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lama ditambahkan.</a:t>
            </a:r>
            <a:endParaRPr sz="1800">
              <a:latin typeface="Plus Jakarta Sans"/>
              <a:ea typeface="Plus Jakarta Sans"/>
              <a:cs typeface="Plus Jakarta Sans"/>
              <a:sym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86" name="Shape 386"/>
        <p:cNvGrpSpPr/>
        <p:nvPr/>
      </p:nvGrpSpPr>
      <p:grpSpPr>
        <a:xfrm>
          <a:off x="0" y="0"/>
          <a:ext cx="0" cy="0"/>
          <a:chOff x="0" y="0"/>
          <a:chExt cx="0" cy="0"/>
        </a:xfrm>
      </p:grpSpPr>
      <p:sp>
        <p:nvSpPr>
          <p:cNvPr id="387" name="Google Shape;387;g3755ce053d3_1_153"/>
          <p:cNvSpPr txBox="1"/>
          <p:nvPr>
            <p:ph type="ctrTitle"/>
          </p:nvPr>
        </p:nvSpPr>
        <p:spPr>
          <a:xfrm>
            <a:off x="4496000" y="1277950"/>
            <a:ext cx="45357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a:t>
            </a:r>
            <a:r>
              <a:rPr b="1" lang="en-US" sz="1800">
                <a:latin typeface="Plus Jakarta Sans"/>
                <a:ea typeface="Plus Jakarta Sans"/>
                <a:cs typeface="Plus Jakarta Sans"/>
                <a:sym typeface="Plus Jakarta Sans"/>
              </a:rPr>
              <a:t>. </a:t>
            </a:r>
            <a:r>
              <a:rPr b="1" lang="en-US" sz="1800">
                <a:latin typeface="Plus Jakarta Sans"/>
                <a:ea typeface="Plus Jakarta Sans"/>
                <a:cs typeface="Plus Jakarta Sans"/>
                <a:sym typeface="Plus Jakarta Sans"/>
              </a:rPr>
              <a:t>Apa yang akan dicetak oleh kode ini: harga = 10; harga = 20; print(harga)?</a:t>
            </a:r>
            <a:endParaRPr b="1" sz="1800">
              <a:latin typeface="Plus Jakarta Sans"/>
              <a:ea typeface="Plus Jakarta Sans"/>
              <a:cs typeface="Plus Jakarta Sans"/>
              <a:sym typeface="Plus Jakarta Sans"/>
            </a:endParaRPr>
          </a:p>
        </p:txBody>
      </p:sp>
      <p:grpSp>
        <p:nvGrpSpPr>
          <p:cNvPr id="388" name="Google Shape;388;g3755ce053d3_1_153"/>
          <p:cNvGrpSpPr/>
          <p:nvPr/>
        </p:nvGrpSpPr>
        <p:grpSpPr>
          <a:xfrm>
            <a:off x="158" y="-214211"/>
            <a:ext cx="2765532" cy="2691752"/>
            <a:chOff x="9584424" y="-302694"/>
            <a:chExt cx="4822200" cy="4822200"/>
          </a:xfrm>
        </p:grpSpPr>
        <p:sp>
          <p:nvSpPr>
            <p:cNvPr id="389" name="Google Shape;389;g3755ce053d3_1_15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0" name="Google Shape;390;g3755ce053d3_1_15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1" name="Google Shape;391;g3755ce053d3_1_15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2" name="Google Shape;392;g3755ce053d3_1_15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93" name="Google Shape;393;g3755ce053d3_1_153"/>
          <p:cNvGrpSpPr/>
          <p:nvPr/>
        </p:nvGrpSpPr>
        <p:grpSpPr>
          <a:xfrm>
            <a:off x="-840830" y="1116257"/>
            <a:ext cx="5795400" cy="5795400"/>
            <a:chOff x="4094945" y="667082"/>
            <a:chExt cx="5795400" cy="5795400"/>
          </a:xfrm>
        </p:grpSpPr>
        <p:sp>
          <p:nvSpPr>
            <p:cNvPr id="394" name="Google Shape;394;g3755ce053d3_1_15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5" name="Google Shape;395;g3755ce053d3_1_15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6" name="Google Shape;396;g3755ce053d3_1_15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7" name="Google Shape;397;g3755ce053d3_1_15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398" name="Google Shape;398;g3755ce053d3_1_15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99" name="Google Shape;399;g3755ce053d3_1_15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10 20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03" name="Shape 403"/>
        <p:cNvGrpSpPr/>
        <p:nvPr/>
      </p:nvGrpSpPr>
      <p:grpSpPr>
        <a:xfrm>
          <a:off x="0" y="0"/>
          <a:ext cx="0" cy="0"/>
          <a:chOff x="0" y="0"/>
          <a:chExt cx="0" cy="0"/>
        </a:xfrm>
      </p:grpSpPr>
      <p:sp>
        <p:nvSpPr>
          <p:cNvPr id="404" name="Google Shape;404;g3755ce053d3_1_233"/>
          <p:cNvSpPr txBox="1"/>
          <p:nvPr>
            <p:ph type="ctrTitle"/>
          </p:nvPr>
        </p:nvSpPr>
        <p:spPr>
          <a:xfrm>
            <a:off x="4496000" y="1277950"/>
            <a:ext cx="45357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Apa yang akan dicetak oleh kode ini: harga = 10; harga = 20; print(harga)?</a:t>
            </a:r>
            <a:endParaRPr b="1" sz="1800">
              <a:latin typeface="Plus Jakarta Sans"/>
              <a:ea typeface="Plus Jakarta Sans"/>
              <a:cs typeface="Plus Jakarta Sans"/>
              <a:sym typeface="Plus Jakarta Sans"/>
            </a:endParaRPr>
          </a:p>
        </p:txBody>
      </p:sp>
      <p:grpSp>
        <p:nvGrpSpPr>
          <p:cNvPr id="405" name="Google Shape;405;g3755ce053d3_1_233"/>
          <p:cNvGrpSpPr/>
          <p:nvPr/>
        </p:nvGrpSpPr>
        <p:grpSpPr>
          <a:xfrm>
            <a:off x="158" y="-214211"/>
            <a:ext cx="2765532" cy="2691752"/>
            <a:chOff x="9584424" y="-302694"/>
            <a:chExt cx="4822200" cy="4822200"/>
          </a:xfrm>
        </p:grpSpPr>
        <p:sp>
          <p:nvSpPr>
            <p:cNvPr id="406" name="Google Shape;406;g3755ce053d3_1_23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7" name="Google Shape;407;g3755ce053d3_1_23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8" name="Google Shape;408;g3755ce053d3_1_23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9" name="Google Shape;409;g3755ce053d3_1_23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410" name="Google Shape;410;g3755ce053d3_1_233"/>
          <p:cNvGrpSpPr/>
          <p:nvPr/>
        </p:nvGrpSpPr>
        <p:grpSpPr>
          <a:xfrm>
            <a:off x="-840830" y="1116257"/>
            <a:ext cx="5795400" cy="5795400"/>
            <a:chOff x="4094945" y="667082"/>
            <a:chExt cx="5795400" cy="5795400"/>
          </a:xfrm>
        </p:grpSpPr>
        <p:sp>
          <p:nvSpPr>
            <p:cNvPr id="411" name="Google Shape;411;g3755ce053d3_1_23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2" name="Google Shape;412;g3755ce053d3_1_23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3" name="Google Shape;413;g3755ce053d3_1_23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4" name="Google Shape;414;g3755ce053d3_1_23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415" name="Google Shape;415;g3755ce053d3_1_23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16" name="Google Shape;416;g3755ce053d3_1_23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20</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10 20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20" name="Shape 420"/>
        <p:cNvGrpSpPr/>
        <p:nvPr/>
      </p:nvGrpSpPr>
      <p:grpSpPr>
        <a:xfrm>
          <a:off x="0" y="0"/>
          <a:ext cx="0" cy="0"/>
          <a:chOff x="0" y="0"/>
          <a:chExt cx="0" cy="0"/>
        </a:xfrm>
      </p:grpSpPr>
      <p:sp>
        <p:nvSpPr>
          <p:cNvPr id="421" name="Google Shape;421;g3753e428164_3_105"/>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2" name="Google Shape;422;g3753e428164_3_105"/>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3" name="Google Shape;423;g3753e428164_3_105"/>
          <p:cNvSpPr/>
          <p:nvPr/>
        </p:nvSpPr>
        <p:spPr>
          <a:xfrm rot="-3576382">
            <a:off x="5139692" y="2219687"/>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424" name="Google Shape;424;g3753e428164_3_10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25" name="Google Shape;425;g3753e428164_3_105"/>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Tipe Data</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29" name="Shape 429"/>
        <p:cNvGrpSpPr/>
        <p:nvPr/>
      </p:nvGrpSpPr>
      <p:grpSpPr>
        <a:xfrm>
          <a:off x="0" y="0"/>
          <a:ext cx="0" cy="0"/>
          <a:chOff x="0" y="0"/>
          <a:chExt cx="0" cy="0"/>
        </a:xfrm>
      </p:grpSpPr>
      <p:sp>
        <p:nvSpPr>
          <p:cNvPr id="430" name="Google Shape;430;g372b3c3285c_0_394"/>
          <p:cNvSpPr txBox="1"/>
          <p:nvPr/>
        </p:nvSpPr>
        <p:spPr>
          <a:xfrm>
            <a:off x="1962475" y="4017350"/>
            <a:ext cx="5220600" cy="845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“Bagaimana caranya agar Python bisa membedakan dan mengelola setiap jenis informasi?”</a:t>
            </a:r>
            <a:endParaRPr b="1" i="0" sz="1400" u="none" cap="none" strike="noStrike">
              <a:solidFill>
                <a:schemeClr val="dk2"/>
              </a:solidFill>
              <a:latin typeface="Arial"/>
              <a:ea typeface="Arial"/>
              <a:cs typeface="Arial"/>
              <a:sym typeface="Arial"/>
            </a:endParaRPr>
          </a:p>
        </p:txBody>
      </p:sp>
      <p:sp>
        <p:nvSpPr>
          <p:cNvPr id="431" name="Google Shape;431;g372b3c3285c_0_394"/>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432" name="Google Shape;432;g372b3c3285c_0_39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433" name="Google Shape;433;g372b3c3285c_0_394" title="A frustrated coder retyping customer data repeatedly name, age, income. A thought bubble shows a better way—data neatly stored in containers like boxes labeled with names. The scene suggests the n (2).png"/>
          <p:cNvPicPr preferRelativeResize="0"/>
          <p:nvPr/>
        </p:nvPicPr>
        <p:blipFill rotWithShape="1">
          <a:blip r:embed="rId4">
            <a:alphaModFix/>
          </a:blip>
          <a:srcRect b="0" l="0" r="0" t="0"/>
          <a:stretch/>
        </p:blipFill>
        <p:spPr>
          <a:xfrm>
            <a:off x="3277375" y="1274145"/>
            <a:ext cx="2590804" cy="259080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37" name="Shape 437"/>
        <p:cNvGrpSpPr/>
        <p:nvPr/>
      </p:nvGrpSpPr>
      <p:grpSpPr>
        <a:xfrm>
          <a:off x="0" y="0"/>
          <a:ext cx="0" cy="0"/>
          <a:chOff x="0" y="0"/>
          <a:chExt cx="0" cy="0"/>
        </a:xfrm>
      </p:grpSpPr>
      <p:sp>
        <p:nvSpPr>
          <p:cNvPr id="438" name="Google Shape;438;g372b3c3285c_0_401"/>
          <p:cNvSpPr txBox="1"/>
          <p:nvPr/>
        </p:nvSpPr>
        <p:spPr>
          <a:xfrm>
            <a:off x="457200" y="1121750"/>
            <a:ext cx="8358300" cy="475800"/>
          </a:xfrm>
          <a:prstGeom prst="rect">
            <a:avLst/>
          </a:prstGeom>
          <a:noFill/>
          <a:ln>
            <a:noFill/>
          </a:ln>
        </p:spPr>
        <p:txBody>
          <a:bodyPr anchorCtr="0" anchor="t" bIns="0" lIns="0" spcFirstLastPara="1" rIns="0" wrap="square" tIns="13950">
            <a:spAutoFit/>
          </a:bodyPr>
          <a:lstStyle/>
          <a:p>
            <a:pPr indent="0" lvl="0" marL="0" marR="0" rtl="0" algn="ctr">
              <a:lnSpc>
                <a:spcPct val="150000"/>
              </a:lnSpc>
              <a:spcBef>
                <a:spcPts val="0"/>
              </a:spcBef>
              <a:spcAft>
                <a:spcPts val="0"/>
              </a:spcAft>
              <a:buClr>
                <a:srgbClr val="000000"/>
              </a:buClr>
              <a:buSzPts val="1400"/>
              <a:buFont typeface="Arial"/>
              <a:buNone/>
            </a:pPr>
            <a:r>
              <a:rPr b="1" i="0" lang="en-US" sz="1200" u="none" cap="none" strike="noStrike">
                <a:solidFill>
                  <a:schemeClr val="dk2"/>
                </a:solidFill>
                <a:latin typeface="Arial"/>
                <a:ea typeface="Arial"/>
                <a:cs typeface="Arial"/>
                <a:sym typeface="Arial"/>
              </a:rPr>
              <a:t>Tipe Data</a:t>
            </a:r>
            <a:endParaRPr b="1"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rPr b="0" i="0" lang="en-US" sz="1200" u="none" cap="none" strike="noStrike">
                <a:solidFill>
                  <a:schemeClr val="dk2"/>
                </a:solidFill>
                <a:latin typeface="Arial"/>
                <a:ea typeface="Arial"/>
                <a:cs typeface="Arial"/>
                <a:sym typeface="Arial"/>
              </a:rPr>
              <a:t>Dengan memahami tipe data, kita bisa memastikan operasi yang kita lakukan pada data sudah tepat.</a:t>
            </a:r>
            <a:endParaRPr b="0" i="0" sz="1200" u="none" cap="none" strike="noStrike">
              <a:solidFill>
                <a:schemeClr val="dk2"/>
              </a:solidFill>
              <a:latin typeface="Arial"/>
              <a:ea typeface="Arial"/>
              <a:cs typeface="Arial"/>
              <a:sym typeface="Arial"/>
            </a:endParaRPr>
          </a:p>
        </p:txBody>
      </p:sp>
      <p:sp>
        <p:nvSpPr>
          <p:cNvPr id="439" name="Google Shape;439;g372b3c3285c_0_40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440" name="Google Shape;440;g372b3c3285c_0_40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graphicFrame>
        <p:nvGraphicFramePr>
          <p:cNvPr id="441" name="Google Shape;441;g372b3c3285c_0_401"/>
          <p:cNvGraphicFramePr/>
          <p:nvPr/>
        </p:nvGraphicFramePr>
        <p:xfrm>
          <a:off x="339100" y="2001975"/>
          <a:ext cx="3000000" cy="3000000"/>
        </p:xfrm>
        <a:graphic>
          <a:graphicData uri="http://schemas.openxmlformats.org/drawingml/2006/table">
            <a:tbl>
              <a:tblPr>
                <a:noFill/>
                <a:tableStyleId>{B4366262-71F3-4DA0-BCD3-4DD03414E94B}</a:tableStyleId>
              </a:tblPr>
              <a:tblGrid>
                <a:gridCol w="1247900"/>
                <a:gridCol w="5052475"/>
                <a:gridCol w="2472775"/>
              </a:tblGrid>
              <a:tr h="2000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rPr>
                        <a:t>Tipe Data</a:t>
                      </a:r>
                      <a:endParaRPr b="1"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rPr>
                        <a:t>Deskripsi</a:t>
                      </a:r>
                      <a:endParaRPr b="1"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rPr>
                        <a:t>Contoh</a:t>
                      </a:r>
                      <a:endParaRPr b="1" sz="1100" u="none" cap="none" strike="noStrike">
                        <a:solidFill>
                          <a:schemeClr val="dk1"/>
                        </a:solidFill>
                      </a:endParaRPr>
                    </a:p>
                  </a:txBody>
                  <a:tcPr marT="91425" marB="91425" marR="91425" marL="91425" anchor="ctr"/>
                </a:tc>
              </a:tr>
              <a:tr h="371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rPr>
                        <a:t>Integer (int)</a:t>
                      </a:r>
                      <a:endParaRPr b="1"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Bilangan bulat, baik positif, negatif, atau nol. Digunakan untuk menghitung jumlah.</a:t>
                      </a:r>
                      <a:endParaRPr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jumlah_kopi = </a:t>
                      </a:r>
                      <a:r>
                        <a:rPr b="1" lang="en-US" sz="1100" u="none" cap="none" strike="noStrike">
                          <a:solidFill>
                            <a:schemeClr val="dk1"/>
                          </a:solidFill>
                        </a:rPr>
                        <a:t>150</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total_pesanan = </a:t>
                      </a:r>
                      <a:r>
                        <a:rPr b="1" lang="en-US" sz="1100" u="none" cap="none" strike="noStrike">
                          <a:solidFill>
                            <a:schemeClr val="dk1"/>
                          </a:solidFill>
                        </a:rPr>
                        <a:t>5000</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suhu_ruangan = </a:t>
                      </a:r>
                      <a:r>
                        <a:rPr b="1" lang="en-US" sz="1100" u="none" cap="none" strike="noStrike">
                          <a:solidFill>
                            <a:schemeClr val="dk1"/>
                          </a:solidFill>
                        </a:rPr>
                        <a:t>25</a:t>
                      </a:r>
                      <a:endParaRPr b="1" sz="1100" u="none" cap="none" strike="noStrike">
                        <a:solidFill>
                          <a:schemeClr val="dk1"/>
                        </a:solidFill>
                      </a:endParaRPr>
                    </a:p>
                  </a:txBody>
                  <a:tcPr marT="91425" marB="91425" marR="91425" marL="91425" anchor="ctr"/>
                </a:tc>
              </a:tr>
              <a:tr h="371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rPr>
                        <a:t>Float (float)</a:t>
                      </a:r>
                      <a:endParaRPr b="1"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Bilangan desimal atau pecahan. Digunakan untuk nilai yang tidak bulat, seperti harga atau persentase.</a:t>
                      </a:r>
                      <a:endParaRPr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harga_per_cup = </a:t>
                      </a:r>
                      <a:r>
                        <a:rPr b="1" lang="en-US" sz="1100" u="none" cap="none" strike="noStrike">
                          <a:solidFill>
                            <a:schemeClr val="dk1"/>
                          </a:solidFill>
                        </a:rPr>
                        <a:t>25.5</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rata_rata_suhu = </a:t>
                      </a:r>
                      <a:r>
                        <a:rPr b="1" lang="en-US" sz="1100" u="none" cap="none" strike="noStrike">
                          <a:solidFill>
                            <a:schemeClr val="dk1"/>
                          </a:solidFill>
                        </a:rPr>
                        <a:t>24.7</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persentase_diskon = </a:t>
                      </a:r>
                      <a:r>
                        <a:rPr b="1" lang="en-US" sz="1100" u="none" cap="none" strike="noStrike">
                          <a:solidFill>
                            <a:schemeClr val="dk1"/>
                          </a:solidFill>
                        </a:rPr>
                        <a:t>0.25</a:t>
                      </a:r>
                      <a:endParaRPr b="1" sz="1100" u="none" cap="none" strike="noStrike">
                        <a:solidFill>
                          <a:schemeClr val="dk1"/>
                        </a:solidFill>
                      </a:endParaRPr>
                    </a:p>
                  </a:txBody>
                  <a:tcPr marT="91425" marB="91425" marR="91425" marL="91425" anchor="ctr"/>
                </a:tc>
              </a:tr>
              <a:tr h="371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rPr>
                        <a:t>String (str)</a:t>
                      </a:r>
                      <a:endParaRPr b="1"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Rangkaian karakter yang diapit oleh tanda kutip ('' atau ""). Digunakan untuk teks.</a:t>
                      </a:r>
                      <a:endParaRPr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nama_produk = </a:t>
                      </a:r>
                      <a:r>
                        <a:rPr b="1" lang="en-US" sz="1100" u="none" cap="none" strike="noStrike">
                          <a:solidFill>
                            <a:schemeClr val="dk1"/>
                          </a:solidFill>
                        </a:rPr>
                        <a:t>"Kopi Latte"</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nama_cabang = </a:t>
                      </a:r>
                      <a:r>
                        <a:rPr b="1" lang="en-US" sz="1100" u="none" cap="none" strike="noStrike">
                          <a:solidFill>
                            <a:schemeClr val="dk1"/>
                          </a:solidFill>
                        </a:rPr>
                        <a:t>'Bogor'</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kode_promo = </a:t>
                      </a:r>
                      <a:r>
                        <a:rPr b="1" lang="en-US" sz="1100" u="none" cap="none" strike="noStrike">
                          <a:solidFill>
                            <a:schemeClr val="dk1"/>
                          </a:solidFill>
                        </a:rPr>
                        <a:t>"HEMAT50"</a:t>
                      </a:r>
                      <a:endParaRPr b="1" sz="1100" u="none" cap="none" strike="noStrike">
                        <a:solidFill>
                          <a:schemeClr val="dk1"/>
                        </a:solidFill>
                      </a:endParaRPr>
                    </a:p>
                  </a:txBody>
                  <a:tcPr marT="91425" marB="91425" marR="91425" marL="91425" anchor="ctr"/>
                </a:tc>
              </a:tr>
              <a:tr h="371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rPr>
                        <a:t>Boolean (bool)</a:t>
                      </a:r>
                      <a:endParaRPr b="1"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Tipe data logis yang hanya memiliki dua nilai: True atau False. Digunakan dalam logika perbandingan.</a:t>
                      </a:r>
                      <a:endParaRPr sz="1100" u="none" cap="none" strike="noStrike">
                        <a:solidFill>
                          <a:schemeClr val="dk1"/>
                        </a:solidFill>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promo_berlaku = </a:t>
                      </a:r>
                      <a:r>
                        <a:rPr b="1" lang="en-US" sz="1100" u="none" cap="none" strike="noStrike">
                          <a:solidFill>
                            <a:schemeClr val="dk1"/>
                          </a:solidFill>
                        </a:rPr>
                        <a:t>True</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stok_habis = </a:t>
                      </a:r>
                      <a:r>
                        <a:rPr b="1" lang="en-US" sz="1100" u="none" cap="none" strike="noStrike">
                          <a:solidFill>
                            <a:schemeClr val="dk1"/>
                          </a:solidFill>
                        </a:rPr>
                        <a:t>False</a:t>
                      </a:r>
                      <a:endParaRPr b="1"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buka_24_jam = </a:t>
                      </a:r>
                      <a:r>
                        <a:rPr b="1" lang="en-US" sz="1100" u="none" cap="none" strike="noStrike">
                          <a:solidFill>
                            <a:schemeClr val="dk1"/>
                          </a:solidFill>
                        </a:rPr>
                        <a:t>True</a:t>
                      </a:r>
                      <a:endParaRPr b="1" sz="1100" u="none" cap="none" strike="noStrike">
                        <a:solidFill>
                          <a:schemeClr val="dk1"/>
                        </a:solidFill>
                      </a:endParaRPr>
                    </a:p>
                  </a:txBody>
                  <a:tcPr marT="91425" marB="91425" marR="91425" marL="91425"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45" name="Shape 445"/>
        <p:cNvGrpSpPr/>
        <p:nvPr/>
      </p:nvGrpSpPr>
      <p:grpSpPr>
        <a:xfrm>
          <a:off x="0" y="0"/>
          <a:ext cx="0" cy="0"/>
          <a:chOff x="0" y="0"/>
          <a:chExt cx="0" cy="0"/>
        </a:xfrm>
      </p:grpSpPr>
      <p:sp>
        <p:nvSpPr>
          <p:cNvPr id="446" name="Google Shape;446;g372b3c3285c_0_424"/>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447" name="Google Shape;447;g372b3c3285c_0_42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48" name="Google Shape;448;g372b3c3285c_0_424"/>
          <p:cNvSpPr/>
          <p:nvPr/>
        </p:nvSpPr>
        <p:spPr>
          <a:xfrm>
            <a:off x="6144525" y="11979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49" name="Google Shape;449;g372b3c3285c_0_424"/>
          <p:cNvSpPr txBox="1"/>
          <p:nvPr/>
        </p:nvSpPr>
        <p:spPr>
          <a:xfrm>
            <a:off x="457200" y="1121750"/>
            <a:ext cx="8358300" cy="26091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6A9955"/>
                </a:solidFill>
                <a:highlight>
                  <a:srgbClr val="1F1F1F"/>
                </a:highlight>
                <a:latin typeface="Consolas"/>
                <a:ea typeface="Consolas"/>
                <a:cs typeface="Consolas"/>
                <a:sym typeface="Consolas"/>
              </a:rPr>
              <a:t># Menetapkan berbagai tipe data ke variabel</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harga_kopi_terbaru</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27000.50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Ini adalah float</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jumlah_total_pelanggan</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50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Ini adalah int</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nama_promo_hari_ini</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"Promo Diskon 10%"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Ini adalah string</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promo_aktif</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569CD6"/>
                </a:solidFill>
                <a:highlight>
                  <a:srgbClr val="1F1F1F"/>
                </a:highlight>
                <a:latin typeface="Consolas"/>
                <a:ea typeface="Consolas"/>
                <a:cs typeface="Consolas"/>
                <a:sym typeface="Consolas"/>
              </a:rPr>
              <a:t>True</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Ini adalah boolean</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6A9955"/>
                </a:solidFill>
                <a:highlight>
                  <a:srgbClr val="1F1F1F"/>
                </a:highlight>
                <a:latin typeface="Consolas"/>
                <a:ea typeface="Consolas"/>
                <a:cs typeface="Consolas"/>
                <a:sym typeface="Consolas"/>
              </a:rPr>
              <a:t># Cetak tipe data dari setiap variabel</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"Data harga_kopi_terbaru:"</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harga_kopi_terbaru</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"bertipe: "</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harga_kopi_terbaru</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"Data jumlah_total_pelanggan:"</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jumlah_total_pelanggan</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"bertipe: "</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jumlah_total_pelanggan</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"Data nama_promo_hari_ini:"</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nama_promo_hari_ini</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"bertipe: "</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nama_promo_hari_ini</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"Data promo_aktif:"</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promo_aktif</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"bertipe: "</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promo_aktif</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t/>
            </a:r>
            <a:endParaRPr b="0" i="0" sz="900" u="none" cap="none" strike="noStrike">
              <a:solidFill>
                <a:srgbClr val="6A9955"/>
              </a:solidFill>
              <a:highlight>
                <a:srgbClr val="1F1F1F"/>
              </a:highlight>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53" name="Shape 453"/>
        <p:cNvGrpSpPr/>
        <p:nvPr/>
      </p:nvGrpSpPr>
      <p:grpSpPr>
        <a:xfrm>
          <a:off x="0" y="0"/>
          <a:ext cx="0" cy="0"/>
          <a:chOff x="0" y="0"/>
          <a:chExt cx="0" cy="0"/>
        </a:xfrm>
      </p:grpSpPr>
      <p:sp>
        <p:nvSpPr>
          <p:cNvPr id="454" name="Google Shape;454;g3753e428164_3_137"/>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455" name="Google Shape;455;g3753e428164_3_137"/>
          <p:cNvGrpSpPr/>
          <p:nvPr/>
        </p:nvGrpSpPr>
        <p:grpSpPr>
          <a:xfrm>
            <a:off x="159" y="-214211"/>
            <a:ext cx="2765532" cy="2691752"/>
            <a:chOff x="9584423" y="-302695"/>
            <a:chExt cx="4822201" cy="4822201"/>
          </a:xfrm>
        </p:grpSpPr>
        <p:sp>
          <p:nvSpPr>
            <p:cNvPr id="456" name="Google Shape;456;g3753e428164_3_13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7" name="Google Shape;457;g3753e428164_3_13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8" name="Google Shape;458;g3753e428164_3_13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9" name="Google Shape;459;g3753e428164_3_13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460" name="Google Shape;460;g3753e428164_3_137"/>
          <p:cNvGrpSpPr/>
          <p:nvPr/>
        </p:nvGrpSpPr>
        <p:grpSpPr>
          <a:xfrm>
            <a:off x="-840830" y="1116257"/>
            <a:ext cx="5795400" cy="5795400"/>
            <a:chOff x="4094945" y="667082"/>
            <a:chExt cx="5795400" cy="5795400"/>
          </a:xfrm>
        </p:grpSpPr>
        <p:sp>
          <p:nvSpPr>
            <p:cNvPr id="461" name="Google Shape;461;g3753e428164_3_13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62" name="Google Shape;462;g3753e428164_3_13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63" name="Google Shape;463;g3753e428164_3_13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64" name="Google Shape;464;g3753e428164_3_13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465" name="Google Shape;465;g3753e428164_3_13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469" name="Shape 469"/>
        <p:cNvGrpSpPr/>
        <p:nvPr/>
      </p:nvGrpSpPr>
      <p:grpSpPr>
        <a:xfrm>
          <a:off x="0" y="0"/>
          <a:ext cx="0" cy="0"/>
          <a:chOff x="0" y="0"/>
          <a:chExt cx="0" cy="0"/>
        </a:xfrm>
      </p:grpSpPr>
      <p:sp>
        <p:nvSpPr>
          <p:cNvPr id="470" name="Google Shape;470;g3755ce053d3_1_0"/>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Pop Up Quiz Time..</a:t>
            </a:r>
            <a:endParaRPr b="1" sz="3420">
              <a:solidFill>
                <a:schemeClr val="lt1"/>
              </a:solidFill>
              <a:latin typeface="Plus Jakarta Sans"/>
              <a:ea typeface="Plus Jakarta Sans"/>
              <a:cs typeface="Plus Jakarta Sans"/>
              <a:sym typeface="Plus Jakarta Sans"/>
            </a:endParaRPr>
          </a:p>
        </p:txBody>
      </p:sp>
      <p:pic>
        <p:nvPicPr>
          <p:cNvPr id="471" name="Google Shape;471;g3755ce053d3_1_0"/>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75" name="Shape 475"/>
        <p:cNvGrpSpPr/>
        <p:nvPr/>
      </p:nvGrpSpPr>
      <p:grpSpPr>
        <a:xfrm>
          <a:off x="0" y="0"/>
          <a:ext cx="0" cy="0"/>
          <a:chOff x="0" y="0"/>
          <a:chExt cx="0" cy="0"/>
        </a:xfrm>
      </p:grpSpPr>
      <p:sp>
        <p:nvSpPr>
          <p:cNvPr id="476" name="Google Shape;476;g3755ce053d3_1_24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t>
            </a:r>
            <a:r>
              <a:rPr b="1" lang="en-US" sz="1800">
                <a:latin typeface="Plus Jakarta Sans"/>
                <a:ea typeface="Plus Jakarta Sans"/>
                <a:cs typeface="Plus Jakarta Sans"/>
                <a:sym typeface="Plus Jakarta Sans"/>
              </a:rPr>
              <a:t>Tipe data apa yang digunakan untuk bilangan desimal?</a:t>
            </a:r>
            <a:endParaRPr b="1" sz="1800">
              <a:latin typeface="Plus Jakarta Sans"/>
              <a:ea typeface="Plus Jakarta Sans"/>
              <a:cs typeface="Plus Jakarta Sans"/>
              <a:sym typeface="Plus Jakarta Sans"/>
            </a:endParaRPr>
          </a:p>
        </p:txBody>
      </p:sp>
      <p:grpSp>
        <p:nvGrpSpPr>
          <p:cNvPr id="477" name="Google Shape;477;g3755ce053d3_1_249"/>
          <p:cNvGrpSpPr/>
          <p:nvPr/>
        </p:nvGrpSpPr>
        <p:grpSpPr>
          <a:xfrm>
            <a:off x="158" y="-214211"/>
            <a:ext cx="2765532" cy="2691752"/>
            <a:chOff x="9584424" y="-302694"/>
            <a:chExt cx="4822200" cy="4822200"/>
          </a:xfrm>
        </p:grpSpPr>
        <p:sp>
          <p:nvSpPr>
            <p:cNvPr id="478" name="Google Shape;478;g3755ce053d3_1_24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79" name="Google Shape;479;g3755ce053d3_1_24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0" name="Google Shape;480;g3755ce053d3_1_24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1" name="Google Shape;481;g3755ce053d3_1_24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482" name="Google Shape;482;g3755ce053d3_1_249"/>
          <p:cNvGrpSpPr/>
          <p:nvPr/>
        </p:nvGrpSpPr>
        <p:grpSpPr>
          <a:xfrm>
            <a:off x="-840830" y="1116257"/>
            <a:ext cx="5795400" cy="5795400"/>
            <a:chOff x="4094945" y="667082"/>
            <a:chExt cx="5795400" cy="5795400"/>
          </a:xfrm>
        </p:grpSpPr>
        <p:sp>
          <p:nvSpPr>
            <p:cNvPr id="483" name="Google Shape;483;g3755ce053d3_1_24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4" name="Google Shape;484;g3755ce053d3_1_24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5" name="Google Shape;485;g3755ce053d3_1_24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6" name="Google Shape;486;g3755ce053d3_1_24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487" name="Google Shape;487;g3755ce053d3_1_24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88" name="Google Shape;488;g3755ce053d3_1_24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int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str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float</a:t>
            </a:r>
            <a:endParaRPr sz="1800">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92" name="Shape 492"/>
        <p:cNvGrpSpPr/>
        <p:nvPr/>
      </p:nvGrpSpPr>
      <p:grpSpPr>
        <a:xfrm>
          <a:off x="0" y="0"/>
          <a:ext cx="0" cy="0"/>
          <a:chOff x="0" y="0"/>
          <a:chExt cx="0" cy="0"/>
        </a:xfrm>
      </p:grpSpPr>
      <p:sp>
        <p:nvSpPr>
          <p:cNvPr id="493" name="Google Shape;493;g3755ce053d3_1_64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Tipe data apa yang digunakan untuk bilangan desimal?</a:t>
            </a:r>
            <a:endParaRPr b="1" sz="1800">
              <a:latin typeface="Plus Jakarta Sans"/>
              <a:ea typeface="Plus Jakarta Sans"/>
              <a:cs typeface="Plus Jakarta Sans"/>
              <a:sym typeface="Plus Jakarta Sans"/>
            </a:endParaRPr>
          </a:p>
        </p:txBody>
      </p:sp>
      <p:grpSp>
        <p:nvGrpSpPr>
          <p:cNvPr id="494" name="Google Shape;494;g3755ce053d3_1_649"/>
          <p:cNvGrpSpPr/>
          <p:nvPr/>
        </p:nvGrpSpPr>
        <p:grpSpPr>
          <a:xfrm>
            <a:off x="158" y="-214211"/>
            <a:ext cx="2765532" cy="2691752"/>
            <a:chOff x="9584424" y="-302694"/>
            <a:chExt cx="4822200" cy="4822200"/>
          </a:xfrm>
        </p:grpSpPr>
        <p:sp>
          <p:nvSpPr>
            <p:cNvPr id="495" name="Google Shape;495;g3755ce053d3_1_64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96" name="Google Shape;496;g3755ce053d3_1_64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97" name="Google Shape;497;g3755ce053d3_1_64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98" name="Google Shape;498;g3755ce053d3_1_64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499" name="Google Shape;499;g3755ce053d3_1_649"/>
          <p:cNvGrpSpPr/>
          <p:nvPr/>
        </p:nvGrpSpPr>
        <p:grpSpPr>
          <a:xfrm>
            <a:off x="-840830" y="1116257"/>
            <a:ext cx="5795400" cy="5795400"/>
            <a:chOff x="4094945" y="667082"/>
            <a:chExt cx="5795400" cy="5795400"/>
          </a:xfrm>
        </p:grpSpPr>
        <p:sp>
          <p:nvSpPr>
            <p:cNvPr id="500" name="Google Shape;500;g3755ce053d3_1_64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01" name="Google Shape;501;g3755ce053d3_1_64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02" name="Google Shape;502;g3755ce053d3_1_64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03" name="Google Shape;503;g3755ce053d3_1_64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504" name="Google Shape;504;g3755ce053d3_1_64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05" name="Google Shape;505;g3755ce053d3_1_64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int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str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float</a:t>
            </a:r>
            <a:endParaRPr sz="1800">
              <a:highlight>
                <a:srgbClr val="B5CEA8"/>
              </a:highlight>
              <a:latin typeface="Plus Jakarta Sans"/>
              <a:ea typeface="Plus Jakarta Sans"/>
              <a:cs typeface="Plus Jakarta Sans"/>
              <a:sym typeface="Plus Jakart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09" name="Shape 509"/>
        <p:cNvGrpSpPr/>
        <p:nvPr/>
      </p:nvGrpSpPr>
      <p:grpSpPr>
        <a:xfrm>
          <a:off x="0" y="0"/>
          <a:ext cx="0" cy="0"/>
          <a:chOff x="0" y="0"/>
          <a:chExt cx="0" cy="0"/>
        </a:xfrm>
      </p:grpSpPr>
      <p:sp>
        <p:nvSpPr>
          <p:cNvPr id="510" name="Google Shape;510;g3755ce053d3_1_265"/>
          <p:cNvSpPr txBox="1"/>
          <p:nvPr>
            <p:ph type="ctrTitle"/>
          </p:nvPr>
        </p:nvSpPr>
        <p:spPr>
          <a:xfrm>
            <a:off x="4496000" y="1277950"/>
            <a:ext cx="45078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t>
            </a:r>
            <a:r>
              <a:rPr b="1" lang="en-US" sz="1800">
                <a:latin typeface="Plus Jakarta Sans"/>
                <a:ea typeface="Plus Jakarta Sans"/>
                <a:cs typeface="Plus Jakarta Sans"/>
                <a:sym typeface="Plus Jakarta Sans"/>
              </a:rPr>
              <a:t>Manakah dari berikut yang merupakan contoh string yang benar?</a:t>
            </a:r>
            <a:endParaRPr b="1" sz="1800">
              <a:latin typeface="Plus Jakarta Sans"/>
              <a:ea typeface="Plus Jakarta Sans"/>
              <a:cs typeface="Plus Jakarta Sans"/>
              <a:sym typeface="Plus Jakarta Sans"/>
            </a:endParaRPr>
          </a:p>
        </p:txBody>
      </p:sp>
      <p:grpSp>
        <p:nvGrpSpPr>
          <p:cNvPr id="511" name="Google Shape;511;g3755ce053d3_1_265"/>
          <p:cNvGrpSpPr/>
          <p:nvPr/>
        </p:nvGrpSpPr>
        <p:grpSpPr>
          <a:xfrm>
            <a:off x="158" y="-214211"/>
            <a:ext cx="2765532" cy="2691752"/>
            <a:chOff x="9584424" y="-302694"/>
            <a:chExt cx="4822200" cy="4822200"/>
          </a:xfrm>
        </p:grpSpPr>
        <p:sp>
          <p:nvSpPr>
            <p:cNvPr id="512" name="Google Shape;512;g3755ce053d3_1_26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3" name="Google Shape;513;g3755ce053d3_1_26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4" name="Google Shape;514;g3755ce053d3_1_26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5" name="Google Shape;515;g3755ce053d3_1_26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516" name="Google Shape;516;g3755ce053d3_1_265"/>
          <p:cNvGrpSpPr/>
          <p:nvPr/>
        </p:nvGrpSpPr>
        <p:grpSpPr>
          <a:xfrm>
            <a:off x="-840830" y="1116257"/>
            <a:ext cx="5795400" cy="5795400"/>
            <a:chOff x="4094945" y="667082"/>
            <a:chExt cx="5795400" cy="5795400"/>
          </a:xfrm>
        </p:grpSpPr>
        <p:sp>
          <p:nvSpPr>
            <p:cNvPr id="517" name="Google Shape;517;g3755ce053d3_1_26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8" name="Google Shape;518;g3755ce053d3_1_26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9" name="Google Shape;519;g3755ce053d3_1_26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20" name="Google Shape;520;g3755ce053d3_1_26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521" name="Google Shape;521;g3755ce053d3_1_26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22" name="Google Shape;522;g3755ce053d3_1_26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'123'</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123</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TRUE</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3.14</a:t>
            </a:r>
            <a:endParaRPr sz="1800">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26" name="Shape 526"/>
        <p:cNvGrpSpPr/>
        <p:nvPr/>
      </p:nvGrpSpPr>
      <p:grpSpPr>
        <a:xfrm>
          <a:off x="0" y="0"/>
          <a:ext cx="0" cy="0"/>
          <a:chOff x="0" y="0"/>
          <a:chExt cx="0" cy="0"/>
        </a:xfrm>
      </p:grpSpPr>
      <p:sp>
        <p:nvSpPr>
          <p:cNvPr id="527" name="Google Shape;527;g3755ce053d3_1_665"/>
          <p:cNvSpPr txBox="1"/>
          <p:nvPr>
            <p:ph type="ctrTitle"/>
          </p:nvPr>
        </p:nvSpPr>
        <p:spPr>
          <a:xfrm>
            <a:off x="4496000" y="1277950"/>
            <a:ext cx="45078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Manakah dari berikut yang merupakan contoh string yang benar?</a:t>
            </a:r>
            <a:endParaRPr b="1" sz="1800">
              <a:latin typeface="Plus Jakarta Sans"/>
              <a:ea typeface="Plus Jakarta Sans"/>
              <a:cs typeface="Plus Jakarta Sans"/>
              <a:sym typeface="Plus Jakarta Sans"/>
            </a:endParaRPr>
          </a:p>
        </p:txBody>
      </p:sp>
      <p:grpSp>
        <p:nvGrpSpPr>
          <p:cNvPr id="528" name="Google Shape;528;g3755ce053d3_1_665"/>
          <p:cNvGrpSpPr/>
          <p:nvPr/>
        </p:nvGrpSpPr>
        <p:grpSpPr>
          <a:xfrm>
            <a:off x="158" y="-214211"/>
            <a:ext cx="2765532" cy="2691752"/>
            <a:chOff x="9584424" y="-302694"/>
            <a:chExt cx="4822200" cy="4822200"/>
          </a:xfrm>
        </p:grpSpPr>
        <p:sp>
          <p:nvSpPr>
            <p:cNvPr id="529" name="Google Shape;529;g3755ce053d3_1_66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0" name="Google Shape;530;g3755ce053d3_1_66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1" name="Google Shape;531;g3755ce053d3_1_66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2" name="Google Shape;532;g3755ce053d3_1_66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533" name="Google Shape;533;g3755ce053d3_1_665"/>
          <p:cNvGrpSpPr/>
          <p:nvPr/>
        </p:nvGrpSpPr>
        <p:grpSpPr>
          <a:xfrm>
            <a:off x="-840830" y="1116257"/>
            <a:ext cx="5795400" cy="5795400"/>
            <a:chOff x="4094945" y="667082"/>
            <a:chExt cx="5795400" cy="5795400"/>
          </a:xfrm>
        </p:grpSpPr>
        <p:sp>
          <p:nvSpPr>
            <p:cNvPr id="534" name="Google Shape;534;g3755ce053d3_1_66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5" name="Google Shape;535;g3755ce053d3_1_66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6" name="Google Shape;536;g3755ce053d3_1_66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7" name="Google Shape;537;g3755ce053d3_1_66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538" name="Google Shape;538;g3755ce053d3_1_66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39" name="Google Shape;539;g3755ce053d3_1_66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'123'</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123</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TRUE</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3.14</a:t>
            </a:r>
            <a:endParaRPr sz="1800">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43" name="Shape 543"/>
        <p:cNvGrpSpPr/>
        <p:nvPr/>
      </p:nvGrpSpPr>
      <p:grpSpPr>
        <a:xfrm>
          <a:off x="0" y="0"/>
          <a:ext cx="0" cy="0"/>
          <a:chOff x="0" y="0"/>
          <a:chExt cx="0" cy="0"/>
        </a:xfrm>
      </p:grpSpPr>
      <p:sp>
        <p:nvSpPr>
          <p:cNvPr id="544" name="Google Shape;544;g3755ce053d3_1_28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t>
            </a:r>
            <a:r>
              <a:rPr b="1" lang="en-US" sz="1800">
                <a:latin typeface="Plus Jakarta Sans"/>
                <a:ea typeface="Plus Jakarta Sans"/>
                <a:cs typeface="Plus Jakarta Sans"/>
                <a:sym typeface="Plus Jakarta Sans"/>
              </a:rPr>
              <a:t>Apa yang terjadi jika Anda mencoba print("10" + 5)?</a:t>
            </a:r>
            <a:endParaRPr b="1" sz="1800">
              <a:latin typeface="Plus Jakarta Sans"/>
              <a:ea typeface="Plus Jakarta Sans"/>
              <a:cs typeface="Plus Jakarta Sans"/>
              <a:sym typeface="Plus Jakarta Sans"/>
            </a:endParaRPr>
          </a:p>
        </p:txBody>
      </p:sp>
      <p:grpSp>
        <p:nvGrpSpPr>
          <p:cNvPr id="545" name="Google Shape;545;g3755ce053d3_1_281"/>
          <p:cNvGrpSpPr/>
          <p:nvPr/>
        </p:nvGrpSpPr>
        <p:grpSpPr>
          <a:xfrm>
            <a:off x="158" y="-214211"/>
            <a:ext cx="2765532" cy="2691752"/>
            <a:chOff x="9584424" y="-302694"/>
            <a:chExt cx="4822200" cy="4822200"/>
          </a:xfrm>
        </p:grpSpPr>
        <p:sp>
          <p:nvSpPr>
            <p:cNvPr id="546" name="Google Shape;546;g3755ce053d3_1_28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7" name="Google Shape;547;g3755ce053d3_1_28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8" name="Google Shape;548;g3755ce053d3_1_28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9" name="Google Shape;549;g3755ce053d3_1_28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550" name="Google Shape;550;g3755ce053d3_1_281"/>
          <p:cNvGrpSpPr/>
          <p:nvPr/>
        </p:nvGrpSpPr>
        <p:grpSpPr>
          <a:xfrm>
            <a:off x="-840830" y="1116257"/>
            <a:ext cx="5795400" cy="5795400"/>
            <a:chOff x="4094945" y="667082"/>
            <a:chExt cx="5795400" cy="5795400"/>
          </a:xfrm>
        </p:grpSpPr>
        <p:sp>
          <p:nvSpPr>
            <p:cNvPr id="551" name="Google Shape;551;g3755ce053d3_1_28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2" name="Google Shape;552;g3755ce053d3_1_28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3" name="Google Shape;553;g3755ce053d3_1_28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4" name="Google Shape;554;g3755ce053d3_1_28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555" name="Google Shape;555;g3755ce053d3_1_28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56" name="Google Shape;556;g3755ce053d3_1_28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Hasilnya 15.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Hasilnya 105.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Program akan mengalami 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Hasilnya 105.</a:t>
            </a:r>
            <a:endParaRPr sz="1800">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60" name="Shape 560"/>
        <p:cNvGrpSpPr/>
        <p:nvPr/>
      </p:nvGrpSpPr>
      <p:grpSpPr>
        <a:xfrm>
          <a:off x="0" y="0"/>
          <a:ext cx="0" cy="0"/>
          <a:chOff x="0" y="0"/>
          <a:chExt cx="0" cy="0"/>
        </a:xfrm>
      </p:grpSpPr>
      <p:sp>
        <p:nvSpPr>
          <p:cNvPr id="561" name="Google Shape;561;g3755ce053d3_1_68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Apa yang terjadi jika Anda mencoba print("10" + 5)?</a:t>
            </a:r>
            <a:endParaRPr b="1" sz="1800">
              <a:latin typeface="Plus Jakarta Sans"/>
              <a:ea typeface="Plus Jakarta Sans"/>
              <a:cs typeface="Plus Jakarta Sans"/>
              <a:sym typeface="Plus Jakarta Sans"/>
            </a:endParaRPr>
          </a:p>
        </p:txBody>
      </p:sp>
      <p:grpSp>
        <p:nvGrpSpPr>
          <p:cNvPr id="562" name="Google Shape;562;g3755ce053d3_1_681"/>
          <p:cNvGrpSpPr/>
          <p:nvPr/>
        </p:nvGrpSpPr>
        <p:grpSpPr>
          <a:xfrm>
            <a:off x="158" y="-214211"/>
            <a:ext cx="2765532" cy="2691752"/>
            <a:chOff x="9584424" y="-302694"/>
            <a:chExt cx="4822200" cy="4822200"/>
          </a:xfrm>
        </p:grpSpPr>
        <p:sp>
          <p:nvSpPr>
            <p:cNvPr id="563" name="Google Shape;563;g3755ce053d3_1_68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64" name="Google Shape;564;g3755ce053d3_1_68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65" name="Google Shape;565;g3755ce053d3_1_68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66" name="Google Shape;566;g3755ce053d3_1_68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567" name="Google Shape;567;g3755ce053d3_1_681"/>
          <p:cNvGrpSpPr/>
          <p:nvPr/>
        </p:nvGrpSpPr>
        <p:grpSpPr>
          <a:xfrm>
            <a:off x="-840830" y="1116257"/>
            <a:ext cx="5795400" cy="5795400"/>
            <a:chOff x="4094945" y="667082"/>
            <a:chExt cx="5795400" cy="5795400"/>
          </a:xfrm>
        </p:grpSpPr>
        <p:sp>
          <p:nvSpPr>
            <p:cNvPr id="568" name="Google Shape;568;g3755ce053d3_1_68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69" name="Google Shape;569;g3755ce053d3_1_68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70" name="Google Shape;570;g3755ce053d3_1_68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71" name="Google Shape;571;g3755ce053d3_1_68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572" name="Google Shape;572;g3755ce053d3_1_68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73" name="Google Shape;573;g3755ce053d3_1_68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Hasilnya 15.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Hasilnya 105.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Program akan mengalami error.</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Hasilnya 105.</a:t>
            </a:r>
            <a:endParaRPr sz="1800">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77" name="Shape 577"/>
        <p:cNvGrpSpPr/>
        <p:nvPr/>
      </p:nvGrpSpPr>
      <p:grpSpPr>
        <a:xfrm>
          <a:off x="0" y="0"/>
          <a:ext cx="0" cy="0"/>
          <a:chOff x="0" y="0"/>
          <a:chExt cx="0" cy="0"/>
        </a:xfrm>
      </p:grpSpPr>
      <p:sp>
        <p:nvSpPr>
          <p:cNvPr id="578" name="Google Shape;578;g3755ce053d3_1_29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t>
            </a:r>
            <a:r>
              <a:rPr b="1" lang="en-US" sz="1800">
                <a:latin typeface="Plus Jakarta Sans"/>
                <a:ea typeface="Plus Jakarta Sans"/>
                <a:cs typeface="Plus Jakarta Sans"/>
                <a:sym typeface="Plus Jakarta Sans"/>
              </a:rPr>
              <a:t>Tipe data apa yang paling cocok untuk nama produk di coffee shop?</a:t>
            </a:r>
            <a:endParaRPr b="1" sz="1800">
              <a:latin typeface="Plus Jakarta Sans"/>
              <a:ea typeface="Plus Jakarta Sans"/>
              <a:cs typeface="Plus Jakarta Sans"/>
              <a:sym typeface="Plus Jakarta Sans"/>
            </a:endParaRPr>
          </a:p>
        </p:txBody>
      </p:sp>
      <p:grpSp>
        <p:nvGrpSpPr>
          <p:cNvPr id="579" name="Google Shape;579;g3755ce053d3_1_297"/>
          <p:cNvGrpSpPr/>
          <p:nvPr/>
        </p:nvGrpSpPr>
        <p:grpSpPr>
          <a:xfrm>
            <a:off x="158" y="-214211"/>
            <a:ext cx="2765532" cy="2691752"/>
            <a:chOff x="9584424" y="-302694"/>
            <a:chExt cx="4822200" cy="4822200"/>
          </a:xfrm>
        </p:grpSpPr>
        <p:sp>
          <p:nvSpPr>
            <p:cNvPr id="580" name="Google Shape;580;g3755ce053d3_1_29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1" name="Google Shape;581;g3755ce053d3_1_29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2" name="Google Shape;582;g3755ce053d3_1_29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3" name="Google Shape;583;g3755ce053d3_1_29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584" name="Google Shape;584;g3755ce053d3_1_297"/>
          <p:cNvGrpSpPr/>
          <p:nvPr/>
        </p:nvGrpSpPr>
        <p:grpSpPr>
          <a:xfrm>
            <a:off x="-840830" y="1116257"/>
            <a:ext cx="5795400" cy="5795400"/>
            <a:chOff x="4094945" y="667082"/>
            <a:chExt cx="5795400" cy="5795400"/>
          </a:xfrm>
        </p:grpSpPr>
        <p:sp>
          <p:nvSpPr>
            <p:cNvPr id="585" name="Google Shape;585;g3755ce053d3_1_29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6" name="Google Shape;586;g3755ce053d3_1_29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7" name="Google Shape;587;g3755ce053d3_1_29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8" name="Google Shape;588;g3755ce053d3_1_29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589" name="Google Shape;589;g3755ce053d3_1_29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90" name="Google Shape;590;g3755ce053d3_1_29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int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str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float</a:t>
            </a:r>
            <a:endParaRPr sz="1800">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94" name="Shape 594"/>
        <p:cNvGrpSpPr/>
        <p:nvPr/>
      </p:nvGrpSpPr>
      <p:grpSpPr>
        <a:xfrm>
          <a:off x="0" y="0"/>
          <a:ext cx="0" cy="0"/>
          <a:chOff x="0" y="0"/>
          <a:chExt cx="0" cy="0"/>
        </a:xfrm>
      </p:grpSpPr>
      <p:sp>
        <p:nvSpPr>
          <p:cNvPr id="595" name="Google Shape;595;g3755ce053d3_1_69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Tipe data apa yang paling cocok untuk nama produk di coffee shop?</a:t>
            </a:r>
            <a:endParaRPr b="1" sz="1800">
              <a:latin typeface="Plus Jakarta Sans"/>
              <a:ea typeface="Plus Jakarta Sans"/>
              <a:cs typeface="Plus Jakarta Sans"/>
              <a:sym typeface="Plus Jakarta Sans"/>
            </a:endParaRPr>
          </a:p>
        </p:txBody>
      </p:sp>
      <p:grpSp>
        <p:nvGrpSpPr>
          <p:cNvPr id="596" name="Google Shape;596;g3755ce053d3_1_697"/>
          <p:cNvGrpSpPr/>
          <p:nvPr/>
        </p:nvGrpSpPr>
        <p:grpSpPr>
          <a:xfrm>
            <a:off x="158" y="-214211"/>
            <a:ext cx="2765532" cy="2691752"/>
            <a:chOff x="9584424" y="-302694"/>
            <a:chExt cx="4822200" cy="4822200"/>
          </a:xfrm>
        </p:grpSpPr>
        <p:sp>
          <p:nvSpPr>
            <p:cNvPr id="597" name="Google Shape;597;g3755ce053d3_1_69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98" name="Google Shape;598;g3755ce053d3_1_69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99" name="Google Shape;599;g3755ce053d3_1_69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0" name="Google Shape;600;g3755ce053d3_1_69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601" name="Google Shape;601;g3755ce053d3_1_697"/>
          <p:cNvGrpSpPr/>
          <p:nvPr/>
        </p:nvGrpSpPr>
        <p:grpSpPr>
          <a:xfrm>
            <a:off x="-840830" y="1116257"/>
            <a:ext cx="5795400" cy="5795400"/>
            <a:chOff x="4094945" y="667082"/>
            <a:chExt cx="5795400" cy="5795400"/>
          </a:xfrm>
        </p:grpSpPr>
        <p:sp>
          <p:nvSpPr>
            <p:cNvPr id="602" name="Google Shape;602;g3755ce053d3_1_69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3" name="Google Shape;603;g3755ce053d3_1_69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4" name="Google Shape;604;g3755ce053d3_1_69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5" name="Google Shape;605;g3755ce053d3_1_69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06" name="Google Shape;606;g3755ce053d3_1_69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07" name="Google Shape;607;g3755ce053d3_1_69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int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str</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float</a:t>
            </a:r>
            <a:endParaRPr sz="1800">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11" name="Shape 611"/>
        <p:cNvGrpSpPr/>
        <p:nvPr/>
      </p:nvGrpSpPr>
      <p:grpSpPr>
        <a:xfrm>
          <a:off x="0" y="0"/>
          <a:ext cx="0" cy="0"/>
          <a:chOff x="0" y="0"/>
          <a:chExt cx="0" cy="0"/>
        </a:xfrm>
      </p:grpSpPr>
      <p:sp>
        <p:nvSpPr>
          <p:cNvPr id="612" name="Google Shape;612;g3755ce053d3_1_313"/>
          <p:cNvSpPr txBox="1"/>
          <p:nvPr>
            <p:ph type="ctrTitle"/>
          </p:nvPr>
        </p:nvSpPr>
        <p:spPr>
          <a:xfrm>
            <a:off x="4496000" y="1277950"/>
            <a:ext cx="42282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t>
            </a:r>
            <a:r>
              <a:rPr b="1" lang="en-US" sz="1800">
                <a:latin typeface="Plus Jakarta Sans"/>
                <a:ea typeface="Plus Jakarta Sans"/>
                <a:cs typeface="Plus Jakarta Sans"/>
                <a:sym typeface="Plus Jakarta Sans"/>
              </a:rPr>
              <a:t>jumlah_pesanan = 150 memiliki tipe data:</a:t>
            </a:r>
            <a:endParaRPr b="1" sz="1800">
              <a:latin typeface="Plus Jakarta Sans"/>
              <a:ea typeface="Plus Jakarta Sans"/>
              <a:cs typeface="Plus Jakarta Sans"/>
              <a:sym typeface="Plus Jakarta Sans"/>
            </a:endParaRPr>
          </a:p>
        </p:txBody>
      </p:sp>
      <p:grpSp>
        <p:nvGrpSpPr>
          <p:cNvPr id="613" name="Google Shape;613;g3755ce053d3_1_313"/>
          <p:cNvGrpSpPr/>
          <p:nvPr/>
        </p:nvGrpSpPr>
        <p:grpSpPr>
          <a:xfrm>
            <a:off x="158" y="-214211"/>
            <a:ext cx="2765532" cy="2691752"/>
            <a:chOff x="9584424" y="-302694"/>
            <a:chExt cx="4822200" cy="4822200"/>
          </a:xfrm>
        </p:grpSpPr>
        <p:sp>
          <p:nvSpPr>
            <p:cNvPr id="614" name="Google Shape;614;g3755ce053d3_1_31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5" name="Google Shape;615;g3755ce053d3_1_31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6" name="Google Shape;616;g3755ce053d3_1_31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7" name="Google Shape;617;g3755ce053d3_1_31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618" name="Google Shape;618;g3755ce053d3_1_313"/>
          <p:cNvGrpSpPr/>
          <p:nvPr/>
        </p:nvGrpSpPr>
        <p:grpSpPr>
          <a:xfrm>
            <a:off x="-840830" y="1116257"/>
            <a:ext cx="5795400" cy="5795400"/>
            <a:chOff x="4094945" y="667082"/>
            <a:chExt cx="5795400" cy="5795400"/>
          </a:xfrm>
        </p:grpSpPr>
        <p:sp>
          <p:nvSpPr>
            <p:cNvPr id="619" name="Google Shape;619;g3755ce053d3_1_31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20" name="Google Shape;620;g3755ce053d3_1_31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21" name="Google Shape;621;g3755ce053d3_1_31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22" name="Google Shape;622;g3755ce053d3_1_31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23" name="Google Shape;623;g3755ce053d3_1_31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24" name="Google Shape;624;g3755ce053d3_1_31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str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int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float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a:t>
            </a:r>
            <a:endParaRPr sz="1800">
              <a:latin typeface="Plus Jakarta Sans"/>
              <a:ea typeface="Plus Jakarta Sans"/>
              <a:cs typeface="Plus Jakarta Sans"/>
              <a:sym typeface="Plus Jakarta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28" name="Shape 628"/>
        <p:cNvGrpSpPr/>
        <p:nvPr/>
      </p:nvGrpSpPr>
      <p:grpSpPr>
        <a:xfrm>
          <a:off x="0" y="0"/>
          <a:ext cx="0" cy="0"/>
          <a:chOff x="0" y="0"/>
          <a:chExt cx="0" cy="0"/>
        </a:xfrm>
      </p:grpSpPr>
      <p:sp>
        <p:nvSpPr>
          <p:cNvPr id="629" name="Google Shape;629;g3755ce053d3_1_713"/>
          <p:cNvSpPr txBox="1"/>
          <p:nvPr>
            <p:ph type="ctrTitle"/>
          </p:nvPr>
        </p:nvSpPr>
        <p:spPr>
          <a:xfrm>
            <a:off x="4496000" y="1277950"/>
            <a:ext cx="42282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jumlah_pesanan = 150 memiliki tipe data:</a:t>
            </a:r>
            <a:endParaRPr b="1" sz="1800">
              <a:latin typeface="Plus Jakarta Sans"/>
              <a:ea typeface="Plus Jakarta Sans"/>
              <a:cs typeface="Plus Jakarta Sans"/>
              <a:sym typeface="Plus Jakarta Sans"/>
            </a:endParaRPr>
          </a:p>
        </p:txBody>
      </p:sp>
      <p:grpSp>
        <p:nvGrpSpPr>
          <p:cNvPr id="630" name="Google Shape;630;g3755ce053d3_1_713"/>
          <p:cNvGrpSpPr/>
          <p:nvPr/>
        </p:nvGrpSpPr>
        <p:grpSpPr>
          <a:xfrm>
            <a:off x="158" y="-214211"/>
            <a:ext cx="2765532" cy="2691752"/>
            <a:chOff x="9584424" y="-302694"/>
            <a:chExt cx="4822200" cy="4822200"/>
          </a:xfrm>
        </p:grpSpPr>
        <p:sp>
          <p:nvSpPr>
            <p:cNvPr id="631" name="Google Shape;631;g3755ce053d3_1_71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2" name="Google Shape;632;g3755ce053d3_1_71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3" name="Google Shape;633;g3755ce053d3_1_71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4" name="Google Shape;634;g3755ce053d3_1_71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635" name="Google Shape;635;g3755ce053d3_1_713"/>
          <p:cNvGrpSpPr/>
          <p:nvPr/>
        </p:nvGrpSpPr>
        <p:grpSpPr>
          <a:xfrm>
            <a:off x="-840830" y="1116257"/>
            <a:ext cx="5795400" cy="5795400"/>
            <a:chOff x="4094945" y="667082"/>
            <a:chExt cx="5795400" cy="5795400"/>
          </a:xfrm>
        </p:grpSpPr>
        <p:sp>
          <p:nvSpPr>
            <p:cNvPr id="636" name="Google Shape;636;g3755ce053d3_1_71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7" name="Google Shape;637;g3755ce053d3_1_71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8" name="Google Shape;638;g3755ce053d3_1_71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9" name="Google Shape;639;g3755ce053d3_1_71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40" name="Google Shape;640;g3755ce053d3_1_71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41" name="Google Shape;641;g3755ce053d3_1_71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str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int</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float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a:t>
            </a:r>
            <a:endParaRPr sz="1800">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45" name="Shape 645"/>
        <p:cNvGrpSpPr/>
        <p:nvPr/>
      </p:nvGrpSpPr>
      <p:grpSpPr>
        <a:xfrm>
          <a:off x="0" y="0"/>
          <a:ext cx="0" cy="0"/>
          <a:chOff x="0" y="0"/>
          <a:chExt cx="0" cy="0"/>
        </a:xfrm>
      </p:grpSpPr>
      <p:sp>
        <p:nvSpPr>
          <p:cNvPr id="646" name="Google Shape;646;g3753e428164_3_157"/>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47" name="Google Shape;647;g3753e428164_3_157"/>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48" name="Google Shape;648;g3753e428164_3_157"/>
          <p:cNvSpPr/>
          <p:nvPr/>
        </p:nvSpPr>
        <p:spPr>
          <a:xfrm rot="-3576382">
            <a:off x="5139692" y="2219687"/>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649" name="Google Shape;649;g3753e428164_3_15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50" name="Google Shape;650;g3753e428164_3_157"/>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Casting</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54" name="Shape 654"/>
        <p:cNvGrpSpPr/>
        <p:nvPr/>
      </p:nvGrpSpPr>
      <p:grpSpPr>
        <a:xfrm>
          <a:off x="0" y="0"/>
          <a:ext cx="0" cy="0"/>
          <a:chOff x="0" y="0"/>
          <a:chExt cx="0" cy="0"/>
        </a:xfrm>
      </p:grpSpPr>
      <p:sp>
        <p:nvSpPr>
          <p:cNvPr id="655" name="Google Shape;655;g3753e428164_3_165"/>
          <p:cNvSpPr txBox="1"/>
          <p:nvPr/>
        </p:nvSpPr>
        <p:spPr>
          <a:xfrm>
            <a:off x="1962475" y="4017350"/>
            <a:ext cx="5220600" cy="845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Bagaimana cara mengubah satu jenis data ke jenis data lainnya dengan aman dan efektif?</a:t>
            </a:r>
            <a:endParaRPr b="1" i="0" sz="1400" u="none" cap="none" strike="noStrike">
              <a:solidFill>
                <a:schemeClr val="dk2"/>
              </a:solidFill>
              <a:latin typeface="Arial"/>
              <a:ea typeface="Arial"/>
              <a:cs typeface="Arial"/>
              <a:sym typeface="Arial"/>
            </a:endParaRPr>
          </a:p>
        </p:txBody>
      </p:sp>
      <p:sp>
        <p:nvSpPr>
          <p:cNvPr id="656" name="Google Shape;656;g3753e428164_3_165"/>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657" name="Google Shape;657;g3753e428164_3_16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658" name="Google Shape;658;g3753e428164_3_165" title="Ilustrasi edukatif tentang konsep data type conversion dalam pemrograman. Visualisasi menampilkan tiga tipe data utama_ int, float, dan string dalam bentuk karakter atau ikon lucu. Di satu sisi terlihat angka 100 yang ditulis sebagai teks _.jpg"/>
          <p:cNvPicPr preferRelativeResize="0"/>
          <p:nvPr/>
        </p:nvPicPr>
        <p:blipFill rotWithShape="1">
          <a:blip r:embed="rId4">
            <a:alphaModFix/>
          </a:blip>
          <a:srcRect b="0" l="0" r="0" t="0"/>
          <a:stretch/>
        </p:blipFill>
        <p:spPr>
          <a:xfrm>
            <a:off x="3277375" y="1274145"/>
            <a:ext cx="2590804" cy="259080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62" name="Shape 662"/>
        <p:cNvGrpSpPr/>
        <p:nvPr/>
      </p:nvGrpSpPr>
      <p:grpSpPr>
        <a:xfrm>
          <a:off x="0" y="0"/>
          <a:ext cx="0" cy="0"/>
          <a:chOff x="0" y="0"/>
          <a:chExt cx="0" cy="0"/>
        </a:xfrm>
      </p:grpSpPr>
      <p:sp>
        <p:nvSpPr>
          <p:cNvPr id="663" name="Google Shape;663;g3753e428164_3_172"/>
          <p:cNvSpPr txBox="1"/>
          <p:nvPr/>
        </p:nvSpPr>
        <p:spPr>
          <a:xfrm>
            <a:off x="457200" y="1121750"/>
            <a:ext cx="8358300" cy="4016100"/>
          </a:xfrm>
          <a:prstGeom prst="rect">
            <a:avLst/>
          </a:prstGeom>
          <a:noFill/>
          <a:ln>
            <a:noFill/>
          </a:ln>
        </p:spPr>
        <p:txBody>
          <a:bodyPr anchorCtr="0" anchor="t" bIns="0" lIns="0" spcFirstLastPara="1" rIns="0" wrap="square" tIns="13950">
            <a:spAutoFit/>
          </a:bodyPr>
          <a:lstStyle/>
          <a:p>
            <a:pPr indent="0" lvl="0" marL="0" marR="0" rtl="0" algn="ctr">
              <a:lnSpc>
                <a:spcPct val="150000"/>
              </a:lnSpc>
              <a:spcBef>
                <a:spcPts val="0"/>
              </a:spcBef>
              <a:spcAft>
                <a:spcPts val="0"/>
              </a:spcAft>
              <a:buClr>
                <a:srgbClr val="000000"/>
              </a:buClr>
              <a:buSzPts val="1400"/>
              <a:buFont typeface="Arial"/>
              <a:buNone/>
            </a:pPr>
            <a:r>
              <a:rPr b="1" i="0" lang="en-US" sz="1200" u="none" cap="none" strike="noStrike">
                <a:solidFill>
                  <a:schemeClr val="dk2"/>
                </a:solidFill>
                <a:latin typeface="Arial"/>
                <a:ea typeface="Arial"/>
                <a:cs typeface="Arial"/>
                <a:sym typeface="Arial"/>
              </a:rPr>
              <a:t>konversi tipe data (cast)</a:t>
            </a:r>
            <a:endParaRPr b="1" i="0" sz="1200" u="none" cap="none" strike="noStrike">
              <a:solidFill>
                <a:schemeClr val="dk2"/>
              </a:solidFill>
              <a:latin typeface="Arial"/>
              <a:ea typeface="Arial"/>
              <a:cs typeface="Arial"/>
              <a:sym typeface="Arial"/>
            </a:endParaRPr>
          </a:p>
          <a:p>
            <a:pPr indent="0" lvl="0" marL="0" marR="0" rtl="0" algn="ctr">
              <a:lnSpc>
                <a:spcPct val="150000"/>
              </a:lnSpc>
              <a:spcBef>
                <a:spcPts val="1200"/>
              </a:spcBef>
              <a:spcAft>
                <a:spcPts val="0"/>
              </a:spcAft>
              <a:buClr>
                <a:schemeClr val="dk1"/>
              </a:buClr>
              <a:buSzPts val="1100"/>
              <a:buFont typeface="Arial"/>
              <a:buNone/>
            </a:pPr>
            <a:r>
              <a:rPr b="0" i="0" lang="en-US" sz="1200" u="none" cap="none" strike="noStrike">
                <a:solidFill>
                  <a:schemeClr val="dk2"/>
                </a:solidFill>
                <a:latin typeface="Arial"/>
                <a:ea typeface="Arial"/>
                <a:cs typeface="Arial"/>
                <a:sym typeface="Arial"/>
              </a:rPr>
              <a:t>Cara untuk mengubah tipe data sebuah nilai.</a:t>
            </a:r>
            <a:endParaRPr b="0" i="0" sz="12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rPr b="0" i="0" lang="en-US" sz="1200" u="none" cap="none" strike="noStrike">
                <a:solidFill>
                  <a:schemeClr val="dk2"/>
                </a:solidFill>
                <a:latin typeface="Arial"/>
                <a:ea typeface="Arial"/>
                <a:cs typeface="Arial"/>
                <a:sym typeface="Arial"/>
              </a:rPr>
              <a:t>Python menyediakan beberapa fungsi utama untuk konversi:</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1200"/>
              </a:spcBef>
              <a:spcAft>
                <a:spcPts val="0"/>
              </a:spcAft>
              <a:buClr>
                <a:schemeClr val="dk2"/>
              </a:buClr>
              <a:buSzPts val="1200"/>
              <a:buFont typeface="Arial"/>
              <a:buChar char="-"/>
            </a:pPr>
            <a:r>
              <a:rPr b="1" i="0" lang="en-US" sz="1200" u="none" cap="none" strike="noStrike">
                <a:solidFill>
                  <a:schemeClr val="dk2"/>
                </a:solidFill>
                <a:latin typeface="Arial"/>
                <a:ea typeface="Arial"/>
                <a:cs typeface="Arial"/>
                <a:sym typeface="Arial"/>
              </a:rPr>
              <a:t>int()</a:t>
            </a:r>
            <a:r>
              <a:rPr b="0" i="0" lang="en-US" sz="1200" u="none" cap="none" strike="noStrike">
                <a:solidFill>
                  <a:schemeClr val="dk2"/>
                </a:solidFill>
                <a:latin typeface="Arial"/>
                <a:ea typeface="Arial"/>
                <a:cs typeface="Arial"/>
                <a:sym typeface="Arial"/>
              </a:rPr>
              <a:t>: Mengonversi nilai menjadi </a:t>
            </a:r>
            <a:r>
              <a:rPr b="1" i="0" lang="en-US" sz="1200" u="none" cap="none" strike="noStrike">
                <a:solidFill>
                  <a:schemeClr val="dk2"/>
                </a:solidFill>
                <a:latin typeface="Arial"/>
                <a:ea typeface="Arial"/>
                <a:cs typeface="Arial"/>
                <a:sym typeface="Arial"/>
              </a:rPr>
              <a:t>integer</a:t>
            </a:r>
            <a:r>
              <a:rPr b="0" i="0" lang="en-US" sz="1200" u="none" cap="none" strike="noStrike">
                <a:solidFill>
                  <a:schemeClr val="dk2"/>
                </a:solidFill>
                <a:latin typeface="Arial"/>
                <a:ea typeface="Arial"/>
                <a:cs typeface="Arial"/>
                <a:sym typeface="Arial"/>
              </a:rPr>
              <a:t> (bilangan bulat).</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0"/>
              </a:spcBef>
              <a:spcAft>
                <a:spcPts val="0"/>
              </a:spcAft>
              <a:buClr>
                <a:schemeClr val="dk2"/>
              </a:buClr>
              <a:buSzPts val="1200"/>
              <a:buFont typeface="Arial"/>
              <a:buChar char="-"/>
            </a:pPr>
            <a:r>
              <a:rPr b="1" i="0" lang="en-US" sz="1200" u="none" cap="none" strike="noStrike">
                <a:solidFill>
                  <a:schemeClr val="dk2"/>
                </a:solidFill>
                <a:latin typeface="Arial"/>
                <a:ea typeface="Arial"/>
                <a:cs typeface="Arial"/>
                <a:sym typeface="Arial"/>
              </a:rPr>
              <a:t>float()</a:t>
            </a:r>
            <a:r>
              <a:rPr b="0" i="0" lang="en-US" sz="1200" u="none" cap="none" strike="noStrike">
                <a:solidFill>
                  <a:schemeClr val="dk2"/>
                </a:solidFill>
                <a:latin typeface="Arial"/>
                <a:ea typeface="Arial"/>
                <a:cs typeface="Arial"/>
                <a:sym typeface="Arial"/>
              </a:rPr>
              <a:t>: Mengonversi nilai menjadi </a:t>
            </a:r>
            <a:r>
              <a:rPr b="1" i="0" lang="en-US" sz="1200" u="none" cap="none" strike="noStrike">
                <a:solidFill>
                  <a:schemeClr val="dk2"/>
                </a:solidFill>
                <a:latin typeface="Arial"/>
                <a:ea typeface="Arial"/>
                <a:cs typeface="Arial"/>
                <a:sym typeface="Arial"/>
              </a:rPr>
              <a:t>float</a:t>
            </a:r>
            <a:r>
              <a:rPr b="0" i="0" lang="en-US" sz="1200" u="none" cap="none" strike="noStrike">
                <a:solidFill>
                  <a:schemeClr val="dk2"/>
                </a:solidFill>
                <a:latin typeface="Arial"/>
                <a:ea typeface="Arial"/>
                <a:cs typeface="Arial"/>
                <a:sym typeface="Arial"/>
              </a:rPr>
              <a:t> (bilangan desimal).</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0"/>
              </a:spcBef>
              <a:spcAft>
                <a:spcPts val="0"/>
              </a:spcAft>
              <a:buClr>
                <a:schemeClr val="dk2"/>
              </a:buClr>
              <a:buSzPts val="1200"/>
              <a:buFont typeface="Arial"/>
              <a:buChar char="-"/>
            </a:pPr>
            <a:r>
              <a:rPr b="1" i="0" lang="en-US" sz="1200" u="none" cap="none" strike="noStrike">
                <a:solidFill>
                  <a:schemeClr val="dk2"/>
                </a:solidFill>
                <a:latin typeface="Arial"/>
                <a:ea typeface="Arial"/>
                <a:cs typeface="Arial"/>
                <a:sym typeface="Arial"/>
              </a:rPr>
              <a:t>str()</a:t>
            </a:r>
            <a:r>
              <a:rPr b="0" i="0" lang="en-US" sz="1200" u="none" cap="none" strike="noStrike">
                <a:solidFill>
                  <a:schemeClr val="dk2"/>
                </a:solidFill>
                <a:latin typeface="Arial"/>
                <a:ea typeface="Arial"/>
                <a:cs typeface="Arial"/>
                <a:sym typeface="Arial"/>
              </a:rPr>
              <a:t>: Mengonversi nilai menjadi </a:t>
            </a:r>
            <a:r>
              <a:rPr b="1" i="0" lang="en-US" sz="1200" u="none" cap="none" strike="noStrike">
                <a:solidFill>
                  <a:schemeClr val="dk2"/>
                </a:solidFill>
                <a:latin typeface="Arial"/>
                <a:ea typeface="Arial"/>
                <a:cs typeface="Arial"/>
                <a:sym typeface="Arial"/>
              </a:rPr>
              <a:t>string</a:t>
            </a:r>
            <a:r>
              <a:rPr b="0" i="0" lang="en-US" sz="1200" u="none" cap="none" strike="noStrike">
                <a:solidFill>
                  <a:schemeClr val="dk2"/>
                </a:solidFill>
                <a:latin typeface="Arial"/>
                <a:ea typeface="Arial"/>
                <a:cs typeface="Arial"/>
                <a:sym typeface="Arial"/>
              </a:rPr>
              <a:t> (teks).</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0"/>
              </a:spcBef>
              <a:spcAft>
                <a:spcPts val="0"/>
              </a:spcAft>
              <a:buClr>
                <a:schemeClr val="dk2"/>
              </a:buClr>
              <a:buSzPts val="1200"/>
              <a:buFont typeface="Arial"/>
              <a:buChar char="-"/>
            </a:pPr>
            <a:r>
              <a:rPr b="1" i="0" lang="en-US" sz="1200" u="none" cap="none" strike="noStrike">
                <a:solidFill>
                  <a:schemeClr val="dk2"/>
                </a:solidFill>
                <a:latin typeface="Arial"/>
                <a:ea typeface="Arial"/>
                <a:cs typeface="Arial"/>
                <a:sym typeface="Arial"/>
              </a:rPr>
              <a:t>bool()</a:t>
            </a:r>
            <a:r>
              <a:rPr b="0" i="0" lang="en-US" sz="1200" u="none" cap="none" strike="noStrike">
                <a:solidFill>
                  <a:schemeClr val="dk2"/>
                </a:solidFill>
                <a:latin typeface="Arial"/>
                <a:ea typeface="Arial"/>
                <a:cs typeface="Arial"/>
                <a:sym typeface="Arial"/>
              </a:rPr>
              <a:t>: Mengonversi nilai menjadi </a:t>
            </a:r>
            <a:r>
              <a:rPr b="1" i="0" lang="en-US" sz="1200" u="none" cap="none" strike="noStrike">
                <a:solidFill>
                  <a:schemeClr val="dk2"/>
                </a:solidFill>
                <a:latin typeface="Arial"/>
                <a:ea typeface="Arial"/>
                <a:cs typeface="Arial"/>
                <a:sym typeface="Arial"/>
              </a:rPr>
              <a:t>boolean</a:t>
            </a:r>
            <a:r>
              <a:rPr b="0" i="0" lang="en-US" sz="1200" u="none" cap="none" strike="noStrike">
                <a:solidFill>
                  <a:schemeClr val="dk2"/>
                </a:solidFill>
                <a:latin typeface="Arial"/>
                <a:ea typeface="Arial"/>
                <a:cs typeface="Arial"/>
                <a:sym typeface="Arial"/>
              </a:rPr>
              <a:t> (True atau False).</a:t>
            </a:r>
            <a:endParaRPr b="0" i="0" sz="12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200"/>
              <a:buFont typeface="Arial"/>
              <a:buNone/>
            </a:pPr>
            <a:r>
              <a:rPr b="0" i="0" lang="en-US" sz="1200" u="none" cap="none" strike="noStrike">
                <a:solidFill>
                  <a:schemeClr val="dk2"/>
                </a:solidFill>
                <a:latin typeface="Arial"/>
                <a:ea typeface="Arial"/>
                <a:cs typeface="Arial"/>
                <a:sym typeface="Arial"/>
              </a:rPr>
              <a:t>Notes:</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1200"/>
              </a:spcBef>
              <a:spcAft>
                <a:spcPts val="0"/>
              </a:spcAft>
              <a:buClr>
                <a:schemeClr val="dk2"/>
              </a:buClr>
              <a:buSzPts val="1200"/>
              <a:buFont typeface="Arial"/>
              <a:buChar char="-"/>
            </a:pPr>
            <a:r>
              <a:rPr b="1" i="0" lang="en-US" sz="1200" u="none" cap="none" strike="noStrike">
                <a:solidFill>
                  <a:schemeClr val="dk2"/>
                </a:solidFill>
                <a:latin typeface="Arial"/>
                <a:ea typeface="Arial"/>
                <a:cs typeface="Arial"/>
                <a:sym typeface="Arial"/>
              </a:rPr>
              <a:t>int() dan float()</a:t>
            </a:r>
            <a:r>
              <a:rPr b="0" i="0" lang="en-US" sz="1200" u="none" cap="none" strike="noStrike">
                <a:solidFill>
                  <a:schemeClr val="dk2"/>
                </a:solidFill>
                <a:latin typeface="Arial"/>
                <a:ea typeface="Arial"/>
                <a:cs typeface="Arial"/>
                <a:sym typeface="Arial"/>
              </a:rPr>
              <a:t>: Tidak dapat mengonversi string yang tidak berisi angka (contoh: "harga"). Ini akan menghasilkan ValueError.</a:t>
            </a:r>
            <a:endParaRPr b="0" i="0" sz="1200" u="none" cap="none" strike="noStrike">
              <a:solidFill>
                <a:schemeClr val="dk2"/>
              </a:solidFill>
              <a:latin typeface="Arial"/>
              <a:ea typeface="Arial"/>
              <a:cs typeface="Arial"/>
              <a:sym typeface="Arial"/>
            </a:endParaRPr>
          </a:p>
          <a:p>
            <a:pPr indent="-304800" lvl="0" marL="457200" marR="0" rtl="0" algn="l">
              <a:lnSpc>
                <a:spcPct val="150000"/>
              </a:lnSpc>
              <a:spcBef>
                <a:spcPts val="0"/>
              </a:spcBef>
              <a:spcAft>
                <a:spcPts val="0"/>
              </a:spcAft>
              <a:buClr>
                <a:schemeClr val="dk2"/>
              </a:buClr>
              <a:buSzPts val="1200"/>
              <a:buFont typeface="Arial"/>
              <a:buChar char="-"/>
            </a:pPr>
            <a:r>
              <a:rPr b="1" i="0" lang="en-US" sz="1200" u="none" cap="none" strike="noStrike">
                <a:solidFill>
                  <a:schemeClr val="dk2"/>
                </a:solidFill>
                <a:latin typeface="Arial"/>
                <a:ea typeface="Arial"/>
                <a:cs typeface="Arial"/>
                <a:sym typeface="Arial"/>
              </a:rPr>
              <a:t>bool()</a:t>
            </a:r>
            <a:r>
              <a:rPr b="0" i="0" lang="en-US" sz="1200" u="none" cap="none" strike="noStrike">
                <a:solidFill>
                  <a:schemeClr val="dk2"/>
                </a:solidFill>
                <a:latin typeface="Arial"/>
                <a:ea typeface="Arial"/>
                <a:cs typeface="Arial"/>
                <a:sym typeface="Arial"/>
              </a:rPr>
              <a:t>: Nilai nol (0), string kosong (""), dan tipe data kosong lainnya akan menghasilkan False. Semua nilai lainnya akan menghasilkan True.</a:t>
            </a:r>
            <a:endParaRPr b="0" i="0" sz="1200" u="none" cap="none" strike="noStrike">
              <a:solidFill>
                <a:schemeClr val="dk2"/>
              </a:solidFill>
              <a:latin typeface="Arial"/>
              <a:ea typeface="Arial"/>
              <a:cs typeface="Arial"/>
              <a:sym typeface="Arial"/>
            </a:endParaRPr>
          </a:p>
        </p:txBody>
      </p:sp>
      <p:sp>
        <p:nvSpPr>
          <p:cNvPr id="664" name="Google Shape;664;g3753e428164_3_172"/>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665" name="Google Shape;665;g3753e428164_3_17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69" name="Shape 669"/>
        <p:cNvGrpSpPr/>
        <p:nvPr/>
      </p:nvGrpSpPr>
      <p:grpSpPr>
        <a:xfrm>
          <a:off x="0" y="0"/>
          <a:ext cx="0" cy="0"/>
          <a:chOff x="0" y="0"/>
          <a:chExt cx="0" cy="0"/>
        </a:xfrm>
      </p:grpSpPr>
      <p:sp>
        <p:nvSpPr>
          <p:cNvPr id="670" name="Google Shape;670;g3753e428164_3_215"/>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Konversi Tipe Data</a:t>
            </a:r>
            <a:endParaRPr b="1" i="0" sz="3600" u="none" cap="none" strike="noStrike">
              <a:solidFill>
                <a:srgbClr val="48A8C4"/>
              </a:solidFill>
              <a:latin typeface="Plus Jakarta Sans"/>
              <a:ea typeface="Plus Jakarta Sans"/>
              <a:cs typeface="Plus Jakarta Sans"/>
              <a:sym typeface="Plus Jakarta Sans"/>
            </a:endParaRPr>
          </a:p>
        </p:txBody>
      </p:sp>
      <p:pic>
        <p:nvPicPr>
          <p:cNvPr id="671" name="Google Shape;671;g3753e428164_3_21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graphicFrame>
        <p:nvGraphicFramePr>
          <p:cNvPr id="672" name="Google Shape;672;g3753e428164_3_215"/>
          <p:cNvGraphicFramePr/>
          <p:nvPr/>
        </p:nvGraphicFramePr>
        <p:xfrm>
          <a:off x="1514900" y="1121750"/>
          <a:ext cx="3000000" cy="3000000"/>
        </p:xfrm>
        <a:graphic>
          <a:graphicData uri="http://schemas.openxmlformats.org/drawingml/2006/table">
            <a:tbl>
              <a:tblPr>
                <a:noFill/>
                <a:tableStyleId>{B4366262-71F3-4DA0-BCD3-4DD03414E94B}</a:tableStyleId>
              </a:tblPr>
              <a:tblGrid>
                <a:gridCol w="1483125"/>
                <a:gridCol w="2947775"/>
                <a:gridCol w="1684875"/>
              </a:tblGrid>
              <a:tr h="200025">
                <a:tc>
                  <a:txBody>
                    <a:bodyPr/>
                    <a:lstStyle/>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Kode</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Output</a:t>
                      </a:r>
                      <a:endParaRPr b="1"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str </a:t>
                      </a:r>
                      <a:r>
                        <a:rPr lang="en-US" sz="1200">
                          <a:solidFill>
                            <a:schemeClr val="dk2"/>
                          </a:solidFill>
                        </a:rPr>
                        <a:t>→</a:t>
                      </a:r>
                      <a:r>
                        <a:rPr b="1" lang="en-US" sz="1200" u="none" cap="none" strike="noStrike">
                          <a:solidFill>
                            <a:schemeClr val="dk2"/>
                          </a:solidFill>
                        </a:rPr>
                        <a:t> int</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total = int("1500")</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1500</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str </a:t>
                      </a:r>
                      <a:r>
                        <a:rPr lang="en-US" sz="1200">
                          <a:solidFill>
                            <a:schemeClr val="dk2"/>
                          </a:solidFill>
                        </a:rPr>
                        <a:t>→</a:t>
                      </a:r>
                      <a:r>
                        <a:rPr b="1" lang="en-US" sz="1200" u="none" cap="none" strike="noStrike">
                          <a:solidFill>
                            <a:schemeClr val="dk2"/>
                          </a:solidFill>
                        </a:rPr>
                        <a:t> float</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persentase = float("0.75")</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0.75</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int </a:t>
                      </a:r>
                      <a:r>
                        <a:rPr lang="en-US" sz="1200">
                          <a:solidFill>
                            <a:schemeClr val="dk2"/>
                          </a:solidFill>
                        </a:rPr>
                        <a:t>→</a:t>
                      </a:r>
                      <a:r>
                        <a:rPr b="1" lang="en-US" sz="1200" u="none" cap="none" strike="noStrike">
                          <a:solidFill>
                            <a:schemeClr val="dk2"/>
                          </a:solidFill>
                        </a:rPr>
                        <a:t> str</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kode_area = str(212)</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'212'</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int </a:t>
                      </a:r>
                      <a:r>
                        <a:rPr lang="en-US" sz="1200">
                          <a:solidFill>
                            <a:schemeClr val="dk2"/>
                          </a:solidFill>
                        </a:rPr>
                        <a:t>→</a:t>
                      </a:r>
                      <a:r>
                        <a:rPr b="1" lang="en-US" sz="1200" u="none" cap="none" strike="noStrike">
                          <a:solidFill>
                            <a:schemeClr val="dk2"/>
                          </a:solidFill>
                        </a:rPr>
                        <a:t> float</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harga_satuan = float(15000)</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15000.0</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float </a:t>
                      </a:r>
                      <a:r>
                        <a:rPr lang="en-US" sz="1200">
                          <a:solidFill>
                            <a:schemeClr val="dk2"/>
                          </a:solidFill>
                        </a:rPr>
                        <a:t>→</a:t>
                      </a:r>
                      <a:r>
                        <a:rPr b="1" lang="en-US" sz="1200" u="none" cap="none" strike="noStrike">
                          <a:solidFill>
                            <a:schemeClr val="dk2"/>
                          </a:solidFill>
                        </a:rPr>
                        <a:t> int</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pesanan = int(35.7)</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35</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float </a:t>
                      </a:r>
                      <a:r>
                        <a:rPr lang="en-US" sz="1200">
                          <a:solidFill>
                            <a:schemeClr val="dk2"/>
                          </a:solidFill>
                        </a:rPr>
                        <a:t>→</a:t>
                      </a:r>
                      <a:r>
                        <a:rPr b="1" lang="en-US" sz="1200" u="none" cap="none" strike="noStrike">
                          <a:solidFill>
                            <a:schemeClr val="dk2"/>
                          </a:solidFill>
                        </a:rPr>
                        <a:t> str</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suhu = str(25.5)</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'25.5'</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int </a:t>
                      </a:r>
                      <a:r>
                        <a:rPr lang="en-US" sz="1200">
                          <a:solidFill>
                            <a:schemeClr val="dk2"/>
                          </a:solidFill>
                        </a:rPr>
                        <a:t>→</a:t>
                      </a:r>
                      <a:r>
                        <a:rPr b="1" lang="en-US" sz="1200" u="none" cap="none" strike="noStrike">
                          <a:solidFill>
                            <a:schemeClr val="dk2"/>
                          </a:solidFill>
                        </a:rPr>
                        <a:t> bool</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status = bool(1)</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True</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bool </a:t>
                      </a:r>
                      <a:r>
                        <a:rPr lang="en-US" sz="1200">
                          <a:solidFill>
                            <a:schemeClr val="dk2"/>
                          </a:solidFill>
                        </a:rPr>
                        <a:t>→</a:t>
                      </a:r>
                      <a:r>
                        <a:rPr b="1" lang="en-US" sz="1200" u="none" cap="none" strike="noStrike">
                          <a:solidFill>
                            <a:schemeClr val="dk2"/>
                          </a:solidFill>
                        </a:rPr>
                        <a:t> int</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nilai = int(True)</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1</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str </a:t>
                      </a:r>
                      <a:r>
                        <a:rPr lang="en-US" sz="1200">
                          <a:solidFill>
                            <a:schemeClr val="dk2"/>
                          </a:solidFill>
                        </a:rPr>
                        <a:t>→</a:t>
                      </a:r>
                      <a:r>
                        <a:rPr b="1" lang="en-US" sz="1200" u="none" cap="none" strike="noStrike">
                          <a:solidFill>
                            <a:schemeClr val="dk2"/>
                          </a:solidFill>
                        </a:rPr>
                        <a:t> bool</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status_aktif = bool("aktif")</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True</a:t>
                      </a:r>
                      <a:endParaRPr sz="1200" u="none" cap="none" strike="noStrike">
                        <a:solidFill>
                          <a:schemeClr val="dk2"/>
                        </a:solidFill>
                      </a:endParaRPr>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2"/>
                          </a:solidFill>
                        </a:rPr>
                        <a:t>bool </a:t>
                      </a:r>
                      <a:r>
                        <a:rPr lang="en-US" sz="1200">
                          <a:solidFill>
                            <a:schemeClr val="dk2"/>
                          </a:solidFill>
                        </a:rPr>
                        <a:t>→</a:t>
                      </a:r>
                      <a:r>
                        <a:rPr b="1" lang="en-US" sz="1200" u="none" cap="none" strike="noStrike">
                          <a:solidFill>
                            <a:schemeClr val="dk2"/>
                          </a:solidFill>
                        </a:rPr>
                        <a:t> str</a:t>
                      </a:r>
                      <a:endParaRPr b="1"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is_valid = str(False)</a:t>
                      </a:r>
                      <a:endParaRPr sz="1200" u="none" cap="none" strike="noStrike">
                        <a:solidFill>
                          <a:schemeClr val="dk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2"/>
                          </a:solidFill>
                        </a:rPr>
                        <a:t>'False'</a:t>
                      </a:r>
                      <a:endParaRPr sz="1200" u="none" cap="none" strike="noStrike">
                        <a:solidFill>
                          <a:schemeClr val="dk2"/>
                        </a:solidFill>
                      </a:endParaRPr>
                    </a:p>
                  </a:txBody>
                  <a:tcPr marT="91425" marB="91425" marR="91425" marL="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76" name="Shape 676"/>
        <p:cNvGrpSpPr/>
        <p:nvPr/>
      </p:nvGrpSpPr>
      <p:grpSpPr>
        <a:xfrm>
          <a:off x="0" y="0"/>
          <a:ext cx="0" cy="0"/>
          <a:chOff x="0" y="0"/>
          <a:chExt cx="0" cy="0"/>
        </a:xfrm>
      </p:grpSpPr>
      <p:sp>
        <p:nvSpPr>
          <p:cNvPr id="677" name="Google Shape;677;g3753e428164_3_235"/>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678" name="Google Shape;678;g3753e428164_3_23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79" name="Google Shape;679;g3753e428164_3_235"/>
          <p:cNvSpPr txBox="1"/>
          <p:nvPr/>
        </p:nvSpPr>
        <p:spPr>
          <a:xfrm>
            <a:off x="457200" y="1121750"/>
            <a:ext cx="8358300" cy="13623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6A9955"/>
                </a:solidFill>
                <a:highlight>
                  <a:srgbClr val="1F1F1F"/>
                </a:highlight>
                <a:latin typeface="Consolas"/>
                <a:ea typeface="Consolas"/>
                <a:cs typeface="Consolas"/>
                <a:sym typeface="Consolas"/>
              </a:rPr>
              <a:t># Data penjualan harian</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9CDCFE"/>
                </a:solidFill>
                <a:highlight>
                  <a:srgbClr val="1F1F1F"/>
                </a:highlight>
                <a:latin typeface="Consolas"/>
                <a:ea typeface="Consolas"/>
                <a:cs typeface="Consolas"/>
                <a:sym typeface="Consolas"/>
              </a:rPr>
              <a:t>penjualan_harian_str</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"1500000"</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"Tipe data penjualan_harian sebelum:"</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penjualan_harian_str</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9CDCFE"/>
                </a:solidFill>
                <a:highlight>
                  <a:srgbClr val="1F1F1F"/>
                </a:highlight>
                <a:latin typeface="Consolas"/>
                <a:ea typeface="Consolas"/>
                <a:cs typeface="Consolas"/>
                <a:sym typeface="Consolas"/>
              </a:rPr>
              <a:t>penjualan_harian_int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penjualan_harian_str</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"Tipe data penjualan_harian setelah:"</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penjualan_harian_int</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p:txBody>
      </p:sp>
      <p:sp>
        <p:nvSpPr>
          <p:cNvPr id="680" name="Google Shape;680;g3753e428164_3_235"/>
          <p:cNvSpPr txBox="1"/>
          <p:nvPr/>
        </p:nvSpPr>
        <p:spPr>
          <a:xfrm>
            <a:off x="457200" y="2560250"/>
            <a:ext cx="8358300" cy="15699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6A9955"/>
                </a:solidFill>
                <a:highlight>
                  <a:srgbClr val="1F1F1F"/>
                </a:highlight>
                <a:latin typeface="Consolas"/>
                <a:ea typeface="Consolas"/>
                <a:cs typeface="Consolas"/>
                <a:sym typeface="Consolas"/>
              </a:rPr>
              <a:t># Data diskon persen</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diskon_persen_str</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"0.25"</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"Tipe data diskon_persen sebelum:"</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diskon_persen_str</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9CDCFE"/>
                </a:solidFill>
                <a:highlight>
                  <a:srgbClr val="1F1F1F"/>
                </a:highlight>
                <a:latin typeface="Consolas"/>
                <a:ea typeface="Consolas"/>
                <a:cs typeface="Consolas"/>
                <a:sym typeface="Consolas"/>
              </a:rPr>
              <a:t>diskon_persen_float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float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diskon_persen_str</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"Tipe data diskon_persen setelah:"</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4EC9B0"/>
                </a:solidFill>
                <a:highlight>
                  <a:srgbClr val="1F1F1F"/>
                </a:highlight>
                <a:latin typeface="Consolas"/>
                <a:ea typeface="Consolas"/>
                <a:cs typeface="Consolas"/>
                <a:sym typeface="Consolas"/>
              </a:rPr>
              <a:t>type</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9CDCFE"/>
                </a:solidFill>
                <a:highlight>
                  <a:srgbClr val="1F1F1F"/>
                </a:highlight>
                <a:latin typeface="Consolas"/>
                <a:ea typeface="Consolas"/>
                <a:cs typeface="Consolas"/>
                <a:sym typeface="Consolas"/>
              </a:rPr>
              <a:t>diskon_persen_float</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t/>
            </a:r>
            <a:endParaRPr b="0" i="0" sz="900" u="none" cap="none" strike="noStrike">
              <a:solidFill>
                <a:srgbClr val="6A9955"/>
              </a:solidFill>
              <a:highlight>
                <a:srgbClr val="1F1F1F"/>
              </a:highlight>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84" name="Shape 684"/>
        <p:cNvGrpSpPr/>
        <p:nvPr/>
      </p:nvGrpSpPr>
      <p:grpSpPr>
        <a:xfrm>
          <a:off x="0" y="0"/>
          <a:ext cx="0" cy="0"/>
          <a:chOff x="0" y="0"/>
          <a:chExt cx="0" cy="0"/>
        </a:xfrm>
      </p:grpSpPr>
      <p:sp>
        <p:nvSpPr>
          <p:cNvPr id="685" name="Google Shape;685;g3753e428164_3_186"/>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686" name="Google Shape;686;g3753e428164_3_186"/>
          <p:cNvGrpSpPr/>
          <p:nvPr/>
        </p:nvGrpSpPr>
        <p:grpSpPr>
          <a:xfrm>
            <a:off x="159" y="-214211"/>
            <a:ext cx="2765532" cy="2691752"/>
            <a:chOff x="9584423" y="-302695"/>
            <a:chExt cx="4822201" cy="4822201"/>
          </a:xfrm>
        </p:grpSpPr>
        <p:sp>
          <p:nvSpPr>
            <p:cNvPr id="687" name="Google Shape;687;g3753e428164_3_186"/>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88" name="Google Shape;688;g3753e428164_3_186"/>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89" name="Google Shape;689;g3753e428164_3_186"/>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0" name="Google Shape;690;g3753e428164_3_186"/>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691" name="Google Shape;691;g3753e428164_3_186"/>
          <p:cNvGrpSpPr/>
          <p:nvPr/>
        </p:nvGrpSpPr>
        <p:grpSpPr>
          <a:xfrm>
            <a:off x="-840830" y="1116257"/>
            <a:ext cx="5795400" cy="5795400"/>
            <a:chOff x="4094945" y="667082"/>
            <a:chExt cx="5795400" cy="5795400"/>
          </a:xfrm>
        </p:grpSpPr>
        <p:sp>
          <p:nvSpPr>
            <p:cNvPr id="692" name="Google Shape;692;g3753e428164_3_186"/>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3" name="Google Shape;693;g3753e428164_3_186"/>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4" name="Google Shape;694;g3753e428164_3_186"/>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5" name="Google Shape;695;g3753e428164_3_186"/>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96" name="Google Shape;696;g3753e428164_3_18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700" name="Shape 700"/>
        <p:cNvGrpSpPr/>
        <p:nvPr/>
      </p:nvGrpSpPr>
      <p:grpSpPr>
        <a:xfrm>
          <a:off x="0" y="0"/>
          <a:ext cx="0" cy="0"/>
          <a:chOff x="0" y="0"/>
          <a:chExt cx="0" cy="0"/>
        </a:xfrm>
      </p:grpSpPr>
      <p:sp>
        <p:nvSpPr>
          <p:cNvPr id="701" name="Google Shape;701;g3755ce053d3_1_5"/>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Pop Up Quiz Time..</a:t>
            </a:r>
            <a:endParaRPr b="1" sz="3420">
              <a:solidFill>
                <a:schemeClr val="lt1"/>
              </a:solidFill>
              <a:latin typeface="Plus Jakarta Sans"/>
              <a:ea typeface="Plus Jakarta Sans"/>
              <a:cs typeface="Plus Jakarta Sans"/>
              <a:sym typeface="Plus Jakarta Sans"/>
            </a:endParaRPr>
          </a:p>
        </p:txBody>
      </p:sp>
      <p:pic>
        <p:nvPicPr>
          <p:cNvPr id="702" name="Google Shape;702;g3755ce053d3_1_5"/>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06" name="Shape 706"/>
        <p:cNvGrpSpPr/>
        <p:nvPr/>
      </p:nvGrpSpPr>
      <p:grpSpPr>
        <a:xfrm>
          <a:off x="0" y="0"/>
          <a:ext cx="0" cy="0"/>
          <a:chOff x="0" y="0"/>
          <a:chExt cx="0" cy="0"/>
        </a:xfrm>
      </p:grpSpPr>
      <p:sp>
        <p:nvSpPr>
          <p:cNvPr id="707" name="Google Shape;707;g3755ce053d3_1_32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t>
            </a:r>
            <a:r>
              <a:rPr b="1" lang="en-US" sz="1800">
                <a:latin typeface="Plus Jakarta Sans"/>
                <a:ea typeface="Plus Jakarta Sans"/>
                <a:cs typeface="Plus Jakarta Sans"/>
                <a:sym typeface="Plus Jakarta Sans"/>
              </a:rPr>
              <a:t>Manakah yang akan mengonversi 3.5 menjadi 3?</a:t>
            </a:r>
            <a:endParaRPr b="1" sz="1800">
              <a:latin typeface="Plus Jakarta Sans"/>
              <a:ea typeface="Plus Jakarta Sans"/>
              <a:cs typeface="Plus Jakarta Sans"/>
              <a:sym typeface="Plus Jakarta Sans"/>
            </a:endParaRPr>
          </a:p>
        </p:txBody>
      </p:sp>
      <p:grpSp>
        <p:nvGrpSpPr>
          <p:cNvPr id="708" name="Google Shape;708;g3755ce053d3_1_329"/>
          <p:cNvGrpSpPr/>
          <p:nvPr/>
        </p:nvGrpSpPr>
        <p:grpSpPr>
          <a:xfrm>
            <a:off x="158" y="-214211"/>
            <a:ext cx="2765532" cy="2691752"/>
            <a:chOff x="9584424" y="-302694"/>
            <a:chExt cx="4822200" cy="4822200"/>
          </a:xfrm>
        </p:grpSpPr>
        <p:sp>
          <p:nvSpPr>
            <p:cNvPr id="709" name="Google Shape;709;g3755ce053d3_1_32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10" name="Google Shape;710;g3755ce053d3_1_32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11" name="Google Shape;711;g3755ce053d3_1_32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12" name="Google Shape;712;g3755ce053d3_1_32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713" name="Google Shape;713;g3755ce053d3_1_329"/>
          <p:cNvGrpSpPr/>
          <p:nvPr/>
        </p:nvGrpSpPr>
        <p:grpSpPr>
          <a:xfrm>
            <a:off x="-840830" y="1116257"/>
            <a:ext cx="5795400" cy="5795400"/>
            <a:chOff x="4094945" y="667082"/>
            <a:chExt cx="5795400" cy="5795400"/>
          </a:xfrm>
        </p:grpSpPr>
        <p:sp>
          <p:nvSpPr>
            <p:cNvPr id="714" name="Google Shape;714;g3755ce053d3_1_32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15" name="Google Shape;715;g3755ce053d3_1_32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16" name="Google Shape;716;g3755ce053d3_1_32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17" name="Google Shape;717;g3755ce053d3_1_32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18" name="Google Shape;718;g3755ce053d3_1_32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719" name="Google Shape;719;g3755ce053d3_1_32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int(3.5)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float(3.5)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str(3.5)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bool(3.5)</a:t>
            </a:r>
            <a:endParaRPr sz="1800">
              <a:latin typeface="Plus Jakarta Sans"/>
              <a:ea typeface="Plus Jakarta Sans"/>
              <a:cs typeface="Plus Jakarta Sans"/>
              <a:sym typeface="Plus Jakarta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23" name="Shape 723"/>
        <p:cNvGrpSpPr/>
        <p:nvPr/>
      </p:nvGrpSpPr>
      <p:grpSpPr>
        <a:xfrm>
          <a:off x="0" y="0"/>
          <a:ext cx="0" cy="0"/>
          <a:chOff x="0" y="0"/>
          <a:chExt cx="0" cy="0"/>
        </a:xfrm>
      </p:grpSpPr>
      <p:sp>
        <p:nvSpPr>
          <p:cNvPr id="724" name="Google Shape;724;g3755ce053d3_1_72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Manakah yang akan mengonversi 3.5 menjadi 3?</a:t>
            </a:r>
            <a:endParaRPr b="1" sz="1800">
              <a:latin typeface="Plus Jakarta Sans"/>
              <a:ea typeface="Plus Jakarta Sans"/>
              <a:cs typeface="Plus Jakarta Sans"/>
              <a:sym typeface="Plus Jakarta Sans"/>
            </a:endParaRPr>
          </a:p>
        </p:txBody>
      </p:sp>
      <p:grpSp>
        <p:nvGrpSpPr>
          <p:cNvPr id="725" name="Google Shape;725;g3755ce053d3_1_729"/>
          <p:cNvGrpSpPr/>
          <p:nvPr/>
        </p:nvGrpSpPr>
        <p:grpSpPr>
          <a:xfrm>
            <a:off x="158" y="-214211"/>
            <a:ext cx="2765532" cy="2691752"/>
            <a:chOff x="9584424" y="-302694"/>
            <a:chExt cx="4822200" cy="4822200"/>
          </a:xfrm>
        </p:grpSpPr>
        <p:sp>
          <p:nvSpPr>
            <p:cNvPr id="726" name="Google Shape;726;g3755ce053d3_1_72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27" name="Google Shape;727;g3755ce053d3_1_72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28" name="Google Shape;728;g3755ce053d3_1_72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29" name="Google Shape;729;g3755ce053d3_1_72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730" name="Google Shape;730;g3755ce053d3_1_729"/>
          <p:cNvGrpSpPr/>
          <p:nvPr/>
        </p:nvGrpSpPr>
        <p:grpSpPr>
          <a:xfrm>
            <a:off x="-840830" y="1116257"/>
            <a:ext cx="5795400" cy="5795400"/>
            <a:chOff x="4094945" y="667082"/>
            <a:chExt cx="5795400" cy="5795400"/>
          </a:xfrm>
        </p:grpSpPr>
        <p:sp>
          <p:nvSpPr>
            <p:cNvPr id="731" name="Google Shape;731;g3755ce053d3_1_72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32" name="Google Shape;732;g3755ce053d3_1_72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33" name="Google Shape;733;g3755ce053d3_1_72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34" name="Google Shape;734;g3755ce053d3_1_72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35" name="Google Shape;735;g3755ce053d3_1_72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736" name="Google Shape;736;g3755ce053d3_1_72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int(3.5)</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float(3.5)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str(3.5)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bool(3.5)</a:t>
            </a:r>
            <a:endParaRPr sz="1800">
              <a:latin typeface="Plus Jakarta Sans"/>
              <a:ea typeface="Plus Jakarta Sans"/>
              <a:cs typeface="Plus Jakarta Sans"/>
              <a:sym typeface="Plus Jakarta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40" name="Shape 740"/>
        <p:cNvGrpSpPr/>
        <p:nvPr/>
      </p:nvGrpSpPr>
      <p:grpSpPr>
        <a:xfrm>
          <a:off x="0" y="0"/>
          <a:ext cx="0" cy="0"/>
          <a:chOff x="0" y="0"/>
          <a:chExt cx="0" cy="0"/>
        </a:xfrm>
      </p:grpSpPr>
      <p:sp>
        <p:nvSpPr>
          <p:cNvPr id="741" name="Google Shape;741;g3755ce053d3_1_34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t>
            </a:r>
            <a:r>
              <a:rPr b="1" lang="en-US" sz="1800">
                <a:latin typeface="Plus Jakarta Sans"/>
                <a:ea typeface="Plus Jakarta Sans"/>
                <a:cs typeface="Plus Jakarta Sans"/>
                <a:sym typeface="Plus Jakarta Sans"/>
              </a:rPr>
              <a:t>Apa yang terjadi saat mengonversi "Python" ke int?</a:t>
            </a:r>
            <a:endParaRPr b="1" sz="1800">
              <a:latin typeface="Plus Jakarta Sans"/>
              <a:ea typeface="Plus Jakarta Sans"/>
              <a:cs typeface="Plus Jakarta Sans"/>
              <a:sym typeface="Plus Jakarta Sans"/>
            </a:endParaRPr>
          </a:p>
        </p:txBody>
      </p:sp>
      <p:grpSp>
        <p:nvGrpSpPr>
          <p:cNvPr id="742" name="Google Shape;742;g3755ce053d3_1_345"/>
          <p:cNvGrpSpPr/>
          <p:nvPr/>
        </p:nvGrpSpPr>
        <p:grpSpPr>
          <a:xfrm>
            <a:off x="158" y="-214211"/>
            <a:ext cx="2765532" cy="2691752"/>
            <a:chOff x="9584424" y="-302694"/>
            <a:chExt cx="4822200" cy="4822200"/>
          </a:xfrm>
        </p:grpSpPr>
        <p:sp>
          <p:nvSpPr>
            <p:cNvPr id="743" name="Google Shape;743;g3755ce053d3_1_34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44" name="Google Shape;744;g3755ce053d3_1_34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45" name="Google Shape;745;g3755ce053d3_1_34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46" name="Google Shape;746;g3755ce053d3_1_34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747" name="Google Shape;747;g3755ce053d3_1_345"/>
          <p:cNvGrpSpPr/>
          <p:nvPr/>
        </p:nvGrpSpPr>
        <p:grpSpPr>
          <a:xfrm>
            <a:off x="-840830" y="1116257"/>
            <a:ext cx="5795400" cy="5795400"/>
            <a:chOff x="4094945" y="667082"/>
            <a:chExt cx="5795400" cy="5795400"/>
          </a:xfrm>
        </p:grpSpPr>
        <p:sp>
          <p:nvSpPr>
            <p:cNvPr id="748" name="Google Shape;748;g3755ce053d3_1_34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49" name="Google Shape;749;g3755ce053d3_1_34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0" name="Google Shape;750;g3755ce053d3_1_34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1" name="Google Shape;751;g3755ce053d3_1_34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52" name="Google Shape;752;g3755ce053d3_1_34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753" name="Google Shape;753;g3755ce053d3_1_34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Menghasilkan SyntaxError.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Menghasilkan ValueError.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menjadi 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Tidak ada yang terjadi.</a:t>
            </a:r>
            <a:endParaRPr sz="1800">
              <a:latin typeface="Plus Jakarta Sans"/>
              <a:ea typeface="Plus Jakarta Sans"/>
              <a:cs typeface="Plus Jakarta Sans"/>
              <a:sym typeface="Plus Jakarta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57" name="Shape 757"/>
        <p:cNvGrpSpPr/>
        <p:nvPr/>
      </p:nvGrpSpPr>
      <p:grpSpPr>
        <a:xfrm>
          <a:off x="0" y="0"/>
          <a:ext cx="0" cy="0"/>
          <a:chOff x="0" y="0"/>
          <a:chExt cx="0" cy="0"/>
        </a:xfrm>
      </p:grpSpPr>
      <p:sp>
        <p:nvSpPr>
          <p:cNvPr id="758" name="Google Shape;758;g3755ce053d3_1_74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Apa yang terjadi saat mengonversi "Python" ke int?</a:t>
            </a:r>
            <a:endParaRPr b="1" sz="1800">
              <a:latin typeface="Plus Jakarta Sans"/>
              <a:ea typeface="Plus Jakarta Sans"/>
              <a:cs typeface="Plus Jakarta Sans"/>
              <a:sym typeface="Plus Jakarta Sans"/>
            </a:endParaRPr>
          </a:p>
        </p:txBody>
      </p:sp>
      <p:grpSp>
        <p:nvGrpSpPr>
          <p:cNvPr id="759" name="Google Shape;759;g3755ce053d3_1_745"/>
          <p:cNvGrpSpPr/>
          <p:nvPr/>
        </p:nvGrpSpPr>
        <p:grpSpPr>
          <a:xfrm>
            <a:off x="158" y="-214211"/>
            <a:ext cx="2765532" cy="2691752"/>
            <a:chOff x="9584424" y="-302694"/>
            <a:chExt cx="4822200" cy="4822200"/>
          </a:xfrm>
        </p:grpSpPr>
        <p:sp>
          <p:nvSpPr>
            <p:cNvPr id="760" name="Google Shape;760;g3755ce053d3_1_74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1" name="Google Shape;761;g3755ce053d3_1_74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2" name="Google Shape;762;g3755ce053d3_1_74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3" name="Google Shape;763;g3755ce053d3_1_74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764" name="Google Shape;764;g3755ce053d3_1_745"/>
          <p:cNvGrpSpPr/>
          <p:nvPr/>
        </p:nvGrpSpPr>
        <p:grpSpPr>
          <a:xfrm>
            <a:off x="-840830" y="1116257"/>
            <a:ext cx="5795400" cy="5795400"/>
            <a:chOff x="4094945" y="667082"/>
            <a:chExt cx="5795400" cy="5795400"/>
          </a:xfrm>
        </p:grpSpPr>
        <p:sp>
          <p:nvSpPr>
            <p:cNvPr id="765" name="Google Shape;765;g3755ce053d3_1_74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6" name="Google Shape;766;g3755ce053d3_1_74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7" name="Google Shape;767;g3755ce053d3_1_74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8" name="Google Shape;768;g3755ce053d3_1_74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69" name="Google Shape;769;g3755ce053d3_1_74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770" name="Google Shape;770;g3755ce053d3_1_74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Menghasilkan SyntaxError.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Menghasilkan ValueError.</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Nilai menjadi 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Tidak ada yang terjadi.</a:t>
            </a:r>
            <a:endParaRPr sz="1800">
              <a:latin typeface="Plus Jakarta Sans"/>
              <a:ea typeface="Plus Jakarta Sans"/>
              <a:cs typeface="Plus Jakarta Sans"/>
              <a:sym typeface="Plus Jakarta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74" name="Shape 774"/>
        <p:cNvGrpSpPr/>
        <p:nvPr/>
      </p:nvGrpSpPr>
      <p:grpSpPr>
        <a:xfrm>
          <a:off x="0" y="0"/>
          <a:ext cx="0" cy="0"/>
          <a:chOff x="0" y="0"/>
          <a:chExt cx="0" cy="0"/>
        </a:xfrm>
      </p:grpSpPr>
      <p:sp>
        <p:nvSpPr>
          <p:cNvPr id="775" name="Google Shape;775;g3755ce053d3_1_36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t>
            </a:r>
            <a:r>
              <a:rPr b="1" lang="en-US" sz="1800">
                <a:latin typeface="Plus Jakarta Sans"/>
                <a:ea typeface="Plus Jakarta Sans"/>
                <a:cs typeface="Plus Jakarta Sans"/>
                <a:sym typeface="Plus Jakarta Sans"/>
              </a:rPr>
              <a:t>Apa hasil dari print(type(str(123)))?</a:t>
            </a:r>
            <a:endParaRPr b="1" sz="1800">
              <a:latin typeface="Plus Jakarta Sans"/>
              <a:ea typeface="Plus Jakarta Sans"/>
              <a:cs typeface="Plus Jakarta Sans"/>
              <a:sym typeface="Plus Jakarta Sans"/>
            </a:endParaRPr>
          </a:p>
        </p:txBody>
      </p:sp>
      <p:grpSp>
        <p:nvGrpSpPr>
          <p:cNvPr id="776" name="Google Shape;776;g3755ce053d3_1_361"/>
          <p:cNvGrpSpPr/>
          <p:nvPr/>
        </p:nvGrpSpPr>
        <p:grpSpPr>
          <a:xfrm>
            <a:off x="158" y="-214211"/>
            <a:ext cx="2765532" cy="2691752"/>
            <a:chOff x="9584424" y="-302694"/>
            <a:chExt cx="4822200" cy="4822200"/>
          </a:xfrm>
        </p:grpSpPr>
        <p:sp>
          <p:nvSpPr>
            <p:cNvPr id="777" name="Google Shape;777;g3755ce053d3_1_36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78" name="Google Shape;778;g3755ce053d3_1_36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79" name="Google Shape;779;g3755ce053d3_1_36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80" name="Google Shape;780;g3755ce053d3_1_36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781" name="Google Shape;781;g3755ce053d3_1_361"/>
          <p:cNvGrpSpPr/>
          <p:nvPr/>
        </p:nvGrpSpPr>
        <p:grpSpPr>
          <a:xfrm>
            <a:off x="-840830" y="1116257"/>
            <a:ext cx="5795400" cy="5795400"/>
            <a:chOff x="4094945" y="667082"/>
            <a:chExt cx="5795400" cy="5795400"/>
          </a:xfrm>
        </p:grpSpPr>
        <p:sp>
          <p:nvSpPr>
            <p:cNvPr id="782" name="Google Shape;782;g3755ce053d3_1_36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83" name="Google Shape;783;g3755ce053d3_1_36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84" name="Google Shape;784;g3755ce053d3_1_36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85" name="Google Shape;785;g3755ce053d3_1_36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786" name="Google Shape;786;g3755ce053d3_1_36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787" name="Google Shape;787;g3755ce053d3_1_36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'int'&gt;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'float'&gt;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'str'&gt;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'bool'&gt;</a:t>
            </a:r>
            <a:endParaRPr sz="1800">
              <a:latin typeface="Plus Jakarta Sans"/>
              <a:ea typeface="Plus Jakarta Sans"/>
              <a:cs typeface="Plus Jakarta Sans"/>
              <a:sym typeface="Plus Jakarta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91" name="Shape 791"/>
        <p:cNvGrpSpPr/>
        <p:nvPr/>
      </p:nvGrpSpPr>
      <p:grpSpPr>
        <a:xfrm>
          <a:off x="0" y="0"/>
          <a:ext cx="0" cy="0"/>
          <a:chOff x="0" y="0"/>
          <a:chExt cx="0" cy="0"/>
        </a:xfrm>
      </p:grpSpPr>
      <p:sp>
        <p:nvSpPr>
          <p:cNvPr id="792" name="Google Shape;792;g3755ce053d3_1_76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Apa hasil dari print(type(str(123)))?</a:t>
            </a:r>
            <a:endParaRPr b="1" sz="1800">
              <a:latin typeface="Plus Jakarta Sans"/>
              <a:ea typeface="Plus Jakarta Sans"/>
              <a:cs typeface="Plus Jakarta Sans"/>
              <a:sym typeface="Plus Jakarta Sans"/>
            </a:endParaRPr>
          </a:p>
        </p:txBody>
      </p:sp>
      <p:grpSp>
        <p:nvGrpSpPr>
          <p:cNvPr id="793" name="Google Shape;793;g3755ce053d3_1_761"/>
          <p:cNvGrpSpPr/>
          <p:nvPr/>
        </p:nvGrpSpPr>
        <p:grpSpPr>
          <a:xfrm>
            <a:off x="158" y="-214211"/>
            <a:ext cx="2765532" cy="2691752"/>
            <a:chOff x="9584424" y="-302694"/>
            <a:chExt cx="4822200" cy="4822200"/>
          </a:xfrm>
        </p:grpSpPr>
        <p:sp>
          <p:nvSpPr>
            <p:cNvPr id="794" name="Google Shape;794;g3755ce053d3_1_76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95" name="Google Shape;795;g3755ce053d3_1_76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96" name="Google Shape;796;g3755ce053d3_1_76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97" name="Google Shape;797;g3755ce053d3_1_76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798" name="Google Shape;798;g3755ce053d3_1_761"/>
          <p:cNvGrpSpPr/>
          <p:nvPr/>
        </p:nvGrpSpPr>
        <p:grpSpPr>
          <a:xfrm>
            <a:off x="-840830" y="1116257"/>
            <a:ext cx="5795400" cy="5795400"/>
            <a:chOff x="4094945" y="667082"/>
            <a:chExt cx="5795400" cy="5795400"/>
          </a:xfrm>
        </p:grpSpPr>
        <p:sp>
          <p:nvSpPr>
            <p:cNvPr id="799" name="Google Shape;799;g3755ce053d3_1_76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00" name="Google Shape;800;g3755ce053d3_1_76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01" name="Google Shape;801;g3755ce053d3_1_76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02" name="Google Shape;802;g3755ce053d3_1_76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03" name="Google Shape;803;g3755ce053d3_1_76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804" name="Google Shape;804;g3755ce053d3_1_76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'int'&gt;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'float'&gt;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&lt;class 'str'&gt;</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'bool'&gt;</a:t>
            </a:r>
            <a:endParaRPr sz="1800">
              <a:latin typeface="Plus Jakarta Sans"/>
              <a:ea typeface="Plus Jakarta Sans"/>
              <a:cs typeface="Plus Jakarta Sans"/>
              <a:sym typeface="Plus Jakarta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08" name="Shape 808"/>
        <p:cNvGrpSpPr/>
        <p:nvPr/>
      </p:nvGrpSpPr>
      <p:grpSpPr>
        <a:xfrm>
          <a:off x="0" y="0"/>
          <a:ext cx="0" cy="0"/>
          <a:chOff x="0" y="0"/>
          <a:chExt cx="0" cy="0"/>
        </a:xfrm>
      </p:grpSpPr>
      <p:sp>
        <p:nvSpPr>
          <p:cNvPr id="809" name="Google Shape;809;g3755ce053d3_1_37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t>
            </a:r>
            <a:r>
              <a:rPr b="1" lang="en-US" sz="1800">
                <a:latin typeface="Plus Jakarta Sans"/>
                <a:ea typeface="Plus Jakarta Sans"/>
                <a:cs typeface="Plus Jakarta Sans"/>
                <a:sym typeface="Plus Jakarta Sans"/>
              </a:rPr>
              <a:t>Mengapa konversi tipe data itu penting?</a:t>
            </a:r>
            <a:endParaRPr b="1" sz="1800">
              <a:latin typeface="Plus Jakarta Sans"/>
              <a:ea typeface="Plus Jakarta Sans"/>
              <a:cs typeface="Plus Jakarta Sans"/>
              <a:sym typeface="Plus Jakarta Sans"/>
            </a:endParaRPr>
          </a:p>
        </p:txBody>
      </p:sp>
      <p:grpSp>
        <p:nvGrpSpPr>
          <p:cNvPr id="810" name="Google Shape;810;g3755ce053d3_1_377"/>
          <p:cNvGrpSpPr/>
          <p:nvPr/>
        </p:nvGrpSpPr>
        <p:grpSpPr>
          <a:xfrm>
            <a:off x="158" y="-214211"/>
            <a:ext cx="2765532" cy="2691752"/>
            <a:chOff x="9584424" y="-302694"/>
            <a:chExt cx="4822200" cy="4822200"/>
          </a:xfrm>
        </p:grpSpPr>
        <p:sp>
          <p:nvSpPr>
            <p:cNvPr id="811" name="Google Shape;811;g3755ce053d3_1_37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2" name="Google Shape;812;g3755ce053d3_1_37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3" name="Google Shape;813;g3755ce053d3_1_37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4" name="Google Shape;814;g3755ce053d3_1_37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815" name="Google Shape;815;g3755ce053d3_1_377"/>
          <p:cNvGrpSpPr/>
          <p:nvPr/>
        </p:nvGrpSpPr>
        <p:grpSpPr>
          <a:xfrm>
            <a:off x="-840830" y="1116257"/>
            <a:ext cx="5795400" cy="5795400"/>
            <a:chOff x="4094945" y="667082"/>
            <a:chExt cx="5795400" cy="5795400"/>
          </a:xfrm>
        </p:grpSpPr>
        <p:sp>
          <p:nvSpPr>
            <p:cNvPr id="816" name="Google Shape;816;g3755ce053d3_1_37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7" name="Google Shape;817;g3755ce053d3_1_37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8" name="Google Shape;818;g3755ce053d3_1_37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9" name="Google Shape;819;g3755ce053d3_1_37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20" name="Google Shape;820;g3755ce053d3_1_37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821" name="Google Shape;821;g3755ce053d3_1_377"/>
          <p:cNvSpPr txBox="1"/>
          <p:nvPr>
            <p:ph type="ctrTitle"/>
          </p:nvPr>
        </p:nvSpPr>
        <p:spPr>
          <a:xfrm>
            <a:off x="4496000" y="2248250"/>
            <a:ext cx="4281900" cy="21000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Membuat kode lebih panjang.</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Agar bisa melakukan operasi yang tepat.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Agar variabel tidak bisa diubah.</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Membuat program lebih lambat.</a:t>
            </a:r>
            <a:endParaRPr sz="1800">
              <a:latin typeface="Plus Jakarta Sans"/>
              <a:ea typeface="Plus Jakarta Sans"/>
              <a:cs typeface="Plus Jakarta Sans"/>
              <a:sym typeface="Plus Jakarta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25" name="Shape 825"/>
        <p:cNvGrpSpPr/>
        <p:nvPr/>
      </p:nvGrpSpPr>
      <p:grpSpPr>
        <a:xfrm>
          <a:off x="0" y="0"/>
          <a:ext cx="0" cy="0"/>
          <a:chOff x="0" y="0"/>
          <a:chExt cx="0" cy="0"/>
        </a:xfrm>
      </p:grpSpPr>
      <p:sp>
        <p:nvSpPr>
          <p:cNvPr id="826" name="Google Shape;826;g3755ce053d3_1_77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Mengapa konversi tipe data itu penting?</a:t>
            </a:r>
            <a:endParaRPr b="1" sz="1800">
              <a:latin typeface="Plus Jakarta Sans"/>
              <a:ea typeface="Plus Jakarta Sans"/>
              <a:cs typeface="Plus Jakarta Sans"/>
              <a:sym typeface="Plus Jakarta Sans"/>
            </a:endParaRPr>
          </a:p>
        </p:txBody>
      </p:sp>
      <p:grpSp>
        <p:nvGrpSpPr>
          <p:cNvPr id="827" name="Google Shape;827;g3755ce053d3_1_777"/>
          <p:cNvGrpSpPr/>
          <p:nvPr/>
        </p:nvGrpSpPr>
        <p:grpSpPr>
          <a:xfrm>
            <a:off x="158" y="-214211"/>
            <a:ext cx="2765532" cy="2691752"/>
            <a:chOff x="9584424" y="-302694"/>
            <a:chExt cx="4822200" cy="4822200"/>
          </a:xfrm>
        </p:grpSpPr>
        <p:sp>
          <p:nvSpPr>
            <p:cNvPr id="828" name="Google Shape;828;g3755ce053d3_1_77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29" name="Google Shape;829;g3755ce053d3_1_77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30" name="Google Shape;830;g3755ce053d3_1_77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31" name="Google Shape;831;g3755ce053d3_1_77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832" name="Google Shape;832;g3755ce053d3_1_777"/>
          <p:cNvGrpSpPr/>
          <p:nvPr/>
        </p:nvGrpSpPr>
        <p:grpSpPr>
          <a:xfrm>
            <a:off x="-840830" y="1116257"/>
            <a:ext cx="5795400" cy="5795400"/>
            <a:chOff x="4094945" y="667082"/>
            <a:chExt cx="5795400" cy="5795400"/>
          </a:xfrm>
        </p:grpSpPr>
        <p:sp>
          <p:nvSpPr>
            <p:cNvPr id="833" name="Google Shape;833;g3755ce053d3_1_77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34" name="Google Shape;834;g3755ce053d3_1_77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35" name="Google Shape;835;g3755ce053d3_1_77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36" name="Google Shape;836;g3755ce053d3_1_77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37" name="Google Shape;837;g3755ce053d3_1_77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838" name="Google Shape;838;g3755ce053d3_1_777"/>
          <p:cNvSpPr txBox="1"/>
          <p:nvPr>
            <p:ph type="ctrTitle"/>
          </p:nvPr>
        </p:nvSpPr>
        <p:spPr>
          <a:xfrm>
            <a:off x="4496000" y="2248250"/>
            <a:ext cx="4281900" cy="21000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Membuat kode lebih panjang.</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Agar bisa melakukan operasi yang tepat.</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Agar variabel tidak bisa diubah.</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Membuat program lebih lambat.</a:t>
            </a:r>
            <a:endParaRPr sz="1800">
              <a:latin typeface="Plus Jakarta Sans"/>
              <a:ea typeface="Plus Jakarta Sans"/>
              <a:cs typeface="Plus Jakarta Sans"/>
              <a:sym typeface="Plus Jakarta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42" name="Shape 842"/>
        <p:cNvGrpSpPr/>
        <p:nvPr/>
      </p:nvGrpSpPr>
      <p:grpSpPr>
        <a:xfrm>
          <a:off x="0" y="0"/>
          <a:ext cx="0" cy="0"/>
          <a:chOff x="0" y="0"/>
          <a:chExt cx="0" cy="0"/>
        </a:xfrm>
      </p:grpSpPr>
      <p:sp>
        <p:nvSpPr>
          <p:cNvPr id="843" name="Google Shape;843;g3755ce053d3_1_393"/>
          <p:cNvSpPr txBox="1"/>
          <p:nvPr>
            <p:ph type="ctrTitle"/>
          </p:nvPr>
        </p:nvSpPr>
        <p:spPr>
          <a:xfrm>
            <a:off x="4496000" y="1277950"/>
            <a:ext cx="42072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t>
            </a:r>
            <a:r>
              <a:rPr b="1" lang="en-US" sz="1800">
                <a:latin typeface="Plus Jakarta Sans"/>
                <a:ea typeface="Plus Jakarta Sans"/>
                <a:cs typeface="Plus Jakarta Sans"/>
                <a:sym typeface="Plus Jakarta Sans"/>
              </a:rPr>
              <a:t>Apa yang akan dicetak oleh print(float("25"))?</a:t>
            </a:r>
            <a:endParaRPr b="1" sz="1800">
              <a:latin typeface="Plus Jakarta Sans"/>
              <a:ea typeface="Plus Jakarta Sans"/>
              <a:cs typeface="Plus Jakarta Sans"/>
              <a:sym typeface="Plus Jakarta Sans"/>
            </a:endParaRPr>
          </a:p>
        </p:txBody>
      </p:sp>
      <p:grpSp>
        <p:nvGrpSpPr>
          <p:cNvPr id="844" name="Google Shape;844;g3755ce053d3_1_393"/>
          <p:cNvGrpSpPr/>
          <p:nvPr/>
        </p:nvGrpSpPr>
        <p:grpSpPr>
          <a:xfrm>
            <a:off x="158" y="-214211"/>
            <a:ext cx="2765532" cy="2691752"/>
            <a:chOff x="9584424" y="-302694"/>
            <a:chExt cx="4822200" cy="4822200"/>
          </a:xfrm>
        </p:grpSpPr>
        <p:sp>
          <p:nvSpPr>
            <p:cNvPr id="845" name="Google Shape;845;g3755ce053d3_1_39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46" name="Google Shape;846;g3755ce053d3_1_39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47" name="Google Shape;847;g3755ce053d3_1_39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48" name="Google Shape;848;g3755ce053d3_1_39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849" name="Google Shape;849;g3755ce053d3_1_393"/>
          <p:cNvGrpSpPr/>
          <p:nvPr/>
        </p:nvGrpSpPr>
        <p:grpSpPr>
          <a:xfrm>
            <a:off x="-840830" y="1116257"/>
            <a:ext cx="5795400" cy="5795400"/>
            <a:chOff x="4094945" y="667082"/>
            <a:chExt cx="5795400" cy="5795400"/>
          </a:xfrm>
        </p:grpSpPr>
        <p:sp>
          <p:nvSpPr>
            <p:cNvPr id="850" name="Google Shape;850;g3755ce053d3_1_39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51" name="Google Shape;851;g3755ce053d3_1_39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52" name="Google Shape;852;g3755ce053d3_1_39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53" name="Google Shape;853;g3755ce053d3_1_39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54" name="Google Shape;854;g3755ce053d3_1_39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855" name="Google Shape;855;g3755ce053d3_1_39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25.0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59" name="Shape 859"/>
        <p:cNvGrpSpPr/>
        <p:nvPr/>
      </p:nvGrpSpPr>
      <p:grpSpPr>
        <a:xfrm>
          <a:off x="0" y="0"/>
          <a:ext cx="0" cy="0"/>
          <a:chOff x="0" y="0"/>
          <a:chExt cx="0" cy="0"/>
        </a:xfrm>
      </p:grpSpPr>
      <p:sp>
        <p:nvSpPr>
          <p:cNvPr id="860" name="Google Shape;860;g3755ce053d3_1_793"/>
          <p:cNvSpPr txBox="1"/>
          <p:nvPr>
            <p:ph type="ctrTitle"/>
          </p:nvPr>
        </p:nvSpPr>
        <p:spPr>
          <a:xfrm>
            <a:off x="4496000" y="1277950"/>
            <a:ext cx="42072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Apa yang akan dicetak oleh print(float("25"))?</a:t>
            </a:r>
            <a:endParaRPr b="1" sz="1800">
              <a:latin typeface="Plus Jakarta Sans"/>
              <a:ea typeface="Plus Jakarta Sans"/>
              <a:cs typeface="Plus Jakarta Sans"/>
              <a:sym typeface="Plus Jakarta Sans"/>
            </a:endParaRPr>
          </a:p>
        </p:txBody>
      </p:sp>
      <p:grpSp>
        <p:nvGrpSpPr>
          <p:cNvPr id="861" name="Google Shape;861;g3755ce053d3_1_793"/>
          <p:cNvGrpSpPr/>
          <p:nvPr/>
        </p:nvGrpSpPr>
        <p:grpSpPr>
          <a:xfrm>
            <a:off x="158" y="-214211"/>
            <a:ext cx="2765532" cy="2691752"/>
            <a:chOff x="9584424" y="-302694"/>
            <a:chExt cx="4822200" cy="4822200"/>
          </a:xfrm>
        </p:grpSpPr>
        <p:sp>
          <p:nvSpPr>
            <p:cNvPr id="862" name="Google Shape;862;g3755ce053d3_1_79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63" name="Google Shape;863;g3755ce053d3_1_79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64" name="Google Shape;864;g3755ce053d3_1_79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65" name="Google Shape;865;g3755ce053d3_1_79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866" name="Google Shape;866;g3755ce053d3_1_793"/>
          <p:cNvGrpSpPr/>
          <p:nvPr/>
        </p:nvGrpSpPr>
        <p:grpSpPr>
          <a:xfrm>
            <a:off x="-840830" y="1116257"/>
            <a:ext cx="5795400" cy="5795400"/>
            <a:chOff x="4094945" y="667082"/>
            <a:chExt cx="5795400" cy="5795400"/>
          </a:xfrm>
        </p:grpSpPr>
        <p:sp>
          <p:nvSpPr>
            <p:cNvPr id="867" name="Google Shape;867;g3755ce053d3_1_79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68" name="Google Shape;868;g3755ce053d3_1_79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69" name="Google Shape;869;g3755ce053d3_1_79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0" name="Google Shape;870;g3755ce053d3_1_79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871" name="Google Shape;871;g3755ce053d3_1_79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872" name="Google Shape;872;g3755ce053d3_1_79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25.0</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76" name="Shape 876"/>
        <p:cNvGrpSpPr/>
        <p:nvPr/>
      </p:nvGrpSpPr>
      <p:grpSpPr>
        <a:xfrm>
          <a:off x="0" y="0"/>
          <a:ext cx="0" cy="0"/>
          <a:chOff x="0" y="0"/>
          <a:chExt cx="0" cy="0"/>
        </a:xfrm>
      </p:grpSpPr>
      <p:sp>
        <p:nvSpPr>
          <p:cNvPr id="877" name="Google Shape;877;g3753e428164_3_250"/>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8" name="Google Shape;878;g3753e428164_3_250"/>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9" name="Google Shape;879;g3753e428164_3_250"/>
          <p:cNvSpPr/>
          <p:nvPr/>
        </p:nvSpPr>
        <p:spPr>
          <a:xfrm rot="-3576382">
            <a:off x="5139692" y="2219687"/>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880" name="Google Shape;880;g3753e428164_3_25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881" name="Google Shape;881;g3753e428164_3_250"/>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Input</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85" name="Shape 885"/>
        <p:cNvGrpSpPr/>
        <p:nvPr/>
      </p:nvGrpSpPr>
      <p:grpSpPr>
        <a:xfrm>
          <a:off x="0" y="0"/>
          <a:ext cx="0" cy="0"/>
          <a:chOff x="0" y="0"/>
          <a:chExt cx="0" cy="0"/>
        </a:xfrm>
      </p:grpSpPr>
      <p:sp>
        <p:nvSpPr>
          <p:cNvPr id="886" name="Google Shape;886;g372b3c3285c_0_360"/>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887" name="Google Shape;887;g372b3c3285c_0_36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888" name="Google Shape;888;g372b3c3285c_0_360" title="A frustrated coder retyping customer data repeatedly name, age, income. A thought bubble shows a better way—data neatly stored in containers like boxes labeled with names. The scene suggests the n (1).png"/>
          <p:cNvPicPr preferRelativeResize="0"/>
          <p:nvPr/>
        </p:nvPicPr>
        <p:blipFill rotWithShape="1">
          <a:blip r:embed="rId4">
            <a:alphaModFix/>
          </a:blip>
          <a:srcRect b="0" l="0" r="0" t="0"/>
          <a:stretch/>
        </p:blipFill>
        <p:spPr>
          <a:xfrm>
            <a:off x="3277375" y="1274145"/>
            <a:ext cx="2590804" cy="2590804"/>
          </a:xfrm>
          <a:prstGeom prst="rect">
            <a:avLst/>
          </a:prstGeom>
          <a:noFill/>
          <a:ln>
            <a:noFill/>
          </a:ln>
        </p:spPr>
      </p:pic>
      <p:sp>
        <p:nvSpPr>
          <p:cNvPr id="889" name="Google Shape;889;g372b3c3285c_0_360"/>
          <p:cNvSpPr txBox="1"/>
          <p:nvPr/>
        </p:nvSpPr>
        <p:spPr>
          <a:xfrm>
            <a:off x="1962475" y="4017350"/>
            <a:ext cx="5220600" cy="845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Bagaimana cara meminta nama, usia, atau jumlah penjualan dari pengguna dan menyimpannya ke dalam variabel untuk diproses?</a:t>
            </a:r>
            <a:endParaRPr b="1" i="0" sz="1400" u="none" cap="none" strike="noStrike">
              <a:solidFill>
                <a:schemeClr val="dk2"/>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93" name="Shape 893"/>
        <p:cNvGrpSpPr/>
        <p:nvPr/>
      </p:nvGrpSpPr>
      <p:grpSpPr>
        <a:xfrm>
          <a:off x="0" y="0"/>
          <a:ext cx="0" cy="0"/>
          <a:chOff x="0" y="0"/>
          <a:chExt cx="0" cy="0"/>
        </a:xfrm>
      </p:grpSpPr>
      <p:sp>
        <p:nvSpPr>
          <p:cNvPr id="894" name="Google Shape;894;g372b3c3285c_0_367"/>
          <p:cNvSpPr txBox="1"/>
          <p:nvPr/>
        </p:nvSpPr>
        <p:spPr>
          <a:xfrm>
            <a:off x="457200" y="1121750"/>
            <a:ext cx="5661000" cy="1029900"/>
          </a:xfrm>
          <a:prstGeom prst="rect">
            <a:avLst/>
          </a:prstGeom>
          <a:noFill/>
          <a:ln>
            <a:noFill/>
          </a:ln>
        </p:spPr>
        <p:txBody>
          <a:bodyPr anchorCtr="0" anchor="t" bIns="0" lIns="0" spcFirstLastPara="1" rIns="0" wrap="square" tIns="13950">
            <a:spAutoFit/>
          </a:bodyPr>
          <a:lstStyle/>
          <a:p>
            <a:pPr indent="0" lvl="0" marL="0" marR="0" rtl="0" algn="ctr">
              <a:lnSpc>
                <a:spcPct val="150000"/>
              </a:lnSpc>
              <a:spcBef>
                <a:spcPts val="0"/>
              </a:spcBef>
              <a:spcAft>
                <a:spcPts val="0"/>
              </a:spcAft>
              <a:buClr>
                <a:srgbClr val="000000"/>
              </a:buClr>
              <a:buSzPts val="1400"/>
              <a:buFont typeface="Arial"/>
              <a:buNone/>
            </a:pPr>
            <a:r>
              <a:t/>
            </a:r>
            <a:endParaRPr b="1"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rPr b="1" i="0" lang="en-US" sz="1200" u="none" cap="none" strike="noStrike">
                <a:solidFill>
                  <a:schemeClr val="dk2"/>
                </a:solidFill>
                <a:latin typeface="Arial"/>
                <a:ea typeface="Arial"/>
                <a:cs typeface="Arial"/>
                <a:sym typeface="Arial"/>
              </a:rPr>
              <a:t>input()</a:t>
            </a:r>
            <a:endParaRPr b="1" i="0" sz="12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rPr b="0" i="0" lang="en-US" sz="1200" u="none" cap="none" strike="noStrike">
                <a:solidFill>
                  <a:schemeClr val="dk2"/>
                </a:solidFill>
                <a:latin typeface="Arial"/>
                <a:ea typeface="Arial"/>
                <a:cs typeface="Arial"/>
                <a:sym typeface="Arial"/>
              </a:rPr>
              <a:t>memungkinkan program untuk berhenti sejenak, menunggu pengguna mengetikkan sesuatu, dan kemudian melanjutkan eksekusi kode setelah tombol Enter ditekan</a:t>
            </a:r>
            <a:endParaRPr b="0" i="0" sz="1200" u="none" cap="none" strike="noStrike">
              <a:solidFill>
                <a:schemeClr val="dk2"/>
              </a:solidFill>
              <a:latin typeface="Arial"/>
              <a:ea typeface="Arial"/>
              <a:cs typeface="Arial"/>
              <a:sym typeface="Arial"/>
            </a:endParaRPr>
          </a:p>
        </p:txBody>
      </p:sp>
      <p:sp>
        <p:nvSpPr>
          <p:cNvPr id="895" name="Google Shape;895;g372b3c3285c_0_36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896" name="Google Shape;896;g372b3c3285c_0_36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897" name="Google Shape;897;g372b3c3285c_0_367"/>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98" name="Google Shape;898;g372b3c3285c_0_367"/>
          <p:cNvSpPr txBox="1"/>
          <p:nvPr/>
        </p:nvSpPr>
        <p:spPr>
          <a:xfrm>
            <a:off x="444000" y="2362250"/>
            <a:ext cx="5687400" cy="19857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Minta input nama dari pengguna</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nama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DCDCAA"/>
                </a:solidFill>
                <a:highlight>
                  <a:srgbClr val="1F1F1F"/>
                </a:highlight>
                <a:latin typeface="Consolas"/>
                <a:ea typeface="Consolas"/>
                <a:cs typeface="Consolas"/>
                <a:sym typeface="Consolas"/>
              </a:rPr>
              <a:t>input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"Masukkan nama Anda: "</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usia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DCDCAA"/>
                </a:solidFill>
                <a:highlight>
                  <a:srgbClr val="1F1F1F"/>
                </a:highlight>
                <a:latin typeface="Consolas"/>
                <a:ea typeface="Consolas"/>
                <a:cs typeface="Consolas"/>
                <a:sym typeface="Consolas"/>
              </a:rPr>
              <a:t>input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"Masukkan usia Anda: "</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"Halo"</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nama</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"yang berusia"</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usia</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"tahun"</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Cek tipe data dari masing-masing input</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"Tipe data nama:"</a:t>
            </a:r>
            <a:r>
              <a:rPr lang="en-US" sz="900">
                <a:solidFill>
                  <a:srgbClr val="CCCCCC"/>
                </a:solidFill>
                <a:highlight>
                  <a:srgbClr val="1F1F1F"/>
                </a:highlight>
                <a:latin typeface="Consolas"/>
                <a:ea typeface="Consolas"/>
                <a:cs typeface="Consolas"/>
                <a:sym typeface="Consolas"/>
              </a:rPr>
              <a:t>, </a:t>
            </a:r>
            <a:r>
              <a:rPr lang="en-US" sz="900">
                <a:solidFill>
                  <a:srgbClr val="4EC9B0"/>
                </a:solidFill>
                <a:highlight>
                  <a:srgbClr val="1F1F1F"/>
                </a:highlight>
                <a:latin typeface="Consolas"/>
                <a:ea typeface="Consolas"/>
                <a:cs typeface="Consolas"/>
                <a:sym typeface="Consolas"/>
              </a:rPr>
              <a:t>type</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nama</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"Tipe data usia:"</a:t>
            </a:r>
            <a:r>
              <a:rPr lang="en-US" sz="900">
                <a:solidFill>
                  <a:srgbClr val="CCCCCC"/>
                </a:solidFill>
                <a:highlight>
                  <a:srgbClr val="1F1F1F"/>
                </a:highlight>
                <a:latin typeface="Consolas"/>
                <a:ea typeface="Consolas"/>
                <a:cs typeface="Consolas"/>
                <a:sym typeface="Consolas"/>
              </a:rPr>
              <a:t>, </a:t>
            </a:r>
            <a:r>
              <a:rPr lang="en-US" sz="900">
                <a:solidFill>
                  <a:srgbClr val="4EC9B0"/>
                </a:solidFill>
                <a:highlight>
                  <a:srgbClr val="1F1F1F"/>
                </a:highlight>
                <a:latin typeface="Consolas"/>
                <a:ea typeface="Consolas"/>
                <a:cs typeface="Consolas"/>
                <a:sym typeface="Consolas"/>
              </a:rPr>
              <a:t>type</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usia</a:t>
            </a:r>
            <a:r>
              <a:rPr lang="en-US" sz="900">
                <a:solidFill>
                  <a:srgbClr val="CCCCCC"/>
                </a:solidFill>
                <a:highlight>
                  <a:srgbClr val="1F1F1F"/>
                </a:highlight>
                <a:latin typeface="Consolas"/>
                <a:ea typeface="Consolas"/>
                <a:cs typeface="Consolas"/>
                <a:sym typeface="Consolas"/>
              </a:rPr>
              <a:t>))</a:t>
            </a:r>
            <a:endParaRPr sz="900">
              <a:solidFill>
                <a:srgbClr val="6A9955"/>
              </a:solidFill>
              <a:highlight>
                <a:srgbClr val="1F1F1F"/>
              </a:highlight>
              <a:latin typeface="Consolas"/>
              <a:ea typeface="Consolas"/>
              <a:cs typeface="Consolas"/>
              <a:sym typeface="Consolas"/>
            </a:endParaRPr>
          </a:p>
        </p:txBody>
      </p:sp>
      <p:sp>
        <p:nvSpPr>
          <p:cNvPr id="899" name="Google Shape;899;g372b3c3285c_0_367"/>
          <p:cNvSpPr txBox="1"/>
          <p:nvPr/>
        </p:nvSpPr>
        <p:spPr>
          <a:xfrm>
            <a:off x="457200" y="4558550"/>
            <a:ext cx="5661000" cy="47580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0"/>
              </a:spcBef>
              <a:spcAft>
                <a:spcPts val="0"/>
              </a:spcAft>
              <a:buClr>
                <a:srgbClr val="000000"/>
              </a:buClr>
              <a:buSzPts val="1400"/>
              <a:buFont typeface="Arial"/>
              <a:buNone/>
            </a:pPr>
            <a:r>
              <a:rPr b="1" i="0" lang="en-US" sz="1200" u="none" cap="none" strike="noStrike">
                <a:solidFill>
                  <a:schemeClr val="dk2"/>
                </a:solidFill>
                <a:latin typeface="Arial"/>
                <a:ea typeface="Arial"/>
                <a:cs typeface="Arial"/>
                <a:sym typeface="Arial"/>
              </a:rPr>
              <a:t>Penting</a:t>
            </a:r>
            <a:r>
              <a:rPr b="0" i="0" lang="en-US" sz="1200" u="none" cap="none" strike="noStrike">
                <a:solidFill>
                  <a:schemeClr val="dk2"/>
                </a:solidFill>
                <a:latin typeface="Arial"/>
                <a:ea typeface="Arial"/>
                <a:cs typeface="Arial"/>
                <a:sym typeface="Arial"/>
              </a:rPr>
              <a:t>: Seluruh data yang diambil oleh input() selalu dianggap sebagai string (teks)</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03" name="Shape 903"/>
        <p:cNvGrpSpPr/>
        <p:nvPr/>
      </p:nvGrpSpPr>
      <p:grpSpPr>
        <a:xfrm>
          <a:off x="0" y="0"/>
          <a:ext cx="0" cy="0"/>
          <a:chOff x="0" y="0"/>
          <a:chExt cx="0" cy="0"/>
        </a:xfrm>
      </p:grpSpPr>
      <p:sp>
        <p:nvSpPr>
          <p:cNvPr id="904" name="Google Shape;904;g37548cf76b3_0_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905" name="Google Shape;905;g37548cf76b3_0_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906" name="Google Shape;906;g37548cf76b3_0_7"/>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07" name="Google Shape;907;g37548cf76b3_0_7"/>
          <p:cNvSpPr txBox="1"/>
          <p:nvPr/>
        </p:nvSpPr>
        <p:spPr>
          <a:xfrm>
            <a:off x="444000" y="1121750"/>
            <a:ext cx="5687400" cy="32325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Ambil input harga dan jumlah dari pengguna</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Perhatikan bahwa input ini masih dalam bentuk string</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harga_produk</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DCDCAA"/>
                </a:solidFill>
                <a:highlight>
                  <a:srgbClr val="1F1F1F"/>
                </a:highlight>
                <a:latin typeface="Consolas"/>
                <a:ea typeface="Consolas"/>
                <a:cs typeface="Consolas"/>
                <a:sym typeface="Consolas"/>
              </a:rPr>
              <a:t>input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"Masukkan harga produk (misal: 25000): "</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jumlah_pesanan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DCDCAA"/>
                </a:solidFill>
                <a:highlight>
                  <a:srgbClr val="1F1F1F"/>
                </a:highlight>
                <a:latin typeface="Consolas"/>
                <a:ea typeface="Consolas"/>
                <a:cs typeface="Consolas"/>
                <a:sym typeface="Consolas"/>
              </a:rPr>
              <a:t>input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"Masukkan jumlah pesanan (misal: 2): "</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Konversi string input menjadi angka agar bisa dihitung</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harga_produk</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4EC9B0"/>
                </a:solidFill>
                <a:highlight>
                  <a:srgbClr val="1F1F1F"/>
                </a:highlight>
                <a:latin typeface="Consolas"/>
                <a:ea typeface="Consolas"/>
                <a:cs typeface="Consolas"/>
                <a:sym typeface="Consolas"/>
              </a:rPr>
              <a:t>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harga_produk</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jumlah_pesanan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4EC9B0"/>
                </a:solidFill>
                <a:highlight>
                  <a:srgbClr val="1F1F1F"/>
                </a:highlight>
                <a:latin typeface="Consolas"/>
                <a:ea typeface="Consolas"/>
                <a:cs typeface="Consolas"/>
                <a:sym typeface="Consolas"/>
              </a:rPr>
              <a:t>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jumlah_pesanan</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Hitung total harga</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total_harga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harga_produk</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jumlah_pesanan</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Tampilkan hasilnya</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"Total harga pesanan adalah:"</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total_harga</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6A9955"/>
              </a:solidFill>
              <a:highlight>
                <a:srgbClr val="1F1F1F"/>
              </a:highlight>
              <a:latin typeface="Consolas"/>
              <a:ea typeface="Consolas"/>
              <a:cs typeface="Consolas"/>
              <a:sym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11" name="Shape 911"/>
        <p:cNvGrpSpPr/>
        <p:nvPr/>
      </p:nvGrpSpPr>
      <p:grpSpPr>
        <a:xfrm>
          <a:off x="0" y="0"/>
          <a:ext cx="0" cy="0"/>
          <a:chOff x="0" y="0"/>
          <a:chExt cx="0" cy="0"/>
        </a:xfrm>
      </p:grpSpPr>
      <p:sp>
        <p:nvSpPr>
          <p:cNvPr id="912" name="Google Shape;912;g37548cf76b3_0_72"/>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913" name="Google Shape;913;g37548cf76b3_0_72"/>
          <p:cNvGrpSpPr/>
          <p:nvPr/>
        </p:nvGrpSpPr>
        <p:grpSpPr>
          <a:xfrm>
            <a:off x="158" y="-214211"/>
            <a:ext cx="2765532" cy="2691752"/>
            <a:chOff x="9584424" y="-302694"/>
            <a:chExt cx="4822200" cy="4822200"/>
          </a:xfrm>
        </p:grpSpPr>
        <p:sp>
          <p:nvSpPr>
            <p:cNvPr id="914" name="Google Shape;914;g37548cf76b3_0_72"/>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15" name="Google Shape;915;g37548cf76b3_0_72"/>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16" name="Google Shape;916;g37548cf76b3_0_72"/>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17" name="Google Shape;917;g37548cf76b3_0_72"/>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918" name="Google Shape;918;g37548cf76b3_0_72"/>
          <p:cNvGrpSpPr/>
          <p:nvPr/>
        </p:nvGrpSpPr>
        <p:grpSpPr>
          <a:xfrm>
            <a:off x="-840830" y="1116257"/>
            <a:ext cx="5795400" cy="5795400"/>
            <a:chOff x="4094945" y="667082"/>
            <a:chExt cx="5795400" cy="5795400"/>
          </a:xfrm>
        </p:grpSpPr>
        <p:sp>
          <p:nvSpPr>
            <p:cNvPr id="919" name="Google Shape;919;g37548cf76b3_0_72"/>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20" name="Google Shape;920;g37548cf76b3_0_72"/>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21" name="Google Shape;921;g37548cf76b3_0_72"/>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22" name="Google Shape;922;g37548cf76b3_0_72"/>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923" name="Google Shape;923;g37548cf76b3_0_7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927" name="Shape 927"/>
        <p:cNvGrpSpPr/>
        <p:nvPr/>
      </p:nvGrpSpPr>
      <p:grpSpPr>
        <a:xfrm>
          <a:off x="0" y="0"/>
          <a:ext cx="0" cy="0"/>
          <a:chOff x="0" y="0"/>
          <a:chExt cx="0" cy="0"/>
        </a:xfrm>
      </p:grpSpPr>
      <p:sp>
        <p:nvSpPr>
          <p:cNvPr id="928" name="Google Shape;928;g3755ce053d3_1_10"/>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Pop Up Quiz Time..</a:t>
            </a:r>
            <a:endParaRPr b="1" sz="3420">
              <a:solidFill>
                <a:schemeClr val="lt1"/>
              </a:solidFill>
              <a:latin typeface="Plus Jakarta Sans"/>
              <a:ea typeface="Plus Jakarta Sans"/>
              <a:cs typeface="Plus Jakarta Sans"/>
              <a:sym typeface="Plus Jakarta Sans"/>
            </a:endParaRPr>
          </a:p>
        </p:txBody>
      </p:sp>
      <p:pic>
        <p:nvPicPr>
          <p:cNvPr id="929" name="Google Shape;929;g3755ce053d3_1_10"/>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33" name="Shape 933"/>
        <p:cNvGrpSpPr/>
        <p:nvPr/>
      </p:nvGrpSpPr>
      <p:grpSpPr>
        <a:xfrm>
          <a:off x="0" y="0"/>
          <a:ext cx="0" cy="0"/>
          <a:chOff x="0" y="0"/>
          <a:chExt cx="0" cy="0"/>
        </a:xfrm>
      </p:grpSpPr>
      <p:sp>
        <p:nvSpPr>
          <p:cNvPr id="934" name="Google Shape;934;g3755ce053d3_1_409"/>
          <p:cNvSpPr txBox="1"/>
          <p:nvPr>
            <p:ph type="ctrTitle"/>
          </p:nvPr>
        </p:nvSpPr>
        <p:spPr>
          <a:xfrm>
            <a:off x="4496000" y="1277950"/>
            <a:ext cx="39138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t>
            </a:r>
            <a:r>
              <a:rPr b="1" lang="en-US" sz="1800">
                <a:latin typeface="Plus Jakarta Sans"/>
                <a:ea typeface="Plus Jakarta Sans"/>
                <a:cs typeface="Plus Jakarta Sans"/>
                <a:sym typeface="Plus Jakarta Sans"/>
              </a:rPr>
              <a:t>Apa fungsi dari input() di Python?</a:t>
            </a:r>
            <a:endParaRPr b="1" sz="1800">
              <a:latin typeface="Plus Jakarta Sans"/>
              <a:ea typeface="Plus Jakarta Sans"/>
              <a:cs typeface="Plus Jakarta Sans"/>
              <a:sym typeface="Plus Jakarta Sans"/>
            </a:endParaRPr>
          </a:p>
        </p:txBody>
      </p:sp>
      <p:grpSp>
        <p:nvGrpSpPr>
          <p:cNvPr id="935" name="Google Shape;935;g3755ce053d3_1_409"/>
          <p:cNvGrpSpPr/>
          <p:nvPr/>
        </p:nvGrpSpPr>
        <p:grpSpPr>
          <a:xfrm>
            <a:off x="158" y="-214211"/>
            <a:ext cx="2765532" cy="2691752"/>
            <a:chOff x="9584424" y="-302694"/>
            <a:chExt cx="4822200" cy="4822200"/>
          </a:xfrm>
        </p:grpSpPr>
        <p:sp>
          <p:nvSpPr>
            <p:cNvPr id="936" name="Google Shape;936;g3755ce053d3_1_40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37" name="Google Shape;937;g3755ce053d3_1_40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38" name="Google Shape;938;g3755ce053d3_1_40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39" name="Google Shape;939;g3755ce053d3_1_40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940" name="Google Shape;940;g3755ce053d3_1_409"/>
          <p:cNvGrpSpPr/>
          <p:nvPr/>
        </p:nvGrpSpPr>
        <p:grpSpPr>
          <a:xfrm>
            <a:off x="-840830" y="1116257"/>
            <a:ext cx="5795400" cy="5795400"/>
            <a:chOff x="4094945" y="667082"/>
            <a:chExt cx="5795400" cy="5795400"/>
          </a:xfrm>
        </p:grpSpPr>
        <p:sp>
          <p:nvSpPr>
            <p:cNvPr id="941" name="Google Shape;941;g3755ce053d3_1_40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42" name="Google Shape;942;g3755ce053d3_1_40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43" name="Google Shape;943;g3755ce053d3_1_40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44" name="Google Shape;944;g3755ce053d3_1_40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945" name="Google Shape;945;g3755ce053d3_1_40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946" name="Google Shape;946;g3755ce053d3_1_409"/>
          <p:cNvSpPr txBox="1"/>
          <p:nvPr>
            <p:ph type="ctrTitle"/>
          </p:nvPr>
        </p:nvSpPr>
        <p:spPr>
          <a:xfrm>
            <a:off x="4496000" y="2248250"/>
            <a:ext cx="4281900" cy="23376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menampilkan output.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mengambil data dari pengguna.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menghitung operasi matematika.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menghentikan program.</a:t>
            </a:r>
            <a:endParaRPr sz="1800">
              <a:latin typeface="Plus Jakarta Sans"/>
              <a:ea typeface="Plus Jakarta Sans"/>
              <a:cs typeface="Plus Jakarta Sans"/>
              <a:sym typeface="Plus Jakarta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50" name="Shape 950"/>
        <p:cNvGrpSpPr/>
        <p:nvPr/>
      </p:nvGrpSpPr>
      <p:grpSpPr>
        <a:xfrm>
          <a:off x="0" y="0"/>
          <a:ext cx="0" cy="0"/>
          <a:chOff x="0" y="0"/>
          <a:chExt cx="0" cy="0"/>
        </a:xfrm>
      </p:grpSpPr>
      <p:sp>
        <p:nvSpPr>
          <p:cNvPr id="951" name="Google Shape;951;g3755ce053d3_1_809"/>
          <p:cNvSpPr txBox="1"/>
          <p:nvPr>
            <p:ph type="ctrTitle"/>
          </p:nvPr>
        </p:nvSpPr>
        <p:spPr>
          <a:xfrm>
            <a:off x="4496000" y="1277950"/>
            <a:ext cx="39138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Apa fungsi dari input() di Python?</a:t>
            </a:r>
            <a:endParaRPr b="1" sz="1800">
              <a:latin typeface="Plus Jakarta Sans"/>
              <a:ea typeface="Plus Jakarta Sans"/>
              <a:cs typeface="Plus Jakarta Sans"/>
              <a:sym typeface="Plus Jakarta Sans"/>
            </a:endParaRPr>
          </a:p>
        </p:txBody>
      </p:sp>
      <p:grpSp>
        <p:nvGrpSpPr>
          <p:cNvPr id="952" name="Google Shape;952;g3755ce053d3_1_809"/>
          <p:cNvGrpSpPr/>
          <p:nvPr/>
        </p:nvGrpSpPr>
        <p:grpSpPr>
          <a:xfrm>
            <a:off x="158" y="-214211"/>
            <a:ext cx="2765532" cy="2691752"/>
            <a:chOff x="9584424" y="-302694"/>
            <a:chExt cx="4822200" cy="4822200"/>
          </a:xfrm>
        </p:grpSpPr>
        <p:sp>
          <p:nvSpPr>
            <p:cNvPr id="953" name="Google Shape;953;g3755ce053d3_1_80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54" name="Google Shape;954;g3755ce053d3_1_80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55" name="Google Shape;955;g3755ce053d3_1_80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56" name="Google Shape;956;g3755ce053d3_1_80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957" name="Google Shape;957;g3755ce053d3_1_809"/>
          <p:cNvGrpSpPr/>
          <p:nvPr/>
        </p:nvGrpSpPr>
        <p:grpSpPr>
          <a:xfrm>
            <a:off x="-840830" y="1116257"/>
            <a:ext cx="5795400" cy="5795400"/>
            <a:chOff x="4094945" y="667082"/>
            <a:chExt cx="5795400" cy="5795400"/>
          </a:xfrm>
        </p:grpSpPr>
        <p:sp>
          <p:nvSpPr>
            <p:cNvPr id="958" name="Google Shape;958;g3755ce053d3_1_80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59" name="Google Shape;959;g3755ce053d3_1_80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60" name="Google Shape;960;g3755ce053d3_1_80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61" name="Google Shape;961;g3755ce053d3_1_80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962" name="Google Shape;962;g3755ce053d3_1_80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963" name="Google Shape;963;g3755ce053d3_1_809"/>
          <p:cNvSpPr txBox="1"/>
          <p:nvPr>
            <p:ph type="ctrTitle"/>
          </p:nvPr>
        </p:nvSpPr>
        <p:spPr>
          <a:xfrm>
            <a:off x="4496000" y="2248250"/>
            <a:ext cx="4281900" cy="23376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menampilkan output.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Untuk mengambil data dari pengguna.</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menghitung operasi matematika.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Untuk menghentikan program.</a:t>
            </a:r>
            <a:endParaRPr sz="1800">
              <a:latin typeface="Plus Jakarta Sans"/>
              <a:ea typeface="Plus Jakarta Sans"/>
              <a:cs typeface="Plus Jakarta Sans"/>
              <a:sym typeface="Plus Jakarta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67" name="Shape 967"/>
        <p:cNvGrpSpPr/>
        <p:nvPr/>
      </p:nvGrpSpPr>
      <p:grpSpPr>
        <a:xfrm>
          <a:off x="0" y="0"/>
          <a:ext cx="0" cy="0"/>
          <a:chOff x="0" y="0"/>
          <a:chExt cx="0" cy="0"/>
        </a:xfrm>
      </p:grpSpPr>
      <p:sp>
        <p:nvSpPr>
          <p:cNvPr id="968" name="Google Shape;968;g3755ce053d3_1_425"/>
          <p:cNvSpPr txBox="1"/>
          <p:nvPr>
            <p:ph type="ctrTitle"/>
          </p:nvPr>
        </p:nvSpPr>
        <p:spPr>
          <a:xfrm>
            <a:off x="4496000" y="1277950"/>
            <a:ext cx="42423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t>
            </a:r>
            <a:r>
              <a:rPr b="1" lang="en-US" sz="1800">
                <a:latin typeface="Plus Jakarta Sans"/>
                <a:ea typeface="Plus Jakarta Sans"/>
                <a:cs typeface="Plus Jakarta Sans"/>
                <a:sym typeface="Plus Jakarta Sans"/>
              </a:rPr>
              <a:t>Jika Anda meminta usia dari pengguna, apa yang perlu Anda lakukan pada inputnya?</a:t>
            </a:r>
            <a:endParaRPr b="1" sz="1800">
              <a:latin typeface="Plus Jakarta Sans"/>
              <a:ea typeface="Plus Jakarta Sans"/>
              <a:cs typeface="Plus Jakarta Sans"/>
              <a:sym typeface="Plus Jakarta Sans"/>
            </a:endParaRPr>
          </a:p>
        </p:txBody>
      </p:sp>
      <p:grpSp>
        <p:nvGrpSpPr>
          <p:cNvPr id="969" name="Google Shape;969;g3755ce053d3_1_425"/>
          <p:cNvGrpSpPr/>
          <p:nvPr/>
        </p:nvGrpSpPr>
        <p:grpSpPr>
          <a:xfrm>
            <a:off x="158" y="-214211"/>
            <a:ext cx="2765532" cy="2691752"/>
            <a:chOff x="9584424" y="-302694"/>
            <a:chExt cx="4822200" cy="4822200"/>
          </a:xfrm>
        </p:grpSpPr>
        <p:sp>
          <p:nvSpPr>
            <p:cNvPr id="970" name="Google Shape;970;g3755ce053d3_1_42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1" name="Google Shape;971;g3755ce053d3_1_42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2" name="Google Shape;972;g3755ce053d3_1_42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3" name="Google Shape;973;g3755ce053d3_1_42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974" name="Google Shape;974;g3755ce053d3_1_425"/>
          <p:cNvGrpSpPr/>
          <p:nvPr/>
        </p:nvGrpSpPr>
        <p:grpSpPr>
          <a:xfrm>
            <a:off x="-840830" y="1116257"/>
            <a:ext cx="5795400" cy="5795400"/>
            <a:chOff x="4094945" y="667082"/>
            <a:chExt cx="5795400" cy="5795400"/>
          </a:xfrm>
        </p:grpSpPr>
        <p:sp>
          <p:nvSpPr>
            <p:cNvPr id="975" name="Google Shape;975;g3755ce053d3_1_42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6" name="Google Shape;976;g3755ce053d3_1_42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7" name="Google Shape;977;g3755ce053d3_1_42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8" name="Google Shape;978;g3755ce053d3_1_42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979" name="Google Shape;979;g3755ce053d3_1_42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980" name="Google Shape;980;g3755ce053d3_1_425"/>
          <p:cNvSpPr txBox="1"/>
          <p:nvPr>
            <p:ph type="ctrTitle"/>
          </p:nvPr>
        </p:nvSpPr>
        <p:spPr>
          <a:xfrm>
            <a:off x="4496000" y="24006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Tidak perlu diubah.</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Mengonversinya ke int.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Mengonversinya ke str.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Mengonversinya ke float.</a:t>
            </a:r>
            <a:endParaRPr sz="1800">
              <a:latin typeface="Plus Jakarta Sans"/>
              <a:ea typeface="Plus Jakarta Sans"/>
              <a:cs typeface="Plus Jakarta Sans"/>
              <a:sym typeface="Plus Jakarta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84" name="Shape 984"/>
        <p:cNvGrpSpPr/>
        <p:nvPr/>
      </p:nvGrpSpPr>
      <p:grpSpPr>
        <a:xfrm>
          <a:off x="0" y="0"/>
          <a:ext cx="0" cy="0"/>
          <a:chOff x="0" y="0"/>
          <a:chExt cx="0" cy="0"/>
        </a:xfrm>
      </p:grpSpPr>
      <p:sp>
        <p:nvSpPr>
          <p:cNvPr id="985" name="Google Shape;985;g3755ce053d3_1_825"/>
          <p:cNvSpPr txBox="1"/>
          <p:nvPr>
            <p:ph type="ctrTitle"/>
          </p:nvPr>
        </p:nvSpPr>
        <p:spPr>
          <a:xfrm>
            <a:off x="4496000" y="1277950"/>
            <a:ext cx="42423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Jika Anda meminta usia dari pengguna, apa yang perlu Anda lakukan pada inputnya?</a:t>
            </a:r>
            <a:endParaRPr b="1" sz="1800">
              <a:latin typeface="Plus Jakarta Sans"/>
              <a:ea typeface="Plus Jakarta Sans"/>
              <a:cs typeface="Plus Jakarta Sans"/>
              <a:sym typeface="Plus Jakarta Sans"/>
            </a:endParaRPr>
          </a:p>
        </p:txBody>
      </p:sp>
      <p:grpSp>
        <p:nvGrpSpPr>
          <p:cNvPr id="986" name="Google Shape;986;g3755ce053d3_1_825"/>
          <p:cNvGrpSpPr/>
          <p:nvPr/>
        </p:nvGrpSpPr>
        <p:grpSpPr>
          <a:xfrm>
            <a:off x="158" y="-214211"/>
            <a:ext cx="2765532" cy="2691752"/>
            <a:chOff x="9584424" y="-302694"/>
            <a:chExt cx="4822200" cy="4822200"/>
          </a:xfrm>
        </p:grpSpPr>
        <p:sp>
          <p:nvSpPr>
            <p:cNvPr id="987" name="Google Shape;987;g3755ce053d3_1_82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88" name="Google Shape;988;g3755ce053d3_1_82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89" name="Google Shape;989;g3755ce053d3_1_82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90" name="Google Shape;990;g3755ce053d3_1_82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991" name="Google Shape;991;g3755ce053d3_1_825"/>
          <p:cNvGrpSpPr/>
          <p:nvPr/>
        </p:nvGrpSpPr>
        <p:grpSpPr>
          <a:xfrm>
            <a:off x="-840830" y="1116257"/>
            <a:ext cx="5795400" cy="5795400"/>
            <a:chOff x="4094945" y="667082"/>
            <a:chExt cx="5795400" cy="5795400"/>
          </a:xfrm>
        </p:grpSpPr>
        <p:sp>
          <p:nvSpPr>
            <p:cNvPr id="992" name="Google Shape;992;g3755ce053d3_1_82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93" name="Google Shape;993;g3755ce053d3_1_82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94" name="Google Shape;994;g3755ce053d3_1_82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95" name="Google Shape;995;g3755ce053d3_1_82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996" name="Google Shape;996;g3755ce053d3_1_82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997" name="Google Shape;997;g3755ce053d3_1_825"/>
          <p:cNvSpPr txBox="1"/>
          <p:nvPr>
            <p:ph type="ctrTitle"/>
          </p:nvPr>
        </p:nvSpPr>
        <p:spPr>
          <a:xfrm>
            <a:off x="4496000" y="24006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Tidak perlu diubah.</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Mengonversinya ke int.</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Mengonversinya ke str.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Mengonversinya ke float.</a:t>
            </a:r>
            <a:endParaRPr sz="1800">
              <a:latin typeface="Plus Jakarta Sans"/>
              <a:ea typeface="Plus Jakarta Sans"/>
              <a:cs typeface="Plus Jakarta Sans"/>
              <a:sym typeface="Plus Jakarta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01" name="Shape 1001"/>
        <p:cNvGrpSpPr/>
        <p:nvPr/>
      </p:nvGrpSpPr>
      <p:grpSpPr>
        <a:xfrm>
          <a:off x="0" y="0"/>
          <a:ext cx="0" cy="0"/>
          <a:chOff x="0" y="0"/>
          <a:chExt cx="0" cy="0"/>
        </a:xfrm>
      </p:grpSpPr>
      <p:sp>
        <p:nvSpPr>
          <p:cNvPr id="1002" name="Google Shape;1002;g3755ce053d3_1_441"/>
          <p:cNvSpPr txBox="1"/>
          <p:nvPr>
            <p:ph type="ctrTitle"/>
          </p:nvPr>
        </p:nvSpPr>
        <p:spPr>
          <a:xfrm>
            <a:off x="4496000" y="1277950"/>
            <a:ext cx="4591800" cy="915600"/>
          </a:xfrm>
          <a:prstGeom prst="rect">
            <a:avLst/>
          </a:prstGeom>
          <a:noFill/>
          <a:ln>
            <a:noFill/>
          </a:ln>
        </p:spPr>
        <p:txBody>
          <a:bodyPr anchorCtr="0" anchor="t" bIns="91450" lIns="91450" spcFirstLastPara="1" rIns="91450" wrap="square" tIns="91450">
            <a:normAutofit fontScale="90000"/>
          </a:bodyPr>
          <a:lstStyle/>
          <a:p>
            <a:pPr indent="0" lvl="0" marL="0" rtl="0" algn="l">
              <a:lnSpc>
                <a:spcPct val="115000"/>
              </a:lnSpc>
              <a:spcBef>
                <a:spcPts val="0"/>
              </a:spcBef>
              <a:spcAft>
                <a:spcPts val="0"/>
              </a:spcAft>
              <a:buSzPct val="321000"/>
              <a:buNone/>
            </a:pPr>
            <a:r>
              <a:rPr b="1" lang="en-US" sz="1800">
                <a:latin typeface="Plus Jakarta Sans"/>
                <a:ea typeface="Plus Jakarta Sans"/>
                <a:cs typeface="Plus Jakarta Sans"/>
                <a:sym typeface="Plus Jakarta Sans"/>
              </a:rPr>
              <a:t>3. </a:t>
            </a:r>
            <a:r>
              <a:rPr b="1" lang="en-US" sz="1800">
                <a:latin typeface="Plus Jakarta Sans"/>
                <a:ea typeface="Plus Jakarta Sans"/>
                <a:cs typeface="Plus Jakarta Sans"/>
                <a:sym typeface="Plus Jakarta Sans"/>
              </a:rPr>
              <a:t>Apa hasil dari print("Hello", input("Nama: ")) jika user mengetik "Ali"?</a:t>
            </a:r>
            <a:endParaRPr b="1" sz="1800">
              <a:latin typeface="Plus Jakarta Sans"/>
              <a:ea typeface="Plus Jakarta Sans"/>
              <a:cs typeface="Plus Jakarta Sans"/>
              <a:sym typeface="Plus Jakarta Sans"/>
            </a:endParaRPr>
          </a:p>
        </p:txBody>
      </p:sp>
      <p:grpSp>
        <p:nvGrpSpPr>
          <p:cNvPr id="1003" name="Google Shape;1003;g3755ce053d3_1_441"/>
          <p:cNvGrpSpPr/>
          <p:nvPr/>
        </p:nvGrpSpPr>
        <p:grpSpPr>
          <a:xfrm>
            <a:off x="158" y="-214211"/>
            <a:ext cx="2765532" cy="2691752"/>
            <a:chOff x="9584424" y="-302694"/>
            <a:chExt cx="4822200" cy="4822200"/>
          </a:xfrm>
        </p:grpSpPr>
        <p:sp>
          <p:nvSpPr>
            <p:cNvPr id="1004" name="Google Shape;1004;g3755ce053d3_1_44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05" name="Google Shape;1005;g3755ce053d3_1_44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06" name="Google Shape;1006;g3755ce053d3_1_44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07" name="Google Shape;1007;g3755ce053d3_1_44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008" name="Google Shape;1008;g3755ce053d3_1_441"/>
          <p:cNvGrpSpPr/>
          <p:nvPr/>
        </p:nvGrpSpPr>
        <p:grpSpPr>
          <a:xfrm>
            <a:off x="-840830" y="1116257"/>
            <a:ext cx="5795400" cy="5795400"/>
            <a:chOff x="4094945" y="667082"/>
            <a:chExt cx="5795400" cy="5795400"/>
          </a:xfrm>
        </p:grpSpPr>
        <p:sp>
          <p:nvSpPr>
            <p:cNvPr id="1009" name="Google Shape;1009;g3755ce053d3_1_44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10" name="Google Shape;1010;g3755ce053d3_1_44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11" name="Google Shape;1011;g3755ce053d3_1_44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12" name="Google Shape;1012;g3755ce053d3_1_44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13" name="Google Shape;1013;g3755ce053d3_1_44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014" name="Google Shape;1014;g3755ce053d3_1_44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Hello Ali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Nama: Hello Ali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Ali Hello</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Nama: Ali</a:t>
            </a:r>
            <a:endParaRPr sz="1800">
              <a:latin typeface="Plus Jakarta Sans"/>
              <a:ea typeface="Plus Jakarta Sans"/>
              <a:cs typeface="Plus Jakarta Sans"/>
              <a:sym typeface="Plus Jakarta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18" name="Shape 1018"/>
        <p:cNvGrpSpPr/>
        <p:nvPr/>
      </p:nvGrpSpPr>
      <p:grpSpPr>
        <a:xfrm>
          <a:off x="0" y="0"/>
          <a:ext cx="0" cy="0"/>
          <a:chOff x="0" y="0"/>
          <a:chExt cx="0" cy="0"/>
        </a:xfrm>
      </p:grpSpPr>
      <p:sp>
        <p:nvSpPr>
          <p:cNvPr id="1019" name="Google Shape;1019;g3755ce053d3_1_841"/>
          <p:cNvSpPr txBox="1"/>
          <p:nvPr>
            <p:ph type="ctrTitle"/>
          </p:nvPr>
        </p:nvSpPr>
        <p:spPr>
          <a:xfrm>
            <a:off x="4496000" y="1277950"/>
            <a:ext cx="4591800" cy="915600"/>
          </a:xfrm>
          <a:prstGeom prst="rect">
            <a:avLst/>
          </a:prstGeom>
          <a:noFill/>
          <a:ln>
            <a:noFill/>
          </a:ln>
        </p:spPr>
        <p:txBody>
          <a:bodyPr anchorCtr="0" anchor="t" bIns="91450" lIns="91450" spcFirstLastPara="1" rIns="91450" wrap="square" tIns="91450">
            <a:normAutofit fontScale="90000"/>
          </a:bodyPr>
          <a:lstStyle/>
          <a:p>
            <a:pPr indent="0" lvl="0" marL="0" rtl="0" algn="l">
              <a:lnSpc>
                <a:spcPct val="115000"/>
              </a:lnSpc>
              <a:spcBef>
                <a:spcPts val="0"/>
              </a:spcBef>
              <a:spcAft>
                <a:spcPts val="0"/>
              </a:spcAft>
              <a:buSzPct val="321000"/>
              <a:buNone/>
            </a:pPr>
            <a:r>
              <a:rPr b="1" lang="en-US" sz="1800">
                <a:latin typeface="Plus Jakarta Sans"/>
                <a:ea typeface="Plus Jakarta Sans"/>
                <a:cs typeface="Plus Jakarta Sans"/>
                <a:sym typeface="Plus Jakarta Sans"/>
              </a:rPr>
              <a:t>3. Apa hasil dari print("Hello", input("Nama: ")) jika user mengetik "Ali"?</a:t>
            </a:r>
            <a:endParaRPr b="1" sz="1800">
              <a:latin typeface="Plus Jakarta Sans"/>
              <a:ea typeface="Plus Jakarta Sans"/>
              <a:cs typeface="Plus Jakarta Sans"/>
              <a:sym typeface="Plus Jakarta Sans"/>
            </a:endParaRPr>
          </a:p>
        </p:txBody>
      </p:sp>
      <p:grpSp>
        <p:nvGrpSpPr>
          <p:cNvPr id="1020" name="Google Shape;1020;g3755ce053d3_1_841"/>
          <p:cNvGrpSpPr/>
          <p:nvPr/>
        </p:nvGrpSpPr>
        <p:grpSpPr>
          <a:xfrm>
            <a:off x="158" y="-214211"/>
            <a:ext cx="2765532" cy="2691752"/>
            <a:chOff x="9584424" y="-302694"/>
            <a:chExt cx="4822200" cy="4822200"/>
          </a:xfrm>
        </p:grpSpPr>
        <p:sp>
          <p:nvSpPr>
            <p:cNvPr id="1021" name="Google Shape;1021;g3755ce053d3_1_84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22" name="Google Shape;1022;g3755ce053d3_1_84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23" name="Google Shape;1023;g3755ce053d3_1_84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24" name="Google Shape;1024;g3755ce053d3_1_84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025" name="Google Shape;1025;g3755ce053d3_1_841"/>
          <p:cNvGrpSpPr/>
          <p:nvPr/>
        </p:nvGrpSpPr>
        <p:grpSpPr>
          <a:xfrm>
            <a:off x="-840830" y="1116257"/>
            <a:ext cx="5795400" cy="5795400"/>
            <a:chOff x="4094945" y="667082"/>
            <a:chExt cx="5795400" cy="5795400"/>
          </a:xfrm>
        </p:grpSpPr>
        <p:sp>
          <p:nvSpPr>
            <p:cNvPr id="1026" name="Google Shape;1026;g3755ce053d3_1_84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27" name="Google Shape;1027;g3755ce053d3_1_84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28" name="Google Shape;1028;g3755ce053d3_1_84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29" name="Google Shape;1029;g3755ce053d3_1_84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30" name="Google Shape;1030;g3755ce053d3_1_84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031" name="Google Shape;1031;g3755ce053d3_1_84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Hello Ali</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Nama: Hello Ali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Ali Hello</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Nama: Ali</a:t>
            </a:r>
            <a:endParaRPr sz="1800">
              <a:latin typeface="Plus Jakarta Sans"/>
              <a:ea typeface="Plus Jakarta Sans"/>
              <a:cs typeface="Plus Jakarta Sans"/>
              <a:sym typeface="Plus Jakarta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35" name="Shape 1035"/>
        <p:cNvGrpSpPr/>
        <p:nvPr/>
      </p:nvGrpSpPr>
      <p:grpSpPr>
        <a:xfrm>
          <a:off x="0" y="0"/>
          <a:ext cx="0" cy="0"/>
          <a:chOff x="0" y="0"/>
          <a:chExt cx="0" cy="0"/>
        </a:xfrm>
      </p:grpSpPr>
      <p:sp>
        <p:nvSpPr>
          <p:cNvPr id="1036" name="Google Shape;1036;g3755ce053d3_1_45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t>
            </a:r>
            <a:r>
              <a:rPr b="1" lang="en-US" sz="1800">
                <a:latin typeface="Plus Jakarta Sans"/>
                <a:ea typeface="Plus Jakarta Sans"/>
                <a:cs typeface="Plus Jakarta Sans"/>
                <a:sym typeface="Plus Jakarta Sans"/>
              </a:rPr>
              <a:t>Apa output dari print(type(input()))?</a:t>
            </a:r>
            <a:endParaRPr b="1" sz="1800">
              <a:latin typeface="Plus Jakarta Sans"/>
              <a:ea typeface="Plus Jakarta Sans"/>
              <a:cs typeface="Plus Jakarta Sans"/>
              <a:sym typeface="Plus Jakarta Sans"/>
            </a:endParaRPr>
          </a:p>
        </p:txBody>
      </p:sp>
      <p:grpSp>
        <p:nvGrpSpPr>
          <p:cNvPr id="1037" name="Google Shape;1037;g3755ce053d3_1_457"/>
          <p:cNvGrpSpPr/>
          <p:nvPr/>
        </p:nvGrpSpPr>
        <p:grpSpPr>
          <a:xfrm>
            <a:off x="158" y="-214211"/>
            <a:ext cx="2765532" cy="2691752"/>
            <a:chOff x="9584424" y="-302694"/>
            <a:chExt cx="4822200" cy="4822200"/>
          </a:xfrm>
        </p:grpSpPr>
        <p:sp>
          <p:nvSpPr>
            <p:cNvPr id="1038" name="Google Shape;1038;g3755ce053d3_1_45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39" name="Google Shape;1039;g3755ce053d3_1_45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0" name="Google Shape;1040;g3755ce053d3_1_45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1" name="Google Shape;1041;g3755ce053d3_1_45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042" name="Google Shape;1042;g3755ce053d3_1_457"/>
          <p:cNvGrpSpPr/>
          <p:nvPr/>
        </p:nvGrpSpPr>
        <p:grpSpPr>
          <a:xfrm>
            <a:off x="-840830" y="1116257"/>
            <a:ext cx="5795400" cy="5795400"/>
            <a:chOff x="4094945" y="667082"/>
            <a:chExt cx="5795400" cy="5795400"/>
          </a:xfrm>
        </p:grpSpPr>
        <p:sp>
          <p:nvSpPr>
            <p:cNvPr id="1043" name="Google Shape;1043;g3755ce053d3_1_45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4" name="Google Shape;1044;g3755ce053d3_1_45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5" name="Google Shape;1045;g3755ce053d3_1_45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6" name="Google Shape;1046;g3755ce053d3_1_45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47" name="Google Shape;1047;g3755ce053d3_1_45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048" name="Google Shape;1048;g3755ce053d3_1_45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'int'&gt;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'str'&gt;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'float'&gt;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'bool'&gt;</a:t>
            </a:r>
            <a:endParaRPr sz="1800">
              <a:latin typeface="Plus Jakarta Sans"/>
              <a:ea typeface="Plus Jakarta Sans"/>
              <a:cs typeface="Plus Jakarta Sans"/>
              <a:sym typeface="Plus Jakarta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52" name="Shape 1052"/>
        <p:cNvGrpSpPr/>
        <p:nvPr/>
      </p:nvGrpSpPr>
      <p:grpSpPr>
        <a:xfrm>
          <a:off x="0" y="0"/>
          <a:ext cx="0" cy="0"/>
          <a:chOff x="0" y="0"/>
          <a:chExt cx="0" cy="0"/>
        </a:xfrm>
      </p:grpSpPr>
      <p:sp>
        <p:nvSpPr>
          <p:cNvPr id="1053" name="Google Shape;1053;g3755ce053d3_1_85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Apa output dari print(type(input()))?</a:t>
            </a:r>
            <a:endParaRPr b="1" sz="1800">
              <a:latin typeface="Plus Jakarta Sans"/>
              <a:ea typeface="Plus Jakarta Sans"/>
              <a:cs typeface="Plus Jakarta Sans"/>
              <a:sym typeface="Plus Jakarta Sans"/>
            </a:endParaRPr>
          </a:p>
        </p:txBody>
      </p:sp>
      <p:grpSp>
        <p:nvGrpSpPr>
          <p:cNvPr id="1054" name="Google Shape;1054;g3755ce053d3_1_857"/>
          <p:cNvGrpSpPr/>
          <p:nvPr/>
        </p:nvGrpSpPr>
        <p:grpSpPr>
          <a:xfrm>
            <a:off x="158" y="-214211"/>
            <a:ext cx="2765532" cy="2691752"/>
            <a:chOff x="9584424" y="-302694"/>
            <a:chExt cx="4822200" cy="4822200"/>
          </a:xfrm>
        </p:grpSpPr>
        <p:sp>
          <p:nvSpPr>
            <p:cNvPr id="1055" name="Google Shape;1055;g3755ce053d3_1_85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56" name="Google Shape;1056;g3755ce053d3_1_85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57" name="Google Shape;1057;g3755ce053d3_1_85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58" name="Google Shape;1058;g3755ce053d3_1_85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059" name="Google Shape;1059;g3755ce053d3_1_857"/>
          <p:cNvGrpSpPr/>
          <p:nvPr/>
        </p:nvGrpSpPr>
        <p:grpSpPr>
          <a:xfrm>
            <a:off x="-840830" y="1116257"/>
            <a:ext cx="5795400" cy="5795400"/>
            <a:chOff x="4094945" y="667082"/>
            <a:chExt cx="5795400" cy="5795400"/>
          </a:xfrm>
        </p:grpSpPr>
        <p:sp>
          <p:nvSpPr>
            <p:cNvPr id="1060" name="Google Shape;1060;g3755ce053d3_1_85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1" name="Google Shape;1061;g3755ce053d3_1_85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2" name="Google Shape;1062;g3755ce053d3_1_85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3" name="Google Shape;1063;g3755ce053d3_1_85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64" name="Google Shape;1064;g3755ce053d3_1_85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065" name="Google Shape;1065;g3755ce053d3_1_85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'int'&gt;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&lt;class 'str'&gt;</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'float'&gt;</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&lt;class 'bool'&gt;</a:t>
            </a:r>
            <a:endParaRPr sz="1800">
              <a:latin typeface="Plus Jakarta Sans"/>
              <a:ea typeface="Plus Jakarta Sans"/>
              <a:cs typeface="Plus Jakarta Sans"/>
              <a:sym typeface="Plus Jakarta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69" name="Shape 1069"/>
        <p:cNvGrpSpPr/>
        <p:nvPr/>
      </p:nvGrpSpPr>
      <p:grpSpPr>
        <a:xfrm>
          <a:off x="0" y="0"/>
          <a:ext cx="0" cy="0"/>
          <a:chOff x="0" y="0"/>
          <a:chExt cx="0" cy="0"/>
        </a:xfrm>
      </p:grpSpPr>
      <p:sp>
        <p:nvSpPr>
          <p:cNvPr id="1070" name="Google Shape;1070;g3755ce053d3_1_473"/>
          <p:cNvSpPr txBox="1"/>
          <p:nvPr>
            <p:ph type="ctrTitle"/>
          </p:nvPr>
        </p:nvSpPr>
        <p:spPr>
          <a:xfrm>
            <a:off x="4496000" y="1277950"/>
            <a:ext cx="45357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t>
            </a:r>
            <a:r>
              <a:rPr b="1" lang="en-US" sz="1800">
                <a:latin typeface="Plus Jakarta Sans"/>
                <a:ea typeface="Plus Jakarta Sans"/>
                <a:cs typeface="Plus Jakarta Sans"/>
                <a:sym typeface="Plus Jakarta Sans"/>
              </a:rPr>
              <a:t>Jika harga = int(input()), apa yang terjadi jika user mengetik 25.5?</a:t>
            </a:r>
            <a:endParaRPr b="1" sz="18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5778"/>
              <a:buNone/>
            </a:pPr>
            <a:r>
              <a:t/>
            </a:r>
            <a:endParaRPr b="1" sz="1800">
              <a:latin typeface="Plus Jakarta Sans"/>
              <a:ea typeface="Plus Jakarta Sans"/>
              <a:cs typeface="Plus Jakarta Sans"/>
              <a:sym typeface="Plus Jakarta Sans"/>
            </a:endParaRPr>
          </a:p>
        </p:txBody>
      </p:sp>
      <p:grpSp>
        <p:nvGrpSpPr>
          <p:cNvPr id="1071" name="Google Shape;1071;g3755ce053d3_1_473"/>
          <p:cNvGrpSpPr/>
          <p:nvPr/>
        </p:nvGrpSpPr>
        <p:grpSpPr>
          <a:xfrm>
            <a:off x="158" y="-214211"/>
            <a:ext cx="2765532" cy="2691752"/>
            <a:chOff x="9584424" y="-302694"/>
            <a:chExt cx="4822200" cy="4822200"/>
          </a:xfrm>
        </p:grpSpPr>
        <p:sp>
          <p:nvSpPr>
            <p:cNvPr id="1072" name="Google Shape;1072;g3755ce053d3_1_47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3" name="Google Shape;1073;g3755ce053d3_1_47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4" name="Google Shape;1074;g3755ce053d3_1_47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5" name="Google Shape;1075;g3755ce053d3_1_47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076" name="Google Shape;1076;g3755ce053d3_1_473"/>
          <p:cNvGrpSpPr/>
          <p:nvPr/>
        </p:nvGrpSpPr>
        <p:grpSpPr>
          <a:xfrm>
            <a:off x="-840830" y="1116257"/>
            <a:ext cx="5795400" cy="5795400"/>
            <a:chOff x="4094945" y="667082"/>
            <a:chExt cx="5795400" cy="5795400"/>
          </a:xfrm>
        </p:grpSpPr>
        <p:sp>
          <p:nvSpPr>
            <p:cNvPr id="1077" name="Google Shape;1077;g3755ce053d3_1_47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8" name="Google Shape;1078;g3755ce053d3_1_47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9" name="Google Shape;1079;g3755ce053d3_1_47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80" name="Google Shape;1080;g3755ce053d3_1_47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81" name="Google Shape;1081;g3755ce053d3_1_47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082" name="Google Shape;1082;g3755ce053d3_1_473"/>
          <p:cNvSpPr txBox="1"/>
          <p:nvPr>
            <p:ph type="ctrTitle"/>
          </p:nvPr>
        </p:nvSpPr>
        <p:spPr>
          <a:xfrm>
            <a:off x="4496000" y="2248250"/>
            <a:ext cx="4281900" cy="21699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harga menjadi 25.5.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harga menjadi 25.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Program akan mengalami ValueError.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Program berjalan normal.</a:t>
            </a:r>
            <a:endParaRPr sz="1800">
              <a:latin typeface="Plus Jakarta Sans"/>
              <a:ea typeface="Plus Jakarta Sans"/>
              <a:cs typeface="Plus Jakarta Sans"/>
              <a:sym typeface="Plus Jakarta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86" name="Shape 1086"/>
        <p:cNvGrpSpPr/>
        <p:nvPr/>
      </p:nvGrpSpPr>
      <p:grpSpPr>
        <a:xfrm>
          <a:off x="0" y="0"/>
          <a:ext cx="0" cy="0"/>
          <a:chOff x="0" y="0"/>
          <a:chExt cx="0" cy="0"/>
        </a:xfrm>
      </p:grpSpPr>
      <p:sp>
        <p:nvSpPr>
          <p:cNvPr id="1087" name="Google Shape;1087;g3755ce053d3_1_873"/>
          <p:cNvSpPr txBox="1"/>
          <p:nvPr>
            <p:ph type="ctrTitle"/>
          </p:nvPr>
        </p:nvSpPr>
        <p:spPr>
          <a:xfrm>
            <a:off x="4496000" y="1277950"/>
            <a:ext cx="45357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Jika harga = int(input()), apa yang terjadi jika user mengetik 25.5?</a:t>
            </a:r>
            <a:endParaRPr b="1" sz="18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5778"/>
              <a:buNone/>
            </a:pPr>
            <a:r>
              <a:t/>
            </a:r>
            <a:endParaRPr b="1" sz="1800">
              <a:latin typeface="Plus Jakarta Sans"/>
              <a:ea typeface="Plus Jakarta Sans"/>
              <a:cs typeface="Plus Jakarta Sans"/>
              <a:sym typeface="Plus Jakarta Sans"/>
            </a:endParaRPr>
          </a:p>
        </p:txBody>
      </p:sp>
      <p:grpSp>
        <p:nvGrpSpPr>
          <p:cNvPr id="1088" name="Google Shape;1088;g3755ce053d3_1_873"/>
          <p:cNvGrpSpPr/>
          <p:nvPr/>
        </p:nvGrpSpPr>
        <p:grpSpPr>
          <a:xfrm>
            <a:off x="158" y="-214211"/>
            <a:ext cx="2765532" cy="2691752"/>
            <a:chOff x="9584424" y="-302694"/>
            <a:chExt cx="4822200" cy="4822200"/>
          </a:xfrm>
        </p:grpSpPr>
        <p:sp>
          <p:nvSpPr>
            <p:cNvPr id="1089" name="Google Shape;1089;g3755ce053d3_1_87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0" name="Google Shape;1090;g3755ce053d3_1_87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1" name="Google Shape;1091;g3755ce053d3_1_87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2" name="Google Shape;1092;g3755ce053d3_1_87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093" name="Google Shape;1093;g3755ce053d3_1_873"/>
          <p:cNvGrpSpPr/>
          <p:nvPr/>
        </p:nvGrpSpPr>
        <p:grpSpPr>
          <a:xfrm>
            <a:off x="-840830" y="1116257"/>
            <a:ext cx="5795400" cy="5795400"/>
            <a:chOff x="4094945" y="667082"/>
            <a:chExt cx="5795400" cy="5795400"/>
          </a:xfrm>
        </p:grpSpPr>
        <p:sp>
          <p:nvSpPr>
            <p:cNvPr id="1094" name="Google Shape;1094;g3755ce053d3_1_87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5" name="Google Shape;1095;g3755ce053d3_1_87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6" name="Google Shape;1096;g3755ce053d3_1_87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7" name="Google Shape;1097;g3755ce053d3_1_87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098" name="Google Shape;1098;g3755ce053d3_1_87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099" name="Google Shape;1099;g3755ce053d3_1_873"/>
          <p:cNvSpPr txBox="1"/>
          <p:nvPr>
            <p:ph type="ctrTitle"/>
          </p:nvPr>
        </p:nvSpPr>
        <p:spPr>
          <a:xfrm>
            <a:off x="4496000" y="2248250"/>
            <a:ext cx="4281900" cy="21699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harga menjadi 25.5.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harga menjadi 25.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Program akan mengalami ValueError.</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Program berjalan normal.</a:t>
            </a:r>
            <a:endParaRPr sz="1800">
              <a:latin typeface="Plus Jakarta Sans"/>
              <a:ea typeface="Plus Jakarta Sans"/>
              <a:cs typeface="Plus Jakarta Sans"/>
              <a:sym typeface="Plus Jakarta San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03" name="Shape 1103"/>
        <p:cNvGrpSpPr/>
        <p:nvPr/>
      </p:nvGrpSpPr>
      <p:grpSpPr>
        <a:xfrm>
          <a:off x="0" y="0"/>
          <a:ext cx="0" cy="0"/>
          <a:chOff x="0" y="0"/>
          <a:chExt cx="0" cy="0"/>
        </a:xfrm>
      </p:grpSpPr>
      <p:sp>
        <p:nvSpPr>
          <p:cNvPr id="1104" name="Google Shape;1104;g37548cf76b3_0_64"/>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5" name="Google Shape;1105;g37548cf76b3_0_64"/>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6" name="Google Shape;1106;g37548cf76b3_0_64"/>
          <p:cNvSpPr/>
          <p:nvPr/>
        </p:nvSpPr>
        <p:spPr>
          <a:xfrm rot="-3576382">
            <a:off x="5139692" y="2219686"/>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107" name="Google Shape;1107;g37548cf76b3_0_6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108" name="Google Shape;1108;g37548cf76b3_0_64"/>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Operasi Matematika</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12" name="Shape 1112"/>
        <p:cNvGrpSpPr/>
        <p:nvPr/>
      </p:nvGrpSpPr>
      <p:grpSpPr>
        <a:xfrm>
          <a:off x="0" y="0"/>
          <a:ext cx="0" cy="0"/>
          <a:chOff x="0" y="0"/>
          <a:chExt cx="0" cy="0"/>
        </a:xfrm>
      </p:grpSpPr>
      <p:sp>
        <p:nvSpPr>
          <p:cNvPr id="1113" name="Google Shape;1113;g372b3c3285c_0_483"/>
          <p:cNvSpPr txBox="1"/>
          <p:nvPr/>
        </p:nvSpPr>
        <p:spPr>
          <a:xfrm>
            <a:off x="1962475" y="4017350"/>
            <a:ext cx="5220600" cy="845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US">
                <a:solidFill>
                  <a:schemeClr val="dk2"/>
                </a:solidFill>
              </a:rPr>
              <a:t>Bagaimana melakukan operasi matematika dasar seperti penjumlahan, pengurangan, perkalian, dan pembagian di Python?</a:t>
            </a:r>
            <a:endParaRPr b="1" i="0" sz="1400" u="none" cap="none" strike="noStrike">
              <a:solidFill>
                <a:schemeClr val="dk2"/>
              </a:solidFill>
              <a:latin typeface="Arial"/>
              <a:ea typeface="Arial"/>
              <a:cs typeface="Arial"/>
              <a:sym typeface="Arial"/>
            </a:endParaRPr>
          </a:p>
        </p:txBody>
      </p:sp>
      <p:sp>
        <p:nvSpPr>
          <p:cNvPr id="1114" name="Google Shape;1114;g372b3c3285c_0_483"/>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1115" name="Google Shape;1115;g372b3c3285c_0_48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1116" name="Google Shape;1116;g372b3c3285c_0_483" title="A frustrated coder retyping customer data repeatedly name, age, income. A thought bubble shows a better way—data neatly stored in containers like boxes labeled with names. The scene suggests the n (3).png"/>
          <p:cNvPicPr preferRelativeResize="0"/>
          <p:nvPr/>
        </p:nvPicPr>
        <p:blipFill rotWithShape="1">
          <a:blip r:embed="rId4">
            <a:alphaModFix/>
          </a:blip>
          <a:srcRect b="0" l="0" r="0" t="0"/>
          <a:stretch/>
        </p:blipFill>
        <p:spPr>
          <a:xfrm>
            <a:off x="3277375" y="1274145"/>
            <a:ext cx="2590804" cy="259080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20" name="Shape 1120"/>
        <p:cNvGrpSpPr/>
        <p:nvPr/>
      </p:nvGrpSpPr>
      <p:grpSpPr>
        <a:xfrm>
          <a:off x="0" y="0"/>
          <a:ext cx="0" cy="0"/>
          <a:chOff x="0" y="0"/>
          <a:chExt cx="0" cy="0"/>
        </a:xfrm>
      </p:grpSpPr>
      <p:sp>
        <p:nvSpPr>
          <p:cNvPr id="1121" name="Google Shape;1121;g372b3c3285c_0_49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1122" name="Google Shape;1122;g372b3c3285c_0_49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123" name="Google Shape;1123;g372b3c3285c_0_491"/>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124" name="Google Shape;1124;g372b3c3285c_0_491" title="1_NR9pFPJMtDdsQa4ZU0rxhw.jpg"/>
          <p:cNvPicPr preferRelativeResize="0"/>
          <p:nvPr/>
        </p:nvPicPr>
        <p:blipFill rotWithShape="1">
          <a:blip r:embed="rId4">
            <a:alphaModFix/>
          </a:blip>
          <a:srcRect b="0" l="0" r="0" t="0"/>
          <a:stretch/>
        </p:blipFill>
        <p:spPr>
          <a:xfrm>
            <a:off x="2094575" y="1121745"/>
            <a:ext cx="4958041" cy="371853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28" name="Shape 1128"/>
        <p:cNvGrpSpPr/>
        <p:nvPr/>
      </p:nvGrpSpPr>
      <p:grpSpPr>
        <a:xfrm>
          <a:off x="0" y="0"/>
          <a:ext cx="0" cy="0"/>
          <a:chOff x="0" y="0"/>
          <a:chExt cx="0" cy="0"/>
        </a:xfrm>
      </p:grpSpPr>
      <p:sp>
        <p:nvSpPr>
          <p:cNvPr id="1129" name="Google Shape;1129;g372b3c3285c_0_509"/>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30" name="Google Shape;1130;g372b3c3285c_0_509"/>
          <p:cNvSpPr txBox="1"/>
          <p:nvPr/>
        </p:nvSpPr>
        <p:spPr>
          <a:xfrm>
            <a:off x="457200" y="1121750"/>
            <a:ext cx="7044600" cy="21933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Data</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harga_kopi</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25_000</a:t>
            </a:r>
            <a:endParaRPr sz="900">
              <a:solidFill>
                <a:srgbClr val="B5CEA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jumlah_kopi</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2</a:t>
            </a:r>
            <a:endParaRPr sz="900">
              <a:solidFill>
                <a:srgbClr val="B5CEA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harga_donat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12_999</a:t>
            </a:r>
            <a:endParaRPr sz="900">
              <a:solidFill>
                <a:srgbClr val="B5CEA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jumlah_donat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8</a:t>
            </a:r>
            <a:endParaRPr sz="900">
              <a:solidFill>
                <a:srgbClr val="B5CEA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uang_pelanggan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200_000</a:t>
            </a:r>
            <a:endParaRPr sz="900">
              <a:solidFill>
                <a:srgbClr val="B5CEA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isi_donat_per_paket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3</a:t>
            </a:r>
            <a:endParaRPr sz="900">
              <a:solidFill>
                <a:srgbClr val="9CDCFE"/>
              </a:solidFill>
              <a:highlight>
                <a:srgbClr val="1F1F1F"/>
              </a:highlight>
              <a:latin typeface="Consolas"/>
              <a:ea typeface="Consolas"/>
              <a:cs typeface="Consolas"/>
              <a:sym typeface="Consolas"/>
            </a:endParaRPr>
          </a:p>
        </p:txBody>
      </p:sp>
      <p:sp>
        <p:nvSpPr>
          <p:cNvPr id="1131" name="Google Shape;1131;g372b3c3285c_0_509"/>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1132" name="Google Shape;1132;g372b3c3285c_0_50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36" name="Shape 1136"/>
        <p:cNvGrpSpPr/>
        <p:nvPr/>
      </p:nvGrpSpPr>
      <p:grpSpPr>
        <a:xfrm>
          <a:off x="0" y="0"/>
          <a:ext cx="0" cy="0"/>
          <a:chOff x="0" y="0"/>
          <a:chExt cx="0" cy="0"/>
        </a:xfrm>
      </p:grpSpPr>
      <p:sp>
        <p:nvSpPr>
          <p:cNvPr id="1137" name="Google Shape;1137;g37548cf76b3_0_21"/>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38" name="Google Shape;1138;g37548cf76b3_0_21"/>
          <p:cNvSpPr txBox="1"/>
          <p:nvPr/>
        </p:nvSpPr>
        <p:spPr>
          <a:xfrm>
            <a:off x="457200" y="1121750"/>
            <a:ext cx="7044600" cy="11544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Menghitung total penjualan</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total_harga_kopi</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harga_kopi</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jumlah_kopi</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total_harga_donat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harga_donat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jumlah_donat</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total_keseluruhan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total_harga_kopi</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total_harga_donat</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"Total keseluruhan:"</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total_keseluruhan</a:t>
            </a:r>
            <a:r>
              <a:rPr lang="en-US" sz="900">
                <a:solidFill>
                  <a:srgbClr val="CCCCCC"/>
                </a:solidFill>
                <a:highlight>
                  <a:srgbClr val="1F1F1F"/>
                </a:highlight>
                <a:latin typeface="Consolas"/>
                <a:ea typeface="Consolas"/>
                <a:cs typeface="Consolas"/>
                <a:sym typeface="Consolas"/>
              </a:rPr>
              <a:t>)</a:t>
            </a:r>
            <a:endParaRPr sz="900">
              <a:solidFill>
                <a:srgbClr val="6A9955"/>
              </a:solidFill>
              <a:highlight>
                <a:srgbClr val="1F1F1F"/>
              </a:highlight>
              <a:latin typeface="Consolas"/>
              <a:ea typeface="Consolas"/>
              <a:cs typeface="Consolas"/>
              <a:sym typeface="Consolas"/>
            </a:endParaRPr>
          </a:p>
        </p:txBody>
      </p:sp>
      <p:sp>
        <p:nvSpPr>
          <p:cNvPr id="1139" name="Google Shape;1139;g37548cf76b3_0_2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1140" name="Google Shape;1140;g37548cf76b3_0_2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141" name="Google Shape;1141;g37548cf76b3_0_21"/>
          <p:cNvSpPr txBox="1"/>
          <p:nvPr/>
        </p:nvSpPr>
        <p:spPr>
          <a:xfrm>
            <a:off x="457200" y="2352350"/>
            <a:ext cx="7044600" cy="9465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Menghitung rata-rata harga dengan operator / (pembagian float)</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total_item_terjual</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jumlah_kopi</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jumlah_donat</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rata_rata_harga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total_keseluruhan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total_item_terjual</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"Rata-rata harga per item:"</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rata_rata_harga</a:t>
            </a:r>
            <a:r>
              <a:rPr lang="en-US" sz="900">
                <a:solidFill>
                  <a:srgbClr val="CCCCCC"/>
                </a:solidFill>
                <a:highlight>
                  <a:srgbClr val="1F1F1F"/>
                </a:highlight>
                <a:latin typeface="Consolas"/>
                <a:ea typeface="Consolas"/>
                <a:cs typeface="Consolas"/>
                <a:sym typeface="Consolas"/>
              </a:rPr>
              <a:t>)</a:t>
            </a:r>
            <a:endParaRPr sz="900">
              <a:solidFill>
                <a:srgbClr val="6A9955"/>
              </a:solidFill>
              <a:highlight>
                <a:srgbClr val="1F1F1F"/>
              </a:highlight>
              <a:latin typeface="Consolas"/>
              <a:ea typeface="Consolas"/>
              <a:cs typeface="Consolas"/>
              <a:sym typeface="Consolas"/>
            </a:endParaRPr>
          </a:p>
        </p:txBody>
      </p:sp>
      <p:sp>
        <p:nvSpPr>
          <p:cNvPr id="1142" name="Google Shape;1142;g37548cf76b3_0_21"/>
          <p:cNvSpPr txBox="1"/>
          <p:nvPr/>
        </p:nvSpPr>
        <p:spPr>
          <a:xfrm>
            <a:off x="457200" y="3375050"/>
            <a:ext cx="7044600" cy="7389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Menghitung kembalian dengan operator - (pengurangan)</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kembalian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uang_pelanggan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total_keseluruhan</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"Kembalian yang harus diberikan:"</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kembalian</a:t>
            </a:r>
            <a:r>
              <a:rPr lang="en-US" sz="900">
                <a:solidFill>
                  <a:srgbClr val="CCCCCC"/>
                </a:solidFill>
                <a:highlight>
                  <a:srgbClr val="1F1F1F"/>
                </a:highlight>
                <a:latin typeface="Consolas"/>
                <a:ea typeface="Consolas"/>
                <a:cs typeface="Consolas"/>
                <a:sym typeface="Consolas"/>
              </a:rPr>
              <a:t>)</a:t>
            </a:r>
            <a:endParaRPr sz="900">
              <a:solidFill>
                <a:srgbClr val="6A9955"/>
              </a:solidFill>
              <a:highlight>
                <a:srgbClr val="1F1F1F"/>
              </a:highlight>
              <a:latin typeface="Consolas"/>
              <a:ea typeface="Consolas"/>
              <a:cs typeface="Consolas"/>
              <a:sym typeface="Consola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46" name="Shape 1146"/>
        <p:cNvGrpSpPr/>
        <p:nvPr/>
      </p:nvGrpSpPr>
      <p:grpSpPr>
        <a:xfrm>
          <a:off x="0" y="0"/>
          <a:ext cx="0" cy="0"/>
          <a:chOff x="0" y="0"/>
          <a:chExt cx="0" cy="0"/>
        </a:xfrm>
      </p:grpSpPr>
      <p:sp>
        <p:nvSpPr>
          <p:cNvPr id="1147" name="Google Shape;1147;g37548cf76b3_0_33"/>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48" name="Google Shape;1148;g37548cf76b3_0_33"/>
          <p:cNvSpPr txBox="1"/>
          <p:nvPr/>
        </p:nvSpPr>
        <p:spPr>
          <a:xfrm>
            <a:off x="457200" y="1121750"/>
            <a:ext cx="7044600" cy="9465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Menghitung berapa banyak paket donat (isi 3) yang bisa dibuat</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Gunakan // (pembagian hasil bulat)</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jumlah_paket_donat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jumlah_donat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isi_donat_per_paket</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"Jumlah paket donat yang bisa dibuat:"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jumlah_paket_donat</a:t>
            </a:r>
            <a:r>
              <a:rPr lang="en-US" sz="900">
                <a:solidFill>
                  <a:srgbClr val="CCCCCC"/>
                </a:solidFill>
                <a:highlight>
                  <a:srgbClr val="1F1F1F"/>
                </a:highlight>
                <a:latin typeface="Consolas"/>
                <a:ea typeface="Consolas"/>
                <a:cs typeface="Consolas"/>
                <a:sym typeface="Consolas"/>
              </a:rPr>
              <a:t>)</a:t>
            </a:r>
            <a:endParaRPr sz="900">
              <a:solidFill>
                <a:srgbClr val="6A9955"/>
              </a:solidFill>
              <a:highlight>
                <a:srgbClr val="1F1F1F"/>
              </a:highlight>
              <a:latin typeface="Consolas"/>
              <a:ea typeface="Consolas"/>
              <a:cs typeface="Consolas"/>
              <a:sym typeface="Consolas"/>
            </a:endParaRPr>
          </a:p>
        </p:txBody>
      </p:sp>
      <p:sp>
        <p:nvSpPr>
          <p:cNvPr id="1149" name="Google Shape;1149;g37548cf76b3_0_33"/>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1150" name="Google Shape;1150;g37548cf76b3_0_3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151" name="Google Shape;1151;g37548cf76b3_0_33"/>
          <p:cNvSpPr txBox="1"/>
          <p:nvPr/>
        </p:nvSpPr>
        <p:spPr>
          <a:xfrm>
            <a:off x="457200" y="2144450"/>
            <a:ext cx="7044600" cy="7389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Menghitung sisa donat diluar paket dengan operator % (modulo)</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sisa_donat_diluar_paket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jumlah_donat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isi_donat_per_paket</a:t>
            </a:r>
            <a:endParaRPr sz="900">
              <a:solidFill>
                <a:srgbClr val="9CDCFE"/>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"Sisa donat yang tidak masuk paket:"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sisa_donat_diluar_paket</a:t>
            </a:r>
            <a:r>
              <a:rPr lang="en-US" sz="900">
                <a:solidFill>
                  <a:srgbClr val="CCCCCC"/>
                </a:solidFill>
                <a:highlight>
                  <a:srgbClr val="1F1F1F"/>
                </a:highlight>
                <a:latin typeface="Consolas"/>
                <a:ea typeface="Consolas"/>
                <a:cs typeface="Consolas"/>
                <a:sym typeface="Consolas"/>
              </a:rPr>
              <a:t>)</a:t>
            </a:r>
            <a:endParaRPr sz="900">
              <a:solidFill>
                <a:srgbClr val="6A9955"/>
              </a:solidFill>
              <a:highlight>
                <a:srgbClr val="1F1F1F"/>
              </a:highlight>
              <a:latin typeface="Consolas"/>
              <a:ea typeface="Consolas"/>
              <a:cs typeface="Consolas"/>
              <a:sym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55" name="Shape 1155"/>
        <p:cNvGrpSpPr/>
        <p:nvPr/>
      </p:nvGrpSpPr>
      <p:grpSpPr>
        <a:xfrm>
          <a:off x="0" y="0"/>
          <a:ext cx="0" cy="0"/>
          <a:chOff x="0" y="0"/>
          <a:chExt cx="0" cy="0"/>
        </a:xfrm>
      </p:grpSpPr>
      <p:sp>
        <p:nvSpPr>
          <p:cNvPr id="1156" name="Google Shape;1156;g37548cf76b3_0_44"/>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1157" name="Google Shape;1157;g37548cf76b3_0_44"/>
          <p:cNvGrpSpPr/>
          <p:nvPr/>
        </p:nvGrpSpPr>
        <p:grpSpPr>
          <a:xfrm>
            <a:off x="158" y="-214211"/>
            <a:ext cx="2765532" cy="2691752"/>
            <a:chOff x="9584424" y="-302694"/>
            <a:chExt cx="4822200" cy="4822200"/>
          </a:xfrm>
        </p:grpSpPr>
        <p:sp>
          <p:nvSpPr>
            <p:cNvPr id="1158" name="Google Shape;1158;g37548cf76b3_0_44"/>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59" name="Google Shape;1159;g37548cf76b3_0_44"/>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60" name="Google Shape;1160;g37548cf76b3_0_44"/>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61" name="Google Shape;1161;g37548cf76b3_0_44"/>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162" name="Google Shape;1162;g37548cf76b3_0_44"/>
          <p:cNvGrpSpPr/>
          <p:nvPr/>
        </p:nvGrpSpPr>
        <p:grpSpPr>
          <a:xfrm>
            <a:off x="-840830" y="1116257"/>
            <a:ext cx="5795400" cy="5795400"/>
            <a:chOff x="4094945" y="667082"/>
            <a:chExt cx="5795400" cy="5795400"/>
          </a:xfrm>
        </p:grpSpPr>
        <p:sp>
          <p:nvSpPr>
            <p:cNvPr id="1163" name="Google Shape;1163;g37548cf76b3_0_44"/>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64" name="Google Shape;1164;g37548cf76b3_0_44"/>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65" name="Google Shape;1165;g37548cf76b3_0_44"/>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66" name="Google Shape;1166;g37548cf76b3_0_44"/>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167" name="Google Shape;1167;g37548cf76b3_0_4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1171" name="Shape 1171"/>
        <p:cNvGrpSpPr/>
        <p:nvPr/>
      </p:nvGrpSpPr>
      <p:grpSpPr>
        <a:xfrm>
          <a:off x="0" y="0"/>
          <a:ext cx="0" cy="0"/>
          <a:chOff x="0" y="0"/>
          <a:chExt cx="0" cy="0"/>
        </a:xfrm>
      </p:grpSpPr>
      <p:sp>
        <p:nvSpPr>
          <p:cNvPr id="1172" name="Google Shape;1172;g3755ce053d3_1_15"/>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Pop Up Quiz Time..</a:t>
            </a:r>
            <a:endParaRPr b="1" sz="3420">
              <a:solidFill>
                <a:schemeClr val="lt1"/>
              </a:solidFill>
              <a:latin typeface="Plus Jakarta Sans"/>
              <a:ea typeface="Plus Jakarta Sans"/>
              <a:cs typeface="Plus Jakarta Sans"/>
              <a:sym typeface="Plus Jakarta Sans"/>
            </a:endParaRPr>
          </a:p>
        </p:txBody>
      </p:sp>
      <p:pic>
        <p:nvPicPr>
          <p:cNvPr id="1173" name="Google Shape;1173;g3755ce053d3_1_15"/>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77" name="Shape 1177"/>
        <p:cNvGrpSpPr/>
        <p:nvPr/>
      </p:nvGrpSpPr>
      <p:grpSpPr>
        <a:xfrm>
          <a:off x="0" y="0"/>
          <a:ext cx="0" cy="0"/>
          <a:chOff x="0" y="0"/>
          <a:chExt cx="0" cy="0"/>
        </a:xfrm>
      </p:grpSpPr>
      <p:sp>
        <p:nvSpPr>
          <p:cNvPr id="1178" name="Google Shape;1178;g3755ce053d3_1_48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t>
            </a:r>
            <a:r>
              <a:rPr b="1" lang="en-US" sz="1800">
                <a:latin typeface="Plus Jakarta Sans"/>
                <a:ea typeface="Plus Jakarta Sans"/>
                <a:cs typeface="Plus Jakarta Sans"/>
                <a:sym typeface="Plus Jakarta Sans"/>
              </a:rPr>
              <a:t>Apa output dari print(10 // 3)?</a:t>
            </a:r>
            <a:endParaRPr b="1" sz="1800">
              <a:latin typeface="Plus Jakarta Sans"/>
              <a:ea typeface="Plus Jakarta Sans"/>
              <a:cs typeface="Plus Jakarta Sans"/>
              <a:sym typeface="Plus Jakarta Sans"/>
            </a:endParaRPr>
          </a:p>
        </p:txBody>
      </p:sp>
      <p:grpSp>
        <p:nvGrpSpPr>
          <p:cNvPr id="1179" name="Google Shape;1179;g3755ce053d3_1_489"/>
          <p:cNvGrpSpPr/>
          <p:nvPr/>
        </p:nvGrpSpPr>
        <p:grpSpPr>
          <a:xfrm>
            <a:off x="158" y="-214211"/>
            <a:ext cx="2765532" cy="2691752"/>
            <a:chOff x="9584424" y="-302694"/>
            <a:chExt cx="4822200" cy="4822200"/>
          </a:xfrm>
        </p:grpSpPr>
        <p:sp>
          <p:nvSpPr>
            <p:cNvPr id="1180" name="Google Shape;1180;g3755ce053d3_1_48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81" name="Google Shape;1181;g3755ce053d3_1_48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82" name="Google Shape;1182;g3755ce053d3_1_48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83" name="Google Shape;1183;g3755ce053d3_1_48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184" name="Google Shape;1184;g3755ce053d3_1_489"/>
          <p:cNvGrpSpPr/>
          <p:nvPr/>
        </p:nvGrpSpPr>
        <p:grpSpPr>
          <a:xfrm>
            <a:off x="-840830" y="1116257"/>
            <a:ext cx="5795400" cy="5795400"/>
            <a:chOff x="4094945" y="667082"/>
            <a:chExt cx="5795400" cy="5795400"/>
          </a:xfrm>
        </p:grpSpPr>
        <p:sp>
          <p:nvSpPr>
            <p:cNvPr id="1185" name="Google Shape;1185;g3755ce053d3_1_48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86" name="Google Shape;1186;g3755ce053d3_1_48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87" name="Google Shape;1187;g3755ce053d3_1_48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88" name="Google Shape;1188;g3755ce053d3_1_48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189" name="Google Shape;1189;g3755ce053d3_1_48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190" name="Google Shape;1190;g3755ce053d3_1_48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3.33</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3.0</a:t>
            </a:r>
            <a:endParaRPr sz="1800">
              <a:latin typeface="Plus Jakarta Sans"/>
              <a:ea typeface="Plus Jakarta Sans"/>
              <a:cs typeface="Plus Jakarta Sans"/>
              <a:sym typeface="Plus Jakarta Sans"/>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94" name="Shape 1194"/>
        <p:cNvGrpSpPr/>
        <p:nvPr/>
      </p:nvGrpSpPr>
      <p:grpSpPr>
        <a:xfrm>
          <a:off x="0" y="0"/>
          <a:ext cx="0" cy="0"/>
          <a:chOff x="0" y="0"/>
          <a:chExt cx="0" cy="0"/>
        </a:xfrm>
      </p:grpSpPr>
      <p:sp>
        <p:nvSpPr>
          <p:cNvPr id="1195" name="Google Shape;1195;g3755ce053d3_1_88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Apa output dari print(10 // 3)?</a:t>
            </a:r>
            <a:endParaRPr b="1" sz="1800">
              <a:latin typeface="Plus Jakarta Sans"/>
              <a:ea typeface="Plus Jakarta Sans"/>
              <a:cs typeface="Plus Jakarta Sans"/>
              <a:sym typeface="Plus Jakarta Sans"/>
            </a:endParaRPr>
          </a:p>
        </p:txBody>
      </p:sp>
      <p:grpSp>
        <p:nvGrpSpPr>
          <p:cNvPr id="1196" name="Google Shape;1196;g3755ce053d3_1_889"/>
          <p:cNvGrpSpPr/>
          <p:nvPr/>
        </p:nvGrpSpPr>
        <p:grpSpPr>
          <a:xfrm>
            <a:off x="158" y="-214211"/>
            <a:ext cx="2765532" cy="2691752"/>
            <a:chOff x="9584424" y="-302694"/>
            <a:chExt cx="4822200" cy="4822200"/>
          </a:xfrm>
        </p:grpSpPr>
        <p:sp>
          <p:nvSpPr>
            <p:cNvPr id="1197" name="Google Shape;1197;g3755ce053d3_1_88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98" name="Google Shape;1198;g3755ce053d3_1_88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99" name="Google Shape;1199;g3755ce053d3_1_88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0" name="Google Shape;1200;g3755ce053d3_1_88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201" name="Google Shape;1201;g3755ce053d3_1_889"/>
          <p:cNvGrpSpPr/>
          <p:nvPr/>
        </p:nvGrpSpPr>
        <p:grpSpPr>
          <a:xfrm>
            <a:off x="-840830" y="1116257"/>
            <a:ext cx="5795400" cy="5795400"/>
            <a:chOff x="4094945" y="667082"/>
            <a:chExt cx="5795400" cy="5795400"/>
          </a:xfrm>
        </p:grpSpPr>
        <p:sp>
          <p:nvSpPr>
            <p:cNvPr id="1202" name="Google Shape;1202;g3755ce053d3_1_88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3" name="Google Shape;1203;g3755ce053d3_1_88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4" name="Google Shape;1204;g3755ce053d3_1_88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5" name="Google Shape;1205;g3755ce053d3_1_88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206" name="Google Shape;1206;g3755ce053d3_1_88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207" name="Google Shape;1207;g3755ce053d3_1_88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3.33</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3</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3.0</a:t>
            </a:r>
            <a:endParaRPr sz="1800">
              <a:latin typeface="Plus Jakarta Sans"/>
              <a:ea typeface="Plus Jakarta Sans"/>
              <a:cs typeface="Plus Jakarta Sans"/>
              <a:sym typeface="Plus Jakarta Sans"/>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11" name="Shape 1211"/>
        <p:cNvGrpSpPr/>
        <p:nvPr/>
      </p:nvGrpSpPr>
      <p:grpSpPr>
        <a:xfrm>
          <a:off x="0" y="0"/>
          <a:ext cx="0" cy="0"/>
          <a:chOff x="0" y="0"/>
          <a:chExt cx="0" cy="0"/>
        </a:xfrm>
      </p:grpSpPr>
      <p:sp>
        <p:nvSpPr>
          <p:cNvPr id="1212" name="Google Shape;1212;g3755ce053d3_1_50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t>
            </a:r>
            <a:r>
              <a:rPr b="1" lang="en-US" sz="1800">
                <a:latin typeface="Plus Jakarta Sans"/>
                <a:ea typeface="Plus Jakarta Sans"/>
                <a:cs typeface="Plus Jakarta Sans"/>
                <a:sym typeface="Plus Jakarta Sans"/>
              </a:rPr>
              <a:t>Apa output dari print(15 % 4)?</a:t>
            </a:r>
            <a:endParaRPr b="1" sz="1800">
              <a:latin typeface="Plus Jakarta Sans"/>
              <a:ea typeface="Plus Jakarta Sans"/>
              <a:cs typeface="Plus Jakarta Sans"/>
              <a:sym typeface="Plus Jakarta Sans"/>
            </a:endParaRPr>
          </a:p>
        </p:txBody>
      </p:sp>
      <p:grpSp>
        <p:nvGrpSpPr>
          <p:cNvPr id="1213" name="Google Shape;1213;g3755ce053d3_1_505"/>
          <p:cNvGrpSpPr/>
          <p:nvPr/>
        </p:nvGrpSpPr>
        <p:grpSpPr>
          <a:xfrm>
            <a:off x="158" y="-214211"/>
            <a:ext cx="2765532" cy="2691752"/>
            <a:chOff x="9584424" y="-302694"/>
            <a:chExt cx="4822200" cy="4822200"/>
          </a:xfrm>
        </p:grpSpPr>
        <p:sp>
          <p:nvSpPr>
            <p:cNvPr id="1214" name="Google Shape;1214;g3755ce053d3_1_50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15" name="Google Shape;1215;g3755ce053d3_1_50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16" name="Google Shape;1216;g3755ce053d3_1_50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17" name="Google Shape;1217;g3755ce053d3_1_50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218" name="Google Shape;1218;g3755ce053d3_1_505"/>
          <p:cNvGrpSpPr/>
          <p:nvPr/>
        </p:nvGrpSpPr>
        <p:grpSpPr>
          <a:xfrm>
            <a:off x="-840830" y="1116257"/>
            <a:ext cx="5795400" cy="5795400"/>
            <a:chOff x="4094945" y="667082"/>
            <a:chExt cx="5795400" cy="5795400"/>
          </a:xfrm>
        </p:grpSpPr>
        <p:sp>
          <p:nvSpPr>
            <p:cNvPr id="1219" name="Google Shape;1219;g3755ce053d3_1_50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20" name="Google Shape;1220;g3755ce053d3_1_50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21" name="Google Shape;1221;g3755ce053d3_1_50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22" name="Google Shape;1222;g3755ce053d3_1_50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223" name="Google Shape;1223;g3755ce053d3_1_50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224" name="Google Shape;1224;g3755ce053d3_1_50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3.75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0</a:t>
            </a:r>
            <a:endParaRPr sz="1800">
              <a:latin typeface="Plus Jakarta Sans"/>
              <a:ea typeface="Plus Jakarta Sans"/>
              <a:cs typeface="Plus Jakarta Sans"/>
              <a:sym typeface="Plus Jakarta San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28" name="Shape 1228"/>
        <p:cNvGrpSpPr/>
        <p:nvPr/>
      </p:nvGrpSpPr>
      <p:grpSpPr>
        <a:xfrm>
          <a:off x="0" y="0"/>
          <a:ext cx="0" cy="0"/>
          <a:chOff x="0" y="0"/>
          <a:chExt cx="0" cy="0"/>
        </a:xfrm>
      </p:grpSpPr>
      <p:sp>
        <p:nvSpPr>
          <p:cNvPr id="1229" name="Google Shape;1229;g3755ce053d3_1_90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Apa output dari print(15 % 4)?</a:t>
            </a:r>
            <a:endParaRPr b="1" sz="1800">
              <a:latin typeface="Plus Jakarta Sans"/>
              <a:ea typeface="Plus Jakarta Sans"/>
              <a:cs typeface="Plus Jakarta Sans"/>
              <a:sym typeface="Plus Jakarta Sans"/>
            </a:endParaRPr>
          </a:p>
        </p:txBody>
      </p:sp>
      <p:grpSp>
        <p:nvGrpSpPr>
          <p:cNvPr id="1230" name="Google Shape;1230;g3755ce053d3_1_905"/>
          <p:cNvGrpSpPr/>
          <p:nvPr/>
        </p:nvGrpSpPr>
        <p:grpSpPr>
          <a:xfrm>
            <a:off x="158" y="-214211"/>
            <a:ext cx="2765532" cy="2691752"/>
            <a:chOff x="9584424" y="-302694"/>
            <a:chExt cx="4822200" cy="4822200"/>
          </a:xfrm>
        </p:grpSpPr>
        <p:sp>
          <p:nvSpPr>
            <p:cNvPr id="1231" name="Google Shape;1231;g3755ce053d3_1_90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32" name="Google Shape;1232;g3755ce053d3_1_90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33" name="Google Shape;1233;g3755ce053d3_1_90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34" name="Google Shape;1234;g3755ce053d3_1_90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235" name="Google Shape;1235;g3755ce053d3_1_905"/>
          <p:cNvGrpSpPr/>
          <p:nvPr/>
        </p:nvGrpSpPr>
        <p:grpSpPr>
          <a:xfrm>
            <a:off x="-840830" y="1116257"/>
            <a:ext cx="5795400" cy="5795400"/>
            <a:chOff x="4094945" y="667082"/>
            <a:chExt cx="5795400" cy="5795400"/>
          </a:xfrm>
        </p:grpSpPr>
        <p:sp>
          <p:nvSpPr>
            <p:cNvPr id="1236" name="Google Shape;1236;g3755ce053d3_1_90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37" name="Google Shape;1237;g3755ce053d3_1_90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38" name="Google Shape;1238;g3755ce053d3_1_90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39" name="Google Shape;1239;g3755ce053d3_1_90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240" name="Google Shape;1240;g3755ce053d3_1_90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241" name="Google Shape;1241;g3755ce053d3_1_90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3.75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3</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0</a:t>
            </a:r>
            <a:endParaRPr sz="1800">
              <a:latin typeface="Plus Jakarta Sans"/>
              <a:ea typeface="Plus Jakarta Sans"/>
              <a:cs typeface="Plus Jakarta Sans"/>
              <a:sym typeface="Plus Jakarta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45" name="Shape 1245"/>
        <p:cNvGrpSpPr/>
        <p:nvPr/>
      </p:nvGrpSpPr>
      <p:grpSpPr>
        <a:xfrm>
          <a:off x="0" y="0"/>
          <a:ext cx="0" cy="0"/>
          <a:chOff x="0" y="0"/>
          <a:chExt cx="0" cy="0"/>
        </a:xfrm>
      </p:grpSpPr>
      <p:sp>
        <p:nvSpPr>
          <p:cNvPr id="1246" name="Google Shape;1246;g3755ce053d3_1_52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t>
            </a:r>
            <a:r>
              <a:rPr b="1" lang="en-US" sz="1800">
                <a:latin typeface="Plus Jakarta Sans"/>
                <a:ea typeface="Plus Jakarta Sans"/>
                <a:cs typeface="Plus Jakarta Sans"/>
                <a:sym typeface="Plus Jakarta Sans"/>
              </a:rPr>
              <a:t>Apa yang terjadi saat print('Total: ' + 15000)?</a:t>
            </a:r>
            <a:endParaRPr b="1" sz="1800">
              <a:latin typeface="Plus Jakarta Sans"/>
              <a:ea typeface="Plus Jakarta Sans"/>
              <a:cs typeface="Plus Jakarta Sans"/>
              <a:sym typeface="Plus Jakarta Sans"/>
            </a:endParaRPr>
          </a:p>
        </p:txBody>
      </p:sp>
      <p:grpSp>
        <p:nvGrpSpPr>
          <p:cNvPr id="1247" name="Google Shape;1247;g3755ce053d3_1_521"/>
          <p:cNvGrpSpPr/>
          <p:nvPr/>
        </p:nvGrpSpPr>
        <p:grpSpPr>
          <a:xfrm>
            <a:off x="158" y="-214211"/>
            <a:ext cx="2765532" cy="2691752"/>
            <a:chOff x="9584424" y="-302694"/>
            <a:chExt cx="4822200" cy="4822200"/>
          </a:xfrm>
        </p:grpSpPr>
        <p:sp>
          <p:nvSpPr>
            <p:cNvPr id="1248" name="Google Shape;1248;g3755ce053d3_1_52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49" name="Google Shape;1249;g3755ce053d3_1_52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50" name="Google Shape;1250;g3755ce053d3_1_52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51" name="Google Shape;1251;g3755ce053d3_1_52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252" name="Google Shape;1252;g3755ce053d3_1_521"/>
          <p:cNvGrpSpPr/>
          <p:nvPr/>
        </p:nvGrpSpPr>
        <p:grpSpPr>
          <a:xfrm>
            <a:off x="-840830" y="1116257"/>
            <a:ext cx="5795400" cy="5795400"/>
            <a:chOff x="4094945" y="667082"/>
            <a:chExt cx="5795400" cy="5795400"/>
          </a:xfrm>
        </p:grpSpPr>
        <p:sp>
          <p:nvSpPr>
            <p:cNvPr id="1253" name="Google Shape;1253;g3755ce053d3_1_52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54" name="Google Shape;1254;g3755ce053d3_1_52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55" name="Google Shape;1255;g3755ce053d3_1_52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56" name="Google Shape;1256;g3755ce053d3_1_52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257" name="Google Shape;1257;g3755ce053d3_1_52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258" name="Google Shape;1258;g3755ce053d3_1_52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 15000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 15000'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 "15000"</a:t>
            </a:r>
            <a:endParaRPr sz="1800">
              <a:latin typeface="Plus Jakarta Sans"/>
              <a:ea typeface="Plus Jakarta Sans"/>
              <a:cs typeface="Plus Jakarta Sans"/>
              <a:sym typeface="Plus Jakarta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62" name="Shape 1262"/>
        <p:cNvGrpSpPr/>
        <p:nvPr/>
      </p:nvGrpSpPr>
      <p:grpSpPr>
        <a:xfrm>
          <a:off x="0" y="0"/>
          <a:ext cx="0" cy="0"/>
          <a:chOff x="0" y="0"/>
          <a:chExt cx="0" cy="0"/>
        </a:xfrm>
      </p:grpSpPr>
      <p:sp>
        <p:nvSpPr>
          <p:cNvPr id="1263" name="Google Shape;1263;g3755ce053d3_1_921"/>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Apa yang terjadi saat print('Total: ' + 15000)?</a:t>
            </a:r>
            <a:endParaRPr b="1" sz="1800">
              <a:latin typeface="Plus Jakarta Sans"/>
              <a:ea typeface="Plus Jakarta Sans"/>
              <a:cs typeface="Plus Jakarta Sans"/>
              <a:sym typeface="Plus Jakarta Sans"/>
            </a:endParaRPr>
          </a:p>
        </p:txBody>
      </p:sp>
      <p:grpSp>
        <p:nvGrpSpPr>
          <p:cNvPr id="1264" name="Google Shape;1264;g3755ce053d3_1_921"/>
          <p:cNvGrpSpPr/>
          <p:nvPr/>
        </p:nvGrpSpPr>
        <p:grpSpPr>
          <a:xfrm>
            <a:off x="158" y="-214211"/>
            <a:ext cx="2765532" cy="2691752"/>
            <a:chOff x="9584424" y="-302694"/>
            <a:chExt cx="4822200" cy="4822200"/>
          </a:xfrm>
        </p:grpSpPr>
        <p:sp>
          <p:nvSpPr>
            <p:cNvPr id="1265" name="Google Shape;1265;g3755ce053d3_1_92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66" name="Google Shape;1266;g3755ce053d3_1_92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67" name="Google Shape;1267;g3755ce053d3_1_92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68" name="Google Shape;1268;g3755ce053d3_1_92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269" name="Google Shape;1269;g3755ce053d3_1_921"/>
          <p:cNvGrpSpPr/>
          <p:nvPr/>
        </p:nvGrpSpPr>
        <p:grpSpPr>
          <a:xfrm>
            <a:off x="-840830" y="1116257"/>
            <a:ext cx="5795400" cy="5795400"/>
            <a:chOff x="4094945" y="667082"/>
            <a:chExt cx="5795400" cy="5795400"/>
          </a:xfrm>
        </p:grpSpPr>
        <p:sp>
          <p:nvSpPr>
            <p:cNvPr id="1270" name="Google Shape;1270;g3755ce053d3_1_92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71" name="Google Shape;1271;g3755ce053d3_1_92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72" name="Google Shape;1272;g3755ce053d3_1_92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73" name="Google Shape;1273;g3755ce053d3_1_92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274" name="Google Shape;1274;g3755ce053d3_1_92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275" name="Google Shape;1275;g3755ce053d3_1_92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 15000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 15000'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Error</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Total: "15000"</a:t>
            </a:r>
            <a:endParaRPr sz="1800">
              <a:latin typeface="Plus Jakarta Sans"/>
              <a:ea typeface="Plus Jakarta Sans"/>
              <a:cs typeface="Plus Jakarta Sans"/>
              <a:sym typeface="Plus Jakarta San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79" name="Shape 1279"/>
        <p:cNvGrpSpPr/>
        <p:nvPr/>
      </p:nvGrpSpPr>
      <p:grpSpPr>
        <a:xfrm>
          <a:off x="0" y="0"/>
          <a:ext cx="0" cy="0"/>
          <a:chOff x="0" y="0"/>
          <a:chExt cx="0" cy="0"/>
        </a:xfrm>
      </p:grpSpPr>
      <p:sp>
        <p:nvSpPr>
          <p:cNvPr id="1280" name="Google Shape;1280;g3755ce053d3_1_53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t>
            </a:r>
            <a:r>
              <a:rPr b="1" lang="en-US" sz="1800">
                <a:latin typeface="Plus Jakarta Sans"/>
                <a:ea typeface="Plus Jakarta Sans"/>
                <a:cs typeface="Plus Jakarta Sans"/>
                <a:sym typeface="Plus Jakarta Sans"/>
              </a:rPr>
              <a:t>Apa output dari print(27 // 5)?</a:t>
            </a:r>
            <a:endParaRPr b="1" sz="1800">
              <a:latin typeface="Plus Jakarta Sans"/>
              <a:ea typeface="Plus Jakarta Sans"/>
              <a:cs typeface="Plus Jakarta Sans"/>
              <a:sym typeface="Plus Jakarta Sans"/>
            </a:endParaRPr>
          </a:p>
        </p:txBody>
      </p:sp>
      <p:grpSp>
        <p:nvGrpSpPr>
          <p:cNvPr id="1281" name="Google Shape;1281;g3755ce053d3_1_537"/>
          <p:cNvGrpSpPr/>
          <p:nvPr/>
        </p:nvGrpSpPr>
        <p:grpSpPr>
          <a:xfrm>
            <a:off x="158" y="-214211"/>
            <a:ext cx="2765532" cy="2691752"/>
            <a:chOff x="9584424" y="-302694"/>
            <a:chExt cx="4822200" cy="4822200"/>
          </a:xfrm>
        </p:grpSpPr>
        <p:sp>
          <p:nvSpPr>
            <p:cNvPr id="1282" name="Google Shape;1282;g3755ce053d3_1_53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83" name="Google Shape;1283;g3755ce053d3_1_53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84" name="Google Shape;1284;g3755ce053d3_1_53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85" name="Google Shape;1285;g3755ce053d3_1_53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286" name="Google Shape;1286;g3755ce053d3_1_537"/>
          <p:cNvGrpSpPr/>
          <p:nvPr/>
        </p:nvGrpSpPr>
        <p:grpSpPr>
          <a:xfrm>
            <a:off x="-840830" y="1116257"/>
            <a:ext cx="5795400" cy="5795400"/>
            <a:chOff x="4094945" y="667082"/>
            <a:chExt cx="5795400" cy="5795400"/>
          </a:xfrm>
        </p:grpSpPr>
        <p:sp>
          <p:nvSpPr>
            <p:cNvPr id="1287" name="Google Shape;1287;g3755ce053d3_1_53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88" name="Google Shape;1288;g3755ce053d3_1_53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89" name="Google Shape;1289;g3755ce053d3_1_53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90" name="Google Shape;1290;g3755ce053d3_1_53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291" name="Google Shape;1291;g3755ce053d3_1_53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292" name="Google Shape;1292;g3755ce053d3_1_53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5.4</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7</a:t>
            </a:r>
            <a:endParaRPr sz="1800">
              <a:latin typeface="Plus Jakarta Sans"/>
              <a:ea typeface="Plus Jakarta Sans"/>
              <a:cs typeface="Plus Jakarta Sans"/>
              <a:sym typeface="Plus Jakarta San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96" name="Shape 1296"/>
        <p:cNvGrpSpPr/>
        <p:nvPr/>
      </p:nvGrpSpPr>
      <p:grpSpPr>
        <a:xfrm>
          <a:off x="0" y="0"/>
          <a:ext cx="0" cy="0"/>
          <a:chOff x="0" y="0"/>
          <a:chExt cx="0" cy="0"/>
        </a:xfrm>
      </p:grpSpPr>
      <p:sp>
        <p:nvSpPr>
          <p:cNvPr id="1297" name="Google Shape;1297;g3755ce053d3_1_93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Apa output dari print(27 // 5)?</a:t>
            </a:r>
            <a:endParaRPr b="1" sz="1800">
              <a:latin typeface="Plus Jakarta Sans"/>
              <a:ea typeface="Plus Jakarta Sans"/>
              <a:cs typeface="Plus Jakarta Sans"/>
              <a:sym typeface="Plus Jakarta Sans"/>
            </a:endParaRPr>
          </a:p>
        </p:txBody>
      </p:sp>
      <p:grpSp>
        <p:nvGrpSpPr>
          <p:cNvPr id="1298" name="Google Shape;1298;g3755ce053d3_1_937"/>
          <p:cNvGrpSpPr/>
          <p:nvPr/>
        </p:nvGrpSpPr>
        <p:grpSpPr>
          <a:xfrm>
            <a:off x="158" y="-214211"/>
            <a:ext cx="2765532" cy="2691752"/>
            <a:chOff x="9584424" y="-302694"/>
            <a:chExt cx="4822200" cy="4822200"/>
          </a:xfrm>
        </p:grpSpPr>
        <p:sp>
          <p:nvSpPr>
            <p:cNvPr id="1299" name="Google Shape;1299;g3755ce053d3_1_93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00" name="Google Shape;1300;g3755ce053d3_1_93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01" name="Google Shape;1301;g3755ce053d3_1_93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02" name="Google Shape;1302;g3755ce053d3_1_93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303" name="Google Shape;1303;g3755ce053d3_1_937"/>
          <p:cNvGrpSpPr/>
          <p:nvPr/>
        </p:nvGrpSpPr>
        <p:grpSpPr>
          <a:xfrm>
            <a:off x="-840830" y="1116257"/>
            <a:ext cx="5795400" cy="5795400"/>
            <a:chOff x="4094945" y="667082"/>
            <a:chExt cx="5795400" cy="5795400"/>
          </a:xfrm>
        </p:grpSpPr>
        <p:sp>
          <p:nvSpPr>
            <p:cNvPr id="1304" name="Google Shape;1304;g3755ce053d3_1_93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05" name="Google Shape;1305;g3755ce053d3_1_93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06" name="Google Shape;1306;g3755ce053d3_1_93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07" name="Google Shape;1307;g3755ce053d3_1_93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308" name="Google Shape;1308;g3755ce053d3_1_93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09" name="Google Shape;1309;g3755ce053d3_1_93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5</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5.4</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6A9955"/>
                </a:highlight>
                <a:latin typeface="Plus Jakarta Sans"/>
                <a:ea typeface="Plus Jakarta Sans"/>
                <a:cs typeface="Plus Jakarta Sans"/>
                <a:sym typeface="Plus Jakarta Sans"/>
              </a:rPr>
              <a:t>2</a:t>
            </a:r>
            <a:endParaRPr sz="1800">
              <a:highlight>
                <a:srgbClr val="6A9955"/>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7</a:t>
            </a:r>
            <a:endParaRPr sz="1800">
              <a:latin typeface="Plus Jakarta Sans"/>
              <a:ea typeface="Plus Jakarta Sans"/>
              <a:cs typeface="Plus Jakarta Sans"/>
              <a:sym typeface="Plus Jakarta Sans"/>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13" name="Shape 1313"/>
        <p:cNvGrpSpPr/>
        <p:nvPr/>
      </p:nvGrpSpPr>
      <p:grpSpPr>
        <a:xfrm>
          <a:off x="0" y="0"/>
          <a:ext cx="0" cy="0"/>
          <a:chOff x="0" y="0"/>
          <a:chExt cx="0" cy="0"/>
        </a:xfrm>
      </p:grpSpPr>
      <p:sp>
        <p:nvSpPr>
          <p:cNvPr id="1314" name="Google Shape;1314;g3755ce053d3_1_553"/>
          <p:cNvSpPr txBox="1"/>
          <p:nvPr>
            <p:ph type="ctrTitle"/>
          </p:nvPr>
        </p:nvSpPr>
        <p:spPr>
          <a:xfrm>
            <a:off x="4496000" y="1277950"/>
            <a:ext cx="41514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t>
            </a:r>
            <a:r>
              <a:rPr b="1" lang="en-US" sz="1800">
                <a:latin typeface="Plus Jakarta Sans"/>
                <a:ea typeface="Plus Jakarta Sans"/>
                <a:cs typeface="Plus Jakarta Sans"/>
                <a:sym typeface="Plus Jakarta Sans"/>
              </a:rPr>
              <a:t>Jika angka = 14, apa hasil dari angka % 2?</a:t>
            </a:r>
            <a:endParaRPr b="1" sz="1800">
              <a:latin typeface="Plus Jakarta Sans"/>
              <a:ea typeface="Plus Jakarta Sans"/>
              <a:cs typeface="Plus Jakarta Sans"/>
              <a:sym typeface="Plus Jakarta Sans"/>
            </a:endParaRPr>
          </a:p>
        </p:txBody>
      </p:sp>
      <p:grpSp>
        <p:nvGrpSpPr>
          <p:cNvPr id="1315" name="Google Shape;1315;g3755ce053d3_1_553"/>
          <p:cNvGrpSpPr/>
          <p:nvPr/>
        </p:nvGrpSpPr>
        <p:grpSpPr>
          <a:xfrm>
            <a:off x="158" y="-214211"/>
            <a:ext cx="2765532" cy="2691752"/>
            <a:chOff x="9584424" y="-302694"/>
            <a:chExt cx="4822200" cy="4822200"/>
          </a:xfrm>
        </p:grpSpPr>
        <p:sp>
          <p:nvSpPr>
            <p:cNvPr id="1316" name="Google Shape;1316;g3755ce053d3_1_55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17" name="Google Shape;1317;g3755ce053d3_1_55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18" name="Google Shape;1318;g3755ce053d3_1_55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19" name="Google Shape;1319;g3755ce053d3_1_55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320" name="Google Shape;1320;g3755ce053d3_1_553"/>
          <p:cNvGrpSpPr/>
          <p:nvPr/>
        </p:nvGrpSpPr>
        <p:grpSpPr>
          <a:xfrm>
            <a:off x="-840830" y="1116257"/>
            <a:ext cx="5795400" cy="5795400"/>
            <a:chOff x="4094945" y="667082"/>
            <a:chExt cx="5795400" cy="5795400"/>
          </a:xfrm>
        </p:grpSpPr>
        <p:sp>
          <p:nvSpPr>
            <p:cNvPr id="1321" name="Google Shape;1321;g3755ce053d3_1_55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22" name="Google Shape;1322;g3755ce053d3_1_55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23" name="Google Shape;1323;g3755ce053d3_1_55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24" name="Google Shape;1324;g3755ce053d3_1_55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325" name="Google Shape;1325;g3755ce053d3_1_55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26" name="Google Shape;1326;g3755ce053d3_1_55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7</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30" name="Shape 1330"/>
        <p:cNvGrpSpPr/>
        <p:nvPr/>
      </p:nvGrpSpPr>
      <p:grpSpPr>
        <a:xfrm>
          <a:off x="0" y="0"/>
          <a:ext cx="0" cy="0"/>
          <a:chOff x="0" y="0"/>
          <a:chExt cx="0" cy="0"/>
        </a:xfrm>
      </p:grpSpPr>
      <p:sp>
        <p:nvSpPr>
          <p:cNvPr id="1331" name="Google Shape;1331;g3755ce053d3_1_953"/>
          <p:cNvSpPr txBox="1"/>
          <p:nvPr>
            <p:ph type="ctrTitle"/>
          </p:nvPr>
        </p:nvSpPr>
        <p:spPr>
          <a:xfrm>
            <a:off x="4496000" y="1277950"/>
            <a:ext cx="41514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Jika angka = 14, apa hasil dari angka % 2?</a:t>
            </a:r>
            <a:endParaRPr b="1" sz="1800">
              <a:latin typeface="Plus Jakarta Sans"/>
              <a:ea typeface="Plus Jakarta Sans"/>
              <a:cs typeface="Plus Jakarta Sans"/>
              <a:sym typeface="Plus Jakarta Sans"/>
            </a:endParaRPr>
          </a:p>
        </p:txBody>
      </p:sp>
      <p:grpSp>
        <p:nvGrpSpPr>
          <p:cNvPr id="1332" name="Google Shape;1332;g3755ce053d3_1_953"/>
          <p:cNvGrpSpPr/>
          <p:nvPr/>
        </p:nvGrpSpPr>
        <p:grpSpPr>
          <a:xfrm>
            <a:off x="158" y="-214211"/>
            <a:ext cx="2765532" cy="2691752"/>
            <a:chOff x="9584424" y="-302694"/>
            <a:chExt cx="4822200" cy="4822200"/>
          </a:xfrm>
        </p:grpSpPr>
        <p:sp>
          <p:nvSpPr>
            <p:cNvPr id="1333" name="Google Shape;1333;g3755ce053d3_1_95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34" name="Google Shape;1334;g3755ce053d3_1_95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35" name="Google Shape;1335;g3755ce053d3_1_95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36" name="Google Shape;1336;g3755ce053d3_1_95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337" name="Google Shape;1337;g3755ce053d3_1_953"/>
          <p:cNvGrpSpPr/>
          <p:nvPr/>
        </p:nvGrpSpPr>
        <p:grpSpPr>
          <a:xfrm>
            <a:off x="-840830" y="1116257"/>
            <a:ext cx="5795400" cy="5795400"/>
            <a:chOff x="4094945" y="667082"/>
            <a:chExt cx="5795400" cy="5795400"/>
          </a:xfrm>
        </p:grpSpPr>
        <p:sp>
          <p:nvSpPr>
            <p:cNvPr id="1338" name="Google Shape;1338;g3755ce053d3_1_95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39" name="Google Shape;1339;g3755ce053d3_1_95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40" name="Google Shape;1340;g3755ce053d3_1_95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41" name="Google Shape;1341;g3755ce053d3_1_95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342" name="Google Shape;1342;g3755ce053d3_1_95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43" name="Google Shape;1343;g3755ce053d3_1_95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0</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7</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47" name="Shape 1347"/>
        <p:cNvGrpSpPr/>
        <p:nvPr/>
      </p:nvGrpSpPr>
      <p:grpSpPr>
        <a:xfrm>
          <a:off x="0" y="0"/>
          <a:ext cx="0" cy="0"/>
          <a:chOff x="0" y="0"/>
          <a:chExt cx="0" cy="0"/>
        </a:xfrm>
      </p:grpSpPr>
      <p:sp>
        <p:nvSpPr>
          <p:cNvPr id="1348" name="Google Shape;1348;g37548cf76b3_0_92"/>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49" name="Google Shape;1349;g37548cf76b3_0_92"/>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50" name="Google Shape;1350;g37548cf76b3_0_92"/>
          <p:cNvSpPr/>
          <p:nvPr/>
        </p:nvSpPr>
        <p:spPr>
          <a:xfrm rot="-3576382">
            <a:off x="5139692" y="2219686"/>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351" name="Google Shape;1351;g37548cf76b3_0_9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52" name="Google Shape;1352;g37548cf76b3_0_92"/>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Operasi String</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56" name="Shape 1356"/>
        <p:cNvGrpSpPr/>
        <p:nvPr/>
      </p:nvGrpSpPr>
      <p:grpSpPr>
        <a:xfrm>
          <a:off x="0" y="0"/>
          <a:ext cx="0" cy="0"/>
          <a:chOff x="0" y="0"/>
          <a:chExt cx="0" cy="0"/>
        </a:xfrm>
      </p:grpSpPr>
      <p:sp>
        <p:nvSpPr>
          <p:cNvPr id="1357" name="Google Shape;1357;g37548cf76b3_0_100"/>
          <p:cNvSpPr txBox="1"/>
          <p:nvPr/>
        </p:nvSpPr>
        <p:spPr>
          <a:xfrm>
            <a:off x="1962475" y="4017350"/>
            <a:ext cx="5220600" cy="845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US">
                <a:solidFill>
                  <a:schemeClr val="dk2"/>
                </a:solidFill>
              </a:rPr>
              <a:t>Bagaimana melakukan operasi dan manipulasi string di Python?</a:t>
            </a:r>
            <a:endParaRPr b="1" i="0" sz="1400" u="none" cap="none" strike="noStrike">
              <a:solidFill>
                <a:schemeClr val="dk2"/>
              </a:solidFill>
              <a:latin typeface="Arial"/>
              <a:ea typeface="Arial"/>
              <a:cs typeface="Arial"/>
              <a:sym typeface="Arial"/>
            </a:endParaRPr>
          </a:p>
        </p:txBody>
      </p:sp>
      <p:sp>
        <p:nvSpPr>
          <p:cNvPr id="1358" name="Google Shape;1358;g37548cf76b3_0_100"/>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1359" name="Google Shape;1359;g37548cf76b3_0_10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1360" name="Google Shape;1360;g37548cf76b3_0_100" title="Ilustrasi edukatif tentang text processing di Python. Visual menampilkan sebuah mesin Python berbentuk kotak biru dengan logo Python, di mana teks “Messy Text” yang berantakan (ada spasi, huruf acak kapital, tanda seru berlebih) masuk k.jpg"/>
          <p:cNvPicPr preferRelativeResize="0"/>
          <p:nvPr/>
        </p:nvPicPr>
        <p:blipFill rotWithShape="1">
          <a:blip r:embed="rId4">
            <a:alphaModFix/>
          </a:blip>
          <a:srcRect b="0" l="0" r="0" t="0"/>
          <a:stretch/>
        </p:blipFill>
        <p:spPr>
          <a:xfrm>
            <a:off x="3277375" y="1274145"/>
            <a:ext cx="2590804" cy="259080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64" name="Shape 1364"/>
        <p:cNvGrpSpPr/>
        <p:nvPr/>
      </p:nvGrpSpPr>
      <p:grpSpPr>
        <a:xfrm>
          <a:off x="0" y="0"/>
          <a:ext cx="0" cy="0"/>
          <a:chOff x="0" y="0"/>
          <a:chExt cx="0" cy="0"/>
        </a:xfrm>
      </p:grpSpPr>
      <p:sp>
        <p:nvSpPr>
          <p:cNvPr id="1365" name="Google Shape;1365;g37548cf76b3_0_10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Solusi</a:t>
            </a:r>
            <a:endParaRPr b="1" sz="3600">
              <a:solidFill>
                <a:srgbClr val="48A8C4"/>
              </a:solidFill>
              <a:latin typeface="Plus Jakarta Sans"/>
              <a:ea typeface="Plus Jakarta Sans"/>
              <a:cs typeface="Plus Jakarta Sans"/>
              <a:sym typeface="Plus Jakarta Sans"/>
            </a:endParaRPr>
          </a:p>
        </p:txBody>
      </p:sp>
      <p:pic>
        <p:nvPicPr>
          <p:cNvPr id="1366" name="Google Shape;1366;g37548cf76b3_0_10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67" name="Google Shape;1367;g37548cf76b3_0_107"/>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68" name="Google Shape;1368;g37548cf76b3_0_107"/>
          <p:cNvSpPr txBox="1"/>
          <p:nvPr/>
        </p:nvSpPr>
        <p:spPr>
          <a:xfrm>
            <a:off x="457200" y="1121750"/>
            <a:ext cx="5687400" cy="2816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000"/>
              <a:t>M</a:t>
            </a:r>
            <a:r>
              <a:rPr b="1" lang="en-US" sz="1000"/>
              <a:t>anipulasi String</a:t>
            </a:r>
            <a:endParaRPr b="1" sz="1000"/>
          </a:p>
          <a:p>
            <a:pPr indent="0" lvl="0" marL="0" rtl="0" algn="l">
              <a:lnSpc>
                <a:spcPct val="115000"/>
              </a:lnSpc>
              <a:spcBef>
                <a:spcPts val="0"/>
              </a:spcBef>
              <a:spcAft>
                <a:spcPts val="0"/>
              </a:spcAft>
              <a:buNone/>
            </a:pPr>
            <a:r>
              <a:t/>
            </a:r>
            <a:endParaRPr sz="1000"/>
          </a:p>
          <a:p>
            <a:pPr indent="-292100" lvl="0" marL="457200" rtl="0" algn="l">
              <a:lnSpc>
                <a:spcPct val="115000"/>
              </a:lnSpc>
              <a:spcBef>
                <a:spcPts val="0"/>
              </a:spcBef>
              <a:spcAft>
                <a:spcPts val="0"/>
              </a:spcAft>
              <a:buSzPts val="1000"/>
              <a:buAutoNum type="arabicPeriod"/>
            </a:pPr>
            <a:r>
              <a:rPr lang="en-US" sz="1000"/>
              <a:t>Operator String</a:t>
            </a:r>
            <a:endParaRPr sz="1000"/>
          </a:p>
          <a:p>
            <a:pPr indent="-292100" lvl="1" marL="914400" rtl="0" algn="l">
              <a:lnSpc>
                <a:spcPct val="115000"/>
              </a:lnSpc>
              <a:spcBef>
                <a:spcPts val="0"/>
              </a:spcBef>
              <a:spcAft>
                <a:spcPts val="0"/>
              </a:spcAft>
              <a:buSzPts val="1000"/>
              <a:buAutoNum type="alphaLcPeriod"/>
            </a:pPr>
            <a:r>
              <a:rPr lang="en-US" sz="1000"/>
              <a:t>+ (Concatenation)</a:t>
            </a:r>
            <a:endParaRPr sz="1000"/>
          </a:p>
          <a:p>
            <a:pPr indent="-292100" lvl="1" marL="914400" rtl="0" algn="l">
              <a:lnSpc>
                <a:spcPct val="115000"/>
              </a:lnSpc>
              <a:spcBef>
                <a:spcPts val="0"/>
              </a:spcBef>
              <a:spcAft>
                <a:spcPts val="0"/>
              </a:spcAft>
              <a:buSzPts val="1000"/>
              <a:buAutoNum type="alphaLcPeriod"/>
            </a:pPr>
            <a:r>
              <a:t/>
            </a:r>
            <a:endParaRPr sz="1000"/>
          </a:p>
          <a:p>
            <a:pPr indent="0" lvl="0" marL="914400" rtl="0" algn="l">
              <a:lnSpc>
                <a:spcPct val="115000"/>
              </a:lnSpc>
              <a:spcBef>
                <a:spcPts val="0"/>
              </a:spcBef>
              <a:spcAft>
                <a:spcPts val="0"/>
              </a:spcAft>
              <a:buNone/>
            </a:pPr>
            <a:r>
              <a:t/>
            </a:r>
            <a:endParaRPr sz="1000"/>
          </a:p>
          <a:p>
            <a:pPr indent="0" lvl="0" marL="914400" rtl="0" algn="l">
              <a:lnSpc>
                <a:spcPct val="115000"/>
              </a:lnSpc>
              <a:spcBef>
                <a:spcPts val="0"/>
              </a:spcBef>
              <a:spcAft>
                <a:spcPts val="0"/>
              </a:spcAft>
              <a:buNone/>
            </a:pPr>
            <a:r>
              <a:t/>
            </a:r>
            <a:endParaRPr sz="1000"/>
          </a:p>
          <a:p>
            <a:pPr indent="0" lvl="0" marL="914400" rtl="0" algn="l">
              <a:lnSpc>
                <a:spcPct val="115000"/>
              </a:lnSpc>
              <a:spcBef>
                <a:spcPts val="0"/>
              </a:spcBef>
              <a:spcAft>
                <a:spcPts val="0"/>
              </a:spcAft>
              <a:buNone/>
            </a:pPr>
            <a:r>
              <a:t/>
            </a:r>
            <a:endParaRPr sz="1000"/>
          </a:p>
          <a:p>
            <a:pPr indent="0" lvl="0" marL="914400" rtl="0" algn="l">
              <a:lnSpc>
                <a:spcPct val="115000"/>
              </a:lnSpc>
              <a:spcBef>
                <a:spcPts val="0"/>
              </a:spcBef>
              <a:spcAft>
                <a:spcPts val="0"/>
              </a:spcAft>
              <a:buNone/>
            </a:pPr>
            <a:r>
              <a:t/>
            </a:r>
            <a:endParaRPr sz="1000"/>
          </a:p>
          <a:p>
            <a:pPr indent="-292100" lvl="1" marL="914400" rtl="0" algn="l">
              <a:lnSpc>
                <a:spcPct val="115000"/>
              </a:lnSpc>
              <a:spcBef>
                <a:spcPts val="0"/>
              </a:spcBef>
              <a:spcAft>
                <a:spcPts val="0"/>
              </a:spcAft>
              <a:buSzPts val="1000"/>
              <a:buAutoNum type="alphaLcPeriod"/>
            </a:pPr>
            <a:r>
              <a:rPr lang="en-US" sz="1000"/>
              <a:t>* (Repetition)</a:t>
            </a:r>
            <a:endParaRPr sz="1000"/>
          </a:p>
          <a:p>
            <a:pPr indent="-292100" lvl="1" marL="914400" rtl="0" algn="l">
              <a:lnSpc>
                <a:spcPct val="115000"/>
              </a:lnSpc>
              <a:spcBef>
                <a:spcPts val="0"/>
              </a:spcBef>
              <a:spcAft>
                <a:spcPts val="0"/>
              </a:spcAft>
              <a:buSzPts val="1000"/>
              <a:buAutoNum type="alphaLcPeriod"/>
            </a:pPr>
            <a:r>
              <a:t/>
            </a:r>
            <a:endParaRPr sz="1000"/>
          </a:p>
          <a:p>
            <a:pPr indent="0" lvl="0" marL="914400" rtl="0" algn="l">
              <a:lnSpc>
                <a:spcPct val="115000"/>
              </a:lnSpc>
              <a:spcBef>
                <a:spcPts val="0"/>
              </a:spcBef>
              <a:spcAft>
                <a:spcPts val="0"/>
              </a:spcAft>
              <a:buNone/>
            </a:pPr>
            <a:r>
              <a:t/>
            </a:r>
            <a:endParaRPr sz="1000"/>
          </a:p>
          <a:p>
            <a:pPr indent="0" lvl="0" marL="914400" rtl="0" algn="l">
              <a:lnSpc>
                <a:spcPct val="115000"/>
              </a:lnSpc>
              <a:spcBef>
                <a:spcPts val="0"/>
              </a:spcBef>
              <a:spcAft>
                <a:spcPts val="0"/>
              </a:spcAft>
              <a:buNone/>
            </a:pPr>
            <a:r>
              <a:t/>
            </a:r>
            <a:endParaRPr sz="1000"/>
          </a:p>
          <a:p>
            <a:pPr indent="0" lvl="0" marL="914400" rtl="0" algn="l">
              <a:lnSpc>
                <a:spcPct val="115000"/>
              </a:lnSpc>
              <a:spcBef>
                <a:spcPts val="0"/>
              </a:spcBef>
              <a:spcAft>
                <a:spcPts val="0"/>
              </a:spcAft>
              <a:buNone/>
            </a:pPr>
            <a:r>
              <a:t/>
            </a:r>
            <a:endParaRPr sz="1000"/>
          </a:p>
          <a:p>
            <a:pPr indent="-292100" lvl="0" marL="457200" rtl="0" algn="l">
              <a:lnSpc>
                <a:spcPct val="115000"/>
              </a:lnSpc>
              <a:spcBef>
                <a:spcPts val="0"/>
              </a:spcBef>
              <a:spcAft>
                <a:spcPts val="0"/>
              </a:spcAft>
              <a:buSzPts val="1000"/>
              <a:buAutoNum type="arabicPeriod"/>
            </a:pPr>
            <a:r>
              <a:rPr lang="en-US" sz="1000"/>
              <a:t>F-String</a:t>
            </a:r>
            <a:endParaRPr sz="1000"/>
          </a:p>
        </p:txBody>
      </p:sp>
      <p:sp>
        <p:nvSpPr>
          <p:cNvPr id="1369" name="Google Shape;1369;g37548cf76b3_0_107"/>
          <p:cNvSpPr txBox="1"/>
          <p:nvPr/>
        </p:nvSpPr>
        <p:spPr>
          <a:xfrm>
            <a:off x="1091725" y="1907575"/>
            <a:ext cx="5052900" cy="8010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nama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"Budi"</a:t>
            </a:r>
            <a:endParaRPr sz="900">
              <a:solidFill>
                <a:srgbClr val="CE9178"/>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pesan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"Halo, "</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nama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a:t>
            </a:r>
            <a:endParaRPr sz="900">
              <a:solidFill>
                <a:srgbClr val="CE9178"/>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pesan</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p:txBody>
      </p:sp>
      <p:sp>
        <p:nvSpPr>
          <p:cNvPr id="1370" name="Google Shape;1370;g37548cf76b3_0_107"/>
          <p:cNvSpPr txBox="1"/>
          <p:nvPr/>
        </p:nvSpPr>
        <p:spPr>
          <a:xfrm>
            <a:off x="1091725" y="2959400"/>
            <a:ext cx="5052900" cy="5310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garis_pemisah</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10</a:t>
            </a:r>
            <a:endParaRPr sz="900">
              <a:solidFill>
                <a:srgbClr val="B5CEA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garis_pemisah</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p:txBody>
      </p:sp>
      <p:sp>
        <p:nvSpPr>
          <p:cNvPr id="1371" name="Google Shape;1371;g37548cf76b3_0_107"/>
          <p:cNvSpPr txBox="1"/>
          <p:nvPr/>
        </p:nvSpPr>
        <p:spPr>
          <a:xfrm>
            <a:off x="1091725" y="3867850"/>
            <a:ext cx="5052900" cy="9606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produk</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"Kopi Latte"</a:t>
            </a:r>
            <a:endParaRPr sz="900">
              <a:solidFill>
                <a:srgbClr val="CE9178"/>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harga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B5CEA8"/>
                </a:solidFill>
                <a:highlight>
                  <a:srgbClr val="1F1F1F"/>
                </a:highlight>
                <a:latin typeface="Consolas"/>
                <a:ea typeface="Consolas"/>
                <a:cs typeface="Consolas"/>
                <a:sym typeface="Consolas"/>
              </a:rPr>
              <a:t>25000</a:t>
            </a:r>
            <a:endParaRPr sz="900">
              <a:solidFill>
                <a:srgbClr val="B5CEA8"/>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pesan_menu</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569CD6"/>
                </a:solidFill>
                <a:highlight>
                  <a:srgbClr val="1F1F1F"/>
                </a:highlight>
                <a:latin typeface="Consolas"/>
                <a:ea typeface="Consolas"/>
                <a:cs typeface="Consolas"/>
                <a:sym typeface="Consolas"/>
              </a:rPr>
              <a:t>f</a:t>
            </a:r>
            <a:r>
              <a:rPr lang="en-US" sz="900">
                <a:solidFill>
                  <a:srgbClr val="CE9178"/>
                </a:solidFill>
                <a:highlight>
                  <a:srgbClr val="1F1F1F"/>
                </a:highlight>
                <a:latin typeface="Consolas"/>
                <a:ea typeface="Consolas"/>
                <a:cs typeface="Consolas"/>
                <a:sym typeface="Consolas"/>
              </a:rPr>
              <a:t>"Harga </a:t>
            </a:r>
            <a:r>
              <a:rPr lang="en-US" sz="900">
                <a:solidFill>
                  <a:srgbClr val="569CD6"/>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produk</a:t>
            </a:r>
            <a:r>
              <a:rPr lang="en-US" sz="900">
                <a:solidFill>
                  <a:srgbClr val="569CD6"/>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 adalah Rp</a:t>
            </a:r>
            <a:r>
              <a:rPr lang="en-US" sz="900">
                <a:solidFill>
                  <a:srgbClr val="569CD6"/>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harga</a:t>
            </a:r>
            <a:r>
              <a:rPr lang="en-US" sz="900">
                <a:solidFill>
                  <a:srgbClr val="569CD6"/>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a:t>
            </a:r>
            <a:endParaRPr sz="900">
              <a:solidFill>
                <a:srgbClr val="CE9178"/>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pesan_menu</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75" name="Shape 1375"/>
        <p:cNvGrpSpPr/>
        <p:nvPr/>
      </p:nvGrpSpPr>
      <p:grpSpPr>
        <a:xfrm>
          <a:off x="0" y="0"/>
          <a:ext cx="0" cy="0"/>
          <a:chOff x="0" y="0"/>
          <a:chExt cx="0" cy="0"/>
        </a:xfrm>
      </p:grpSpPr>
      <p:sp>
        <p:nvSpPr>
          <p:cNvPr id="1376" name="Google Shape;1376;g37548cf76b3_0_158"/>
          <p:cNvSpPr txBox="1"/>
          <p:nvPr/>
        </p:nvSpPr>
        <p:spPr>
          <a:xfrm>
            <a:off x="1091725" y="2959400"/>
            <a:ext cx="5052900" cy="22350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kalimat</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"Belajar Python"</a:t>
            </a:r>
            <a:endParaRPr sz="900">
              <a:solidFill>
                <a:srgbClr val="CE9178"/>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6A9955"/>
                </a:solidFill>
                <a:highlight>
                  <a:srgbClr val="1F1F1F"/>
                </a:highlight>
                <a:latin typeface="Consolas"/>
                <a:ea typeface="Consolas"/>
                <a:cs typeface="Consolas"/>
                <a:sym typeface="Consolas"/>
              </a:rPr>
              <a:t># Mengambil dari indeks 0 sampai 2</a:t>
            </a:r>
            <a:endParaRPr sz="9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kalimat</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0</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3</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6A9955"/>
                </a:solidFill>
                <a:highlight>
                  <a:srgbClr val="1F1F1F"/>
                </a:highlight>
                <a:latin typeface="Consolas"/>
                <a:ea typeface="Consolas"/>
                <a:cs typeface="Consolas"/>
                <a:sym typeface="Consolas"/>
              </a:rPr>
              <a:t># Mengambil dari indeks 0 sampai 7 dengan langkah 2</a:t>
            </a:r>
            <a:endParaRPr sz="9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kalimat</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0</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8</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2</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6A9955"/>
                </a:solidFill>
                <a:highlight>
                  <a:srgbClr val="1F1F1F"/>
                </a:highlight>
                <a:latin typeface="Consolas"/>
                <a:ea typeface="Consolas"/>
                <a:cs typeface="Consolas"/>
                <a:sym typeface="Consolas"/>
              </a:rPr>
              <a:t># Mengambil dari indeks 5 sampai akhir</a:t>
            </a:r>
            <a:endParaRPr sz="9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kalimat</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5</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6A9955"/>
                </a:solidFill>
                <a:highlight>
                  <a:srgbClr val="1F1F1F"/>
                </a:highlight>
                <a:latin typeface="Consolas"/>
                <a:ea typeface="Consolas"/>
                <a:cs typeface="Consolas"/>
                <a:sym typeface="Consolas"/>
              </a:rPr>
              <a:t># Mengambil dari indeks 10 sampai 2 dengan langkah -1</a:t>
            </a:r>
            <a:endParaRPr sz="9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kalimat</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10</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2</a:t>
            </a:r>
            <a:r>
              <a:rPr lang="en-US" sz="900">
                <a:solidFill>
                  <a:srgbClr val="CCCCCC"/>
                </a:solidFill>
                <a:highlight>
                  <a:srgbClr val="1F1F1F"/>
                </a:highlight>
                <a:latin typeface="Consolas"/>
                <a:ea typeface="Consolas"/>
                <a:cs typeface="Consolas"/>
                <a:sym typeface="Consolas"/>
              </a:rPr>
              <a:t>:</a:t>
            </a:r>
            <a:r>
              <a:rPr lang="en-US" sz="900">
                <a:solidFill>
                  <a:srgbClr val="D4D4D4"/>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1</a:t>
            </a:r>
            <a:r>
              <a:rPr lang="en-US" sz="900">
                <a:solidFill>
                  <a:srgbClr val="CCCCCC"/>
                </a:solidFill>
                <a:highlight>
                  <a:srgbClr val="1F1F1F"/>
                </a:highlight>
                <a:latin typeface="Consolas"/>
                <a:ea typeface="Consolas"/>
                <a:cs typeface="Consolas"/>
                <a:sym typeface="Consolas"/>
              </a:rPr>
              <a:t>])</a:t>
            </a:r>
            <a:endParaRPr sz="900">
              <a:solidFill>
                <a:srgbClr val="9CDCFE"/>
              </a:solidFill>
              <a:highlight>
                <a:srgbClr val="1F1F1F"/>
              </a:highlight>
              <a:latin typeface="Consolas"/>
              <a:ea typeface="Consolas"/>
              <a:cs typeface="Consolas"/>
              <a:sym typeface="Consolas"/>
            </a:endParaRPr>
          </a:p>
        </p:txBody>
      </p:sp>
      <p:sp>
        <p:nvSpPr>
          <p:cNvPr id="1377" name="Google Shape;1377;g37548cf76b3_0_158"/>
          <p:cNvSpPr txBox="1"/>
          <p:nvPr/>
        </p:nvSpPr>
        <p:spPr>
          <a:xfrm>
            <a:off x="457200" y="1121750"/>
            <a:ext cx="5687400" cy="1754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000"/>
              <a:t>Manipulasi String</a:t>
            </a:r>
            <a:endParaRPr b="1" sz="1000"/>
          </a:p>
          <a:p>
            <a:pPr indent="0" lvl="0" marL="0" rtl="0" algn="l">
              <a:lnSpc>
                <a:spcPct val="115000"/>
              </a:lnSpc>
              <a:spcBef>
                <a:spcPts val="0"/>
              </a:spcBef>
              <a:spcAft>
                <a:spcPts val="0"/>
              </a:spcAft>
              <a:buNone/>
            </a:pPr>
            <a:r>
              <a:t/>
            </a:r>
            <a:endParaRPr sz="1000"/>
          </a:p>
          <a:p>
            <a:pPr indent="-292100" lvl="0" marL="457200" rtl="0" algn="l">
              <a:lnSpc>
                <a:spcPct val="115000"/>
              </a:lnSpc>
              <a:spcBef>
                <a:spcPts val="0"/>
              </a:spcBef>
              <a:spcAft>
                <a:spcPts val="0"/>
              </a:spcAft>
              <a:buSzPts val="1000"/>
              <a:buAutoNum type="arabicPeriod"/>
            </a:pPr>
            <a:r>
              <a:rPr lang="en-US" sz="1000"/>
              <a:t>Indexing </a:t>
            </a:r>
            <a:r>
              <a:rPr lang="en-US" sz="1000">
                <a:solidFill>
                  <a:schemeClr val="dk1"/>
                </a:solidFill>
              </a:rPr>
              <a:t>→ [index]</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t/>
            </a:r>
            <a:endParaRPr sz="1000"/>
          </a:p>
          <a:p>
            <a:pPr indent="-292100" lvl="0" marL="457200" rtl="0" algn="l">
              <a:lnSpc>
                <a:spcPct val="115000"/>
              </a:lnSpc>
              <a:spcBef>
                <a:spcPts val="0"/>
              </a:spcBef>
              <a:spcAft>
                <a:spcPts val="0"/>
              </a:spcAft>
              <a:buSzPts val="1000"/>
              <a:buAutoNum type="arabicPeriod"/>
            </a:pPr>
            <a:r>
              <a:rPr lang="en-US" sz="1000"/>
              <a:t>Slicing → [start:end:step] </a:t>
            </a:r>
            <a:r>
              <a:rPr lang="en-US" sz="1000">
                <a:solidFill>
                  <a:schemeClr val="dk1"/>
                </a:solidFill>
              </a:rPr>
              <a:t>→ [inklusif:eksklusif:opsional]</a:t>
            </a:r>
            <a:endParaRPr sz="1000"/>
          </a:p>
        </p:txBody>
      </p:sp>
      <p:sp>
        <p:nvSpPr>
          <p:cNvPr id="1378" name="Google Shape;1378;g37548cf76b3_0_158"/>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1379" name="Google Shape;1379;g37548cf76b3_0_15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80" name="Google Shape;1380;g37548cf76b3_0_158"/>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81" name="Google Shape;1381;g37548cf76b3_0_158"/>
          <p:cNvSpPr txBox="1"/>
          <p:nvPr/>
        </p:nvSpPr>
        <p:spPr>
          <a:xfrm>
            <a:off x="1091725" y="1755175"/>
            <a:ext cx="5052900" cy="8010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900">
                <a:solidFill>
                  <a:srgbClr val="9CDCFE"/>
                </a:solidFill>
                <a:highlight>
                  <a:srgbClr val="1F1F1F"/>
                </a:highlight>
                <a:latin typeface="Consolas"/>
                <a:ea typeface="Consolas"/>
                <a:cs typeface="Consolas"/>
                <a:sym typeface="Consolas"/>
              </a:rPr>
              <a:t>kata</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"Python"</a:t>
            </a:r>
            <a:endParaRPr sz="900">
              <a:solidFill>
                <a:srgbClr val="CE9178"/>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kata</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0</a:t>
            </a:r>
            <a:r>
              <a:rPr lang="en-US" sz="900">
                <a:solidFill>
                  <a:srgbClr val="CCCCCC"/>
                </a:solidFill>
                <a:highlight>
                  <a:srgbClr val="1F1F1F"/>
                </a:highlight>
                <a:latin typeface="Consolas"/>
                <a:ea typeface="Consolas"/>
                <a:cs typeface="Consolas"/>
                <a:sym typeface="Consolas"/>
              </a:rPr>
              <a:t>])  </a:t>
            </a:r>
            <a:r>
              <a:rPr lang="en-US" sz="900">
                <a:solidFill>
                  <a:srgbClr val="6A9955"/>
                </a:solidFill>
                <a:highlight>
                  <a:srgbClr val="1F1F1F"/>
                </a:highlight>
                <a:latin typeface="Consolas"/>
                <a:ea typeface="Consolas"/>
                <a:cs typeface="Consolas"/>
                <a:sym typeface="Consolas"/>
              </a:rPr>
              <a:t># Output: P (karakter pertama)</a:t>
            </a:r>
            <a:endParaRPr sz="9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kata</a:t>
            </a:r>
            <a:r>
              <a:rPr lang="en-US" sz="900">
                <a:solidFill>
                  <a:srgbClr val="CCCCCC"/>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2</a:t>
            </a:r>
            <a:r>
              <a:rPr lang="en-US" sz="900">
                <a:solidFill>
                  <a:srgbClr val="CCCCCC"/>
                </a:solidFill>
                <a:highlight>
                  <a:srgbClr val="1F1F1F"/>
                </a:highlight>
                <a:latin typeface="Consolas"/>
                <a:ea typeface="Consolas"/>
                <a:cs typeface="Consolas"/>
                <a:sym typeface="Consolas"/>
              </a:rPr>
              <a:t>])  </a:t>
            </a:r>
            <a:r>
              <a:rPr lang="en-US" sz="900">
                <a:solidFill>
                  <a:srgbClr val="6A9955"/>
                </a:solidFill>
                <a:highlight>
                  <a:srgbClr val="1F1F1F"/>
                </a:highlight>
                <a:latin typeface="Consolas"/>
                <a:ea typeface="Consolas"/>
                <a:cs typeface="Consolas"/>
                <a:sym typeface="Consolas"/>
              </a:rPr>
              <a:t># Output: t (karakter ketiga)</a:t>
            </a:r>
            <a:endParaRPr sz="9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kata</a:t>
            </a:r>
            <a:r>
              <a:rPr lang="en-US" sz="900">
                <a:solidFill>
                  <a:srgbClr val="CCCCCC"/>
                </a:solidFill>
                <a:highlight>
                  <a:srgbClr val="1F1F1F"/>
                </a:highlight>
                <a:latin typeface="Consolas"/>
                <a:ea typeface="Consolas"/>
                <a:cs typeface="Consolas"/>
                <a:sym typeface="Consolas"/>
              </a:rPr>
              <a:t>[</a:t>
            </a:r>
            <a:r>
              <a:rPr lang="en-US" sz="900">
                <a:solidFill>
                  <a:srgbClr val="D4D4D4"/>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1</a:t>
            </a:r>
            <a:r>
              <a:rPr lang="en-US" sz="900">
                <a:solidFill>
                  <a:srgbClr val="CCCCCC"/>
                </a:solidFill>
                <a:highlight>
                  <a:srgbClr val="1F1F1F"/>
                </a:highlight>
                <a:latin typeface="Consolas"/>
                <a:ea typeface="Consolas"/>
                <a:cs typeface="Consolas"/>
                <a:sym typeface="Consolas"/>
              </a:rPr>
              <a:t>]) </a:t>
            </a:r>
            <a:r>
              <a:rPr lang="en-US" sz="900">
                <a:solidFill>
                  <a:srgbClr val="6A9955"/>
                </a:solidFill>
                <a:highlight>
                  <a:srgbClr val="1F1F1F"/>
                </a:highlight>
                <a:latin typeface="Consolas"/>
                <a:ea typeface="Consolas"/>
                <a:cs typeface="Consolas"/>
                <a:sym typeface="Consolas"/>
              </a:rPr>
              <a:t># Output: n (karakter terakhir)</a:t>
            </a:r>
            <a:endParaRPr sz="900">
              <a:solidFill>
                <a:srgbClr val="9CDCFE"/>
              </a:solidFill>
              <a:highlight>
                <a:srgbClr val="1F1F1F"/>
              </a:highlight>
              <a:latin typeface="Consolas"/>
              <a:ea typeface="Consolas"/>
              <a:cs typeface="Consolas"/>
              <a:sym typeface="Consola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85" name="Shape 1385"/>
        <p:cNvGrpSpPr/>
        <p:nvPr/>
      </p:nvGrpSpPr>
      <p:grpSpPr>
        <a:xfrm>
          <a:off x="0" y="0"/>
          <a:ext cx="0" cy="0"/>
          <a:chOff x="0" y="0"/>
          <a:chExt cx="0" cy="0"/>
        </a:xfrm>
      </p:grpSpPr>
      <p:sp>
        <p:nvSpPr>
          <p:cNvPr id="1386" name="Google Shape;1386;g37548cf76b3_0_168"/>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Sol</a:t>
            </a:r>
            <a:r>
              <a:rPr b="1" lang="en-US" sz="3600">
                <a:solidFill>
                  <a:srgbClr val="48A8C4"/>
                </a:solidFill>
                <a:latin typeface="Plus Jakarta Sans"/>
                <a:ea typeface="Plus Jakarta Sans"/>
                <a:cs typeface="Plus Jakarta Sans"/>
                <a:sym typeface="Plus Jakarta Sans"/>
              </a:rPr>
              <a:t>u</a:t>
            </a:r>
            <a:r>
              <a:rPr b="1" lang="en-US" sz="3600">
                <a:solidFill>
                  <a:srgbClr val="48A8C4"/>
                </a:solidFill>
                <a:latin typeface="Plus Jakarta Sans"/>
                <a:ea typeface="Plus Jakarta Sans"/>
                <a:cs typeface="Plus Jakarta Sans"/>
                <a:sym typeface="Plus Jakarta Sans"/>
              </a:rPr>
              <a:t>si</a:t>
            </a:r>
            <a:endParaRPr b="1" sz="3600">
              <a:solidFill>
                <a:srgbClr val="48A8C4"/>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3600"/>
              <a:buFont typeface="Arial"/>
              <a:buNone/>
            </a:pPr>
            <a:r>
              <a:t/>
            </a:r>
            <a:endParaRPr b="1" sz="3600">
              <a:solidFill>
                <a:srgbClr val="48A8C4"/>
              </a:solidFill>
              <a:latin typeface="Plus Jakarta Sans"/>
              <a:ea typeface="Plus Jakarta Sans"/>
              <a:cs typeface="Plus Jakarta Sans"/>
              <a:sym typeface="Plus Jakarta Sans"/>
            </a:endParaRPr>
          </a:p>
        </p:txBody>
      </p:sp>
      <p:pic>
        <p:nvPicPr>
          <p:cNvPr id="1387" name="Google Shape;1387;g37548cf76b3_0_16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88" name="Google Shape;1388;g37548cf76b3_0_168"/>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389" name="Google Shape;1389;g37548cf76b3_0_168"/>
          <p:cNvPicPr preferRelativeResize="0"/>
          <p:nvPr/>
        </p:nvPicPr>
        <p:blipFill>
          <a:blip r:embed="rId4">
            <a:alphaModFix/>
          </a:blip>
          <a:stretch>
            <a:fillRect/>
          </a:stretch>
        </p:blipFill>
        <p:spPr>
          <a:xfrm>
            <a:off x="2391638" y="1121745"/>
            <a:ext cx="3243230" cy="371853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93" name="Shape 1393"/>
        <p:cNvGrpSpPr/>
        <p:nvPr/>
      </p:nvGrpSpPr>
      <p:grpSpPr>
        <a:xfrm>
          <a:off x="0" y="0"/>
          <a:ext cx="0" cy="0"/>
          <a:chOff x="0" y="0"/>
          <a:chExt cx="0" cy="0"/>
        </a:xfrm>
      </p:grpSpPr>
      <p:sp>
        <p:nvSpPr>
          <p:cNvPr id="1394" name="Google Shape;1394;g37548cf76b3_0_183"/>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lang="en-US" sz="3600">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1395" name="Google Shape;1395;g37548cf76b3_0_18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396" name="Google Shape;1396;g37548cf76b3_0_183"/>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97" name="Google Shape;1397;g37548cf76b3_0_183"/>
          <p:cNvSpPr txBox="1"/>
          <p:nvPr/>
        </p:nvSpPr>
        <p:spPr>
          <a:xfrm>
            <a:off x="457200" y="1121750"/>
            <a:ext cx="5052900" cy="40635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Data tidak rapi</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nama_pelanggan_raw</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   BUDI SANTOSO "</a:t>
            </a:r>
            <a:endParaRPr sz="900">
              <a:solidFill>
                <a:srgbClr val="CE917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id_pesanan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"ORD-001-KOPI"</a:t>
            </a:r>
            <a:endParaRPr sz="900">
              <a:solidFill>
                <a:srgbClr val="CE917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1. Membersihkan dan menstandarisasi nama</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nama_tanpa_spasi</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nama_pelanggan_raw</a:t>
            </a:r>
            <a:r>
              <a:rPr lang="en-US" sz="900">
                <a:solidFill>
                  <a:srgbClr val="CCCCCC"/>
                </a:solidFill>
                <a:highlight>
                  <a:srgbClr val="1F1F1F"/>
                </a:highlight>
                <a:latin typeface="Consolas"/>
                <a:ea typeface="Consolas"/>
                <a:cs typeface="Consolas"/>
                <a:sym typeface="Consolas"/>
              </a:rPr>
              <a:t>.</a:t>
            </a:r>
            <a:r>
              <a:rPr lang="en-US" sz="900">
                <a:solidFill>
                  <a:srgbClr val="DCDCAA"/>
                </a:solidFill>
                <a:highlight>
                  <a:srgbClr val="1F1F1F"/>
                </a:highlight>
                <a:latin typeface="Consolas"/>
                <a:ea typeface="Consolas"/>
                <a:cs typeface="Consolas"/>
                <a:sym typeface="Consolas"/>
              </a:rPr>
              <a:t>strip</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nama_standar</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nama_tanpa_spasi</a:t>
            </a:r>
            <a:r>
              <a:rPr lang="en-US" sz="900">
                <a:solidFill>
                  <a:srgbClr val="CCCCCC"/>
                </a:solidFill>
                <a:highlight>
                  <a:srgbClr val="1F1F1F"/>
                </a:highlight>
                <a:latin typeface="Consolas"/>
                <a:ea typeface="Consolas"/>
                <a:cs typeface="Consolas"/>
                <a:sym typeface="Consolas"/>
              </a:rPr>
              <a:t>.</a:t>
            </a:r>
            <a:r>
              <a:rPr lang="en-US" sz="900">
                <a:solidFill>
                  <a:srgbClr val="DCDCAA"/>
                </a:solidFill>
                <a:highlight>
                  <a:srgbClr val="1F1F1F"/>
                </a:highlight>
                <a:latin typeface="Consolas"/>
                <a:ea typeface="Consolas"/>
                <a:cs typeface="Consolas"/>
                <a:sym typeface="Consolas"/>
              </a:rPr>
              <a:t>title</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pesan_sambutan</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569CD6"/>
                </a:solidFill>
                <a:highlight>
                  <a:srgbClr val="1F1F1F"/>
                </a:highlight>
                <a:latin typeface="Consolas"/>
                <a:ea typeface="Consolas"/>
                <a:cs typeface="Consolas"/>
                <a:sym typeface="Consolas"/>
              </a:rPr>
              <a:t>f</a:t>
            </a:r>
            <a:r>
              <a:rPr lang="en-US" sz="900">
                <a:solidFill>
                  <a:srgbClr val="CE9178"/>
                </a:solidFill>
                <a:highlight>
                  <a:srgbClr val="1F1F1F"/>
                </a:highlight>
                <a:latin typeface="Consolas"/>
                <a:ea typeface="Consolas"/>
                <a:cs typeface="Consolas"/>
                <a:sym typeface="Consolas"/>
              </a:rPr>
              <a:t>"Selamat datang, </a:t>
            </a:r>
            <a:r>
              <a:rPr lang="en-US" sz="900">
                <a:solidFill>
                  <a:srgbClr val="569CD6"/>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nama_standar</a:t>
            </a:r>
            <a:r>
              <a:rPr lang="en-US" sz="900">
                <a:solidFill>
                  <a:srgbClr val="569CD6"/>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a:t>
            </a:r>
            <a:endParaRPr sz="900">
              <a:solidFill>
                <a:srgbClr val="CE917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pesan_sambutan</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2. Mengekstrak kode produk dari ID</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kode_produk</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id_pesanan</a:t>
            </a:r>
            <a:r>
              <a:rPr lang="en-US" sz="900">
                <a:solidFill>
                  <a:srgbClr val="CCCCCC"/>
                </a:solidFill>
                <a:highlight>
                  <a:srgbClr val="1F1F1F"/>
                </a:highlight>
                <a:latin typeface="Consolas"/>
                <a:ea typeface="Consolas"/>
                <a:cs typeface="Consolas"/>
                <a:sym typeface="Consolas"/>
              </a:rPr>
              <a:t>[</a:t>
            </a:r>
            <a:r>
              <a:rPr lang="en-US" sz="900">
                <a:solidFill>
                  <a:srgbClr val="D4D4D4"/>
                </a:solidFill>
                <a:highlight>
                  <a:srgbClr val="1F1F1F"/>
                </a:highlight>
                <a:latin typeface="Consolas"/>
                <a:ea typeface="Consolas"/>
                <a:cs typeface="Consolas"/>
                <a:sym typeface="Consolas"/>
              </a:rPr>
              <a:t>-</a:t>
            </a:r>
            <a:r>
              <a:rPr lang="en-US" sz="900">
                <a:solidFill>
                  <a:srgbClr val="B5CEA8"/>
                </a:solidFill>
                <a:highlight>
                  <a:srgbClr val="1F1F1F"/>
                </a:highlight>
                <a:latin typeface="Consolas"/>
                <a:ea typeface="Consolas"/>
                <a:cs typeface="Consolas"/>
                <a:sym typeface="Consolas"/>
              </a:rPr>
              <a:t>4</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569CD6"/>
                </a:solidFill>
                <a:highlight>
                  <a:srgbClr val="1F1F1F"/>
                </a:highlight>
                <a:latin typeface="Consolas"/>
                <a:ea typeface="Consolas"/>
                <a:cs typeface="Consolas"/>
                <a:sym typeface="Consolas"/>
              </a:rPr>
              <a:t>f</a:t>
            </a:r>
            <a:r>
              <a:rPr lang="en-US" sz="900">
                <a:solidFill>
                  <a:srgbClr val="CE9178"/>
                </a:solidFill>
                <a:highlight>
                  <a:srgbClr val="1F1F1F"/>
                </a:highlight>
                <a:latin typeface="Consolas"/>
                <a:ea typeface="Consolas"/>
                <a:cs typeface="Consolas"/>
                <a:sym typeface="Consolas"/>
              </a:rPr>
              <a:t>"Kode produk dari ID pesanan: </a:t>
            </a:r>
            <a:r>
              <a:rPr lang="en-US" sz="900">
                <a:solidFill>
                  <a:srgbClr val="569CD6"/>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kode_produk</a:t>
            </a:r>
            <a:r>
              <a:rPr lang="en-US" sz="900">
                <a:solidFill>
                  <a:srgbClr val="569CD6"/>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6A9955"/>
                </a:solidFill>
                <a:highlight>
                  <a:srgbClr val="1F1F1F"/>
                </a:highlight>
                <a:latin typeface="Consolas"/>
                <a:ea typeface="Consolas"/>
                <a:cs typeface="Consolas"/>
                <a:sym typeface="Consolas"/>
              </a:rPr>
              <a:t># 3. Mengubah deskripsi produk menjadi huruf kecil</a:t>
            </a:r>
            <a:endParaRPr sz="900">
              <a:solidFill>
                <a:srgbClr val="6A9955"/>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deskripsi_produk</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CE9178"/>
                </a:solidFill>
                <a:highlight>
                  <a:srgbClr val="1F1F1F"/>
                </a:highlight>
                <a:latin typeface="Consolas"/>
                <a:ea typeface="Consolas"/>
                <a:cs typeface="Consolas"/>
                <a:sym typeface="Consolas"/>
              </a:rPr>
              <a:t>"KOPI ARABIKA, Americano"</a:t>
            </a:r>
            <a:endParaRPr sz="900">
              <a:solidFill>
                <a:srgbClr val="CE9178"/>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9CDCFE"/>
                </a:solidFill>
                <a:highlight>
                  <a:srgbClr val="1F1F1F"/>
                </a:highlight>
                <a:latin typeface="Consolas"/>
                <a:ea typeface="Consolas"/>
                <a:cs typeface="Consolas"/>
                <a:sym typeface="Consolas"/>
              </a:rPr>
              <a:t>deskripsi_lower</a:t>
            </a:r>
            <a:r>
              <a:rPr lang="en-US" sz="900">
                <a:solidFill>
                  <a:srgbClr val="CCCCCC"/>
                </a:solidFill>
                <a:highlight>
                  <a:srgbClr val="1F1F1F"/>
                </a:highlight>
                <a:latin typeface="Consolas"/>
                <a:ea typeface="Consolas"/>
                <a:cs typeface="Consolas"/>
                <a:sym typeface="Consolas"/>
              </a:rPr>
              <a:t> </a:t>
            </a:r>
            <a:r>
              <a:rPr lang="en-US" sz="900">
                <a:solidFill>
                  <a:srgbClr val="D4D4D4"/>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 </a:t>
            </a:r>
            <a:r>
              <a:rPr lang="en-US" sz="900">
                <a:solidFill>
                  <a:srgbClr val="9CDCFE"/>
                </a:solidFill>
                <a:highlight>
                  <a:srgbClr val="1F1F1F"/>
                </a:highlight>
                <a:latin typeface="Consolas"/>
                <a:ea typeface="Consolas"/>
                <a:cs typeface="Consolas"/>
                <a:sym typeface="Consolas"/>
              </a:rPr>
              <a:t>deskripsi_produk</a:t>
            </a:r>
            <a:r>
              <a:rPr lang="en-US" sz="900">
                <a:solidFill>
                  <a:srgbClr val="CCCCCC"/>
                </a:solidFill>
                <a:highlight>
                  <a:srgbClr val="1F1F1F"/>
                </a:highlight>
                <a:latin typeface="Consolas"/>
                <a:ea typeface="Consolas"/>
                <a:cs typeface="Consolas"/>
                <a:sym typeface="Consolas"/>
              </a:rPr>
              <a:t>.</a:t>
            </a:r>
            <a:r>
              <a:rPr lang="en-US" sz="900">
                <a:solidFill>
                  <a:srgbClr val="DCDCAA"/>
                </a:solidFill>
                <a:highlight>
                  <a:srgbClr val="1F1F1F"/>
                </a:highlight>
                <a:latin typeface="Consolas"/>
                <a:ea typeface="Consolas"/>
                <a:cs typeface="Consolas"/>
                <a:sym typeface="Consolas"/>
              </a:rPr>
              <a:t>lower</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US" sz="900">
                <a:solidFill>
                  <a:srgbClr val="DCDCAA"/>
                </a:solidFill>
                <a:highlight>
                  <a:srgbClr val="1F1F1F"/>
                </a:highlight>
                <a:latin typeface="Consolas"/>
                <a:ea typeface="Consolas"/>
                <a:cs typeface="Consolas"/>
                <a:sym typeface="Consolas"/>
              </a:rPr>
              <a:t>print</a:t>
            </a:r>
            <a:r>
              <a:rPr lang="en-US" sz="900">
                <a:solidFill>
                  <a:srgbClr val="CCCCCC"/>
                </a:solidFill>
                <a:highlight>
                  <a:srgbClr val="1F1F1F"/>
                </a:highlight>
                <a:latin typeface="Consolas"/>
                <a:ea typeface="Consolas"/>
                <a:cs typeface="Consolas"/>
                <a:sym typeface="Consolas"/>
              </a:rPr>
              <a:t>(</a:t>
            </a:r>
            <a:r>
              <a:rPr lang="en-US" sz="900">
                <a:solidFill>
                  <a:srgbClr val="569CD6"/>
                </a:solidFill>
                <a:highlight>
                  <a:srgbClr val="1F1F1F"/>
                </a:highlight>
                <a:latin typeface="Consolas"/>
                <a:ea typeface="Consolas"/>
                <a:cs typeface="Consolas"/>
                <a:sym typeface="Consolas"/>
              </a:rPr>
              <a:t>f</a:t>
            </a:r>
            <a:r>
              <a:rPr lang="en-US" sz="900">
                <a:solidFill>
                  <a:srgbClr val="CE9178"/>
                </a:solidFill>
                <a:highlight>
                  <a:srgbClr val="1F1F1F"/>
                </a:highlight>
                <a:latin typeface="Consolas"/>
                <a:ea typeface="Consolas"/>
                <a:cs typeface="Consolas"/>
                <a:sym typeface="Consolas"/>
              </a:rPr>
              <a:t>"Deskripsi produk dalam huruf kecil: </a:t>
            </a:r>
            <a:r>
              <a:rPr lang="en-US" sz="900">
                <a:solidFill>
                  <a:srgbClr val="569CD6"/>
                </a:solidFill>
                <a:highlight>
                  <a:srgbClr val="1F1F1F"/>
                </a:highlight>
                <a:latin typeface="Consolas"/>
                <a:ea typeface="Consolas"/>
                <a:cs typeface="Consolas"/>
                <a:sym typeface="Consolas"/>
              </a:rPr>
              <a:t>{</a:t>
            </a:r>
            <a:r>
              <a:rPr lang="en-US" sz="900">
                <a:solidFill>
                  <a:srgbClr val="9CDCFE"/>
                </a:solidFill>
                <a:highlight>
                  <a:srgbClr val="1F1F1F"/>
                </a:highlight>
                <a:latin typeface="Consolas"/>
                <a:ea typeface="Consolas"/>
                <a:cs typeface="Consolas"/>
                <a:sym typeface="Consolas"/>
              </a:rPr>
              <a:t>deskripsi_lower</a:t>
            </a:r>
            <a:r>
              <a:rPr lang="en-US" sz="900">
                <a:solidFill>
                  <a:srgbClr val="569CD6"/>
                </a:solidFill>
                <a:highlight>
                  <a:srgbClr val="1F1F1F"/>
                </a:highlight>
                <a:latin typeface="Consolas"/>
                <a:ea typeface="Consolas"/>
                <a:cs typeface="Consolas"/>
                <a:sym typeface="Consolas"/>
              </a:rPr>
              <a:t>}</a:t>
            </a:r>
            <a:r>
              <a:rPr lang="en-US" sz="900">
                <a:solidFill>
                  <a:srgbClr val="CE9178"/>
                </a:solidFill>
                <a:highlight>
                  <a:srgbClr val="1F1F1F"/>
                </a:highlight>
                <a:latin typeface="Consolas"/>
                <a:ea typeface="Consolas"/>
                <a:cs typeface="Consolas"/>
                <a:sym typeface="Consolas"/>
              </a:rPr>
              <a:t>"</a:t>
            </a:r>
            <a:r>
              <a:rPr lang="en-US" sz="900">
                <a:solidFill>
                  <a:srgbClr val="CCCCCC"/>
                </a:solidFill>
                <a:highlight>
                  <a:srgbClr val="1F1F1F"/>
                </a:highlight>
                <a:latin typeface="Consolas"/>
                <a:ea typeface="Consolas"/>
                <a:cs typeface="Consolas"/>
                <a:sym typeface="Consolas"/>
              </a:rPr>
              <a:t>)</a:t>
            </a:r>
            <a:endParaRPr sz="900">
              <a:solidFill>
                <a:srgbClr val="CCCCCC"/>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900">
              <a:solidFill>
                <a:srgbClr val="9CDCFE"/>
              </a:solidFill>
              <a:highlight>
                <a:srgbClr val="1F1F1F"/>
              </a:highlight>
              <a:latin typeface="Consolas"/>
              <a:ea typeface="Consolas"/>
              <a:cs typeface="Consolas"/>
              <a:sym typeface="Consolas"/>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01" name="Shape 1401"/>
        <p:cNvGrpSpPr/>
        <p:nvPr/>
      </p:nvGrpSpPr>
      <p:grpSpPr>
        <a:xfrm>
          <a:off x="0" y="0"/>
          <a:ext cx="0" cy="0"/>
          <a:chOff x="0" y="0"/>
          <a:chExt cx="0" cy="0"/>
        </a:xfrm>
      </p:grpSpPr>
      <p:sp>
        <p:nvSpPr>
          <p:cNvPr id="1402" name="Google Shape;1402;g37548cf76b3_0_114"/>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1403" name="Google Shape;1403;g37548cf76b3_0_114"/>
          <p:cNvGrpSpPr/>
          <p:nvPr/>
        </p:nvGrpSpPr>
        <p:grpSpPr>
          <a:xfrm>
            <a:off x="158" y="-214211"/>
            <a:ext cx="2765532" cy="2691752"/>
            <a:chOff x="9584424" y="-302694"/>
            <a:chExt cx="4822200" cy="4822200"/>
          </a:xfrm>
        </p:grpSpPr>
        <p:sp>
          <p:nvSpPr>
            <p:cNvPr id="1404" name="Google Shape;1404;g37548cf76b3_0_114"/>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05" name="Google Shape;1405;g37548cf76b3_0_114"/>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06" name="Google Shape;1406;g37548cf76b3_0_114"/>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07" name="Google Shape;1407;g37548cf76b3_0_114"/>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408" name="Google Shape;1408;g37548cf76b3_0_114"/>
          <p:cNvGrpSpPr/>
          <p:nvPr/>
        </p:nvGrpSpPr>
        <p:grpSpPr>
          <a:xfrm>
            <a:off x="-840830" y="1116257"/>
            <a:ext cx="5795400" cy="5795400"/>
            <a:chOff x="4094945" y="667082"/>
            <a:chExt cx="5795400" cy="5795400"/>
          </a:xfrm>
        </p:grpSpPr>
        <p:sp>
          <p:nvSpPr>
            <p:cNvPr id="1409" name="Google Shape;1409;g37548cf76b3_0_114"/>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10" name="Google Shape;1410;g37548cf76b3_0_114"/>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11" name="Google Shape;1411;g37548cf76b3_0_114"/>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12" name="Google Shape;1412;g37548cf76b3_0_114"/>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413" name="Google Shape;1413;g37548cf76b3_0_11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1417" name="Shape 1417"/>
        <p:cNvGrpSpPr/>
        <p:nvPr/>
      </p:nvGrpSpPr>
      <p:grpSpPr>
        <a:xfrm>
          <a:off x="0" y="0"/>
          <a:ext cx="0" cy="0"/>
          <a:chOff x="0" y="0"/>
          <a:chExt cx="0" cy="0"/>
        </a:xfrm>
      </p:grpSpPr>
      <p:sp>
        <p:nvSpPr>
          <p:cNvPr id="1418" name="Google Shape;1418;g3755ce053d3_1_20"/>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Pop Up Quiz Time..</a:t>
            </a:r>
            <a:endParaRPr b="1" sz="3420">
              <a:solidFill>
                <a:schemeClr val="lt1"/>
              </a:solidFill>
              <a:latin typeface="Plus Jakarta Sans"/>
              <a:ea typeface="Plus Jakarta Sans"/>
              <a:cs typeface="Plus Jakarta Sans"/>
              <a:sym typeface="Plus Jakarta Sans"/>
            </a:endParaRPr>
          </a:p>
        </p:txBody>
      </p:sp>
      <p:pic>
        <p:nvPicPr>
          <p:cNvPr id="1419" name="Google Shape;1419;g3755ce053d3_1_20"/>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23" name="Shape 1423"/>
        <p:cNvGrpSpPr/>
        <p:nvPr/>
      </p:nvGrpSpPr>
      <p:grpSpPr>
        <a:xfrm>
          <a:off x="0" y="0"/>
          <a:ext cx="0" cy="0"/>
          <a:chOff x="0" y="0"/>
          <a:chExt cx="0" cy="0"/>
        </a:xfrm>
      </p:grpSpPr>
      <p:sp>
        <p:nvSpPr>
          <p:cNvPr id="1424" name="Google Shape;1424;g3755ce053d3_1_56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t>
            </a:r>
            <a:r>
              <a:rPr b="1" lang="en-US" sz="1800">
                <a:latin typeface="Plus Jakarta Sans"/>
                <a:ea typeface="Plus Jakarta Sans"/>
                <a:cs typeface="Plus Jakarta Sans"/>
                <a:sym typeface="Plus Jakarta Sans"/>
              </a:rPr>
              <a:t>Apa hasil dari f'Saya pesan {2} {produk}.' jika produk = 'Kopi'?</a:t>
            </a:r>
            <a:endParaRPr b="1" sz="1800">
              <a:latin typeface="Plus Jakarta Sans"/>
              <a:ea typeface="Plus Jakarta Sans"/>
              <a:cs typeface="Plus Jakarta Sans"/>
              <a:sym typeface="Plus Jakarta Sans"/>
            </a:endParaRPr>
          </a:p>
        </p:txBody>
      </p:sp>
      <p:grpSp>
        <p:nvGrpSpPr>
          <p:cNvPr id="1425" name="Google Shape;1425;g3755ce053d3_1_569"/>
          <p:cNvGrpSpPr/>
          <p:nvPr/>
        </p:nvGrpSpPr>
        <p:grpSpPr>
          <a:xfrm>
            <a:off x="158" y="-214211"/>
            <a:ext cx="2765532" cy="2691752"/>
            <a:chOff x="9584424" y="-302694"/>
            <a:chExt cx="4822200" cy="4822200"/>
          </a:xfrm>
        </p:grpSpPr>
        <p:sp>
          <p:nvSpPr>
            <p:cNvPr id="1426" name="Google Shape;1426;g3755ce053d3_1_56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27" name="Google Shape;1427;g3755ce053d3_1_56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28" name="Google Shape;1428;g3755ce053d3_1_56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29" name="Google Shape;1429;g3755ce053d3_1_56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430" name="Google Shape;1430;g3755ce053d3_1_569"/>
          <p:cNvGrpSpPr/>
          <p:nvPr/>
        </p:nvGrpSpPr>
        <p:grpSpPr>
          <a:xfrm>
            <a:off x="-840830" y="1116257"/>
            <a:ext cx="5795400" cy="5795400"/>
            <a:chOff x="4094945" y="667082"/>
            <a:chExt cx="5795400" cy="5795400"/>
          </a:xfrm>
        </p:grpSpPr>
        <p:sp>
          <p:nvSpPr>
            <p:cNvPr id="1431" name="Google Shape;1431;g3755ce053d3_1_56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2" name="Google Shape;1432;g3755ce053d3_1_56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3" name="Google Shape;1433;g3755ce053d3_1_56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4" name="Google Shape;1434;g3755ce053d3_1_56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435" name="Google Shape;1435;g3755ce053d3_1_56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436" name="Google Shape;1436;g3755ce053d3_1_56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Saya pesan 2 Kopi.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Saya pesan {2} {Kopi}.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Saya pesan Kopi 2.</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40" name="Shape 1440"/>
        <p:cNvGrpSpPr/>
        <p:nvPr/>
      </p:nvGrpSpPr>
      <p:grpSpPr>
        <a:xfrm>
          <a:off x="0" y="0"/>
          <a:ext cx="0" cy="0"/>
          <a:chOff x="0" y="0"/>
          <a:chExt cx="0" cy="0"/>
        </a:xfrm>
      </p:grpSpPr>
      <p:sp>
        <p:nvSpPr>
          <p:cNvPr id="1441" name="Google Shape;1441;g3755ce053d3_1_969"/>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1. Apa hasil dari f'Saya pesan {2} {produk}.' jika produk = 'Kopi'?</a:t>
            </a:r>
            <a:endParaRPr b="1" sz="1800">
              <a:latin typeface="Plus Jakarta Sans"/>
              <a:ea typeface="Plus Jakarta Sans"/>
              <a:cs typeface="Plus Jakarta Sans"/>
              <a:sym typeface="Plus Jakarta Sans"/>
            </a:endParaRPr>
          </a:p>
        </p:txBody>
      </p:sp>
      <p:grpSp>
        <p:nvGrpSpPr>
          <p:cNvPr id="1442" name="Google Shape;1442;g3755ce053d3_1_969"/>
          <p:cNvGrpSpPr/>
          <p:nvPr/>
        </p:nvGrpSpPr>
        <p:grpSpPr>
          <a:xfrm>
            <a:off x="158" y="-214211"/>
            <a:ext cx="2765532" cy="2691752"/>
            <a:chOff x="9584424" y="-302694"/>
            <a:chExt cx="4822200" cy="4822200"/>
          </a:xfrm>
        </p:grpSpPr>
        <p:sp>
          <p:nvSpPr>
            <p:cNvPr id="1443" name="Google Shape;1443;g3755ce053d3_1_96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44" name="Google Shape;1444;g3755ce053d3_1_96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45" name="Google Shape;1445;g3755ce053d3_1_96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46" name="Google Shape;1446;g3755ce053d3_1_96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447" name="Google Shape;1447;g3755ce053d3_1_969"/>
          <p:cNvGrpSpPr/>
          <p:nvPr/>
        </p:nvGrpSpPr>
        <p:grpSpPr>
          <a:xfrm>
            <a:off x="-840830" y="1116257"/>
            <a:ext cx="5795400" cy="5795400"/>
            <a:chOff x="4094945" y="667082"/>
            <a:chExt cx="5795400" cy="5795400"/>
          </a:xfrm>
        </p:grpSpPr>
        <p:sp>
          <p:nvSpPr>
            <p:cNvPr id="1448" name="Google Shape;1448;g3755ce053d3_1_96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49" name="Google Shape;1449;g3755ce053d3_1_96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50" name="Google Shape;1450;g3755ce053d3_1_96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51" name="Google Shape;1451;g3755ce053d3_1_96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452" name="Google Shape;1452;g3755ce053d3_1_96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453" name="Google Shape;1453;g3755ce053d3_1_96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Saya pesan 2 Kopi.</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Saya pesan {2} {Kopi}.</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Saya pesan Kopi 2.</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57" name="Shape 1457"/>
        <p:cNvGrpSpPr/>
        <p:nvPr/>
      </p:nvGrpSpPr>
      <p:grpSpPr>
        <a:xfrm>
          <a:off x="0" y="0"/>
          <a:ext cx="0" cy="0"/>
          <a:chOff x="0" y="0"/>
          <a:chExt cx="0" cy="0"/>
        </a:xfrm>
      </p:grpSpPr>
      <p:sp>
        <p:nvSpPr>
          <p:cNvPr id="1458" name="Google Shape;1458;g3755ce053d3_1_58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t>
            </a:r>
            <a:r>
              <a:rPr b="1" lang="en-US" sz="1800">
                <a:latin typeface="Plus Jakarta Sans"/>
                <a:ea typeface="Plus Jakarta Sans"/>
                <a:cs typeface="Plus Jakarta Sans"/>
                <a:sym typeface="Plus Jakarta Sans"/>
              </a:rPr>
              <a:t>Apa indeks dari karakter b pada string 'abcde'?</a:t>
            </a:r>
            <a:endParaRPr b="1" sz="1800">
              <a:latin typeface="Plus Jakarta Sans"/>
              <a:ea typeface="Plus Jakarta Sans"/>
              <a:cs typeface="Plus Jakarta Sans"/>
              <a:sym typeface="Plus Jakarta Sans"/>
            </a:endParaRPr>
          </a:p>
        </p:txBody>
      </p:sp>
      <p:grpSp>
        <p:nvGrpSpPr>
          <p:cNvPr id="1459" name="Google Shape;1459;g3755ce053d3_1_585"/>
          <p:cNvGrpSpPr/>
          <p:nvPr/>
        </p:nvGrpSpPr>
        <p:grpSpPr>
          <a:xfrm>
            <a:off x="158" y="-214211"/>
            <a:ext cx="2765532" cy="2691752"/>
            <a:chOff x="9584424" y="-302694"/>
            <a:chExt cx="4822200" cy="4822200"/>
          </a:xfrm>
        </p:grpSpPr>
        <p:sp>
          <p:nvSpPr>
            <p:cNvPr id="1460" name="Google Shape;1460;g3755ce053d3_1_58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1" name="Google Shape;1461;g3755ce053d3_1_58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2" name="Google Shape;1462;g3755ce053d3_1_58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3" name="Google Shape;1463;g3755ce053d3_1_58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464" name="Google Shape;1464;g3755ce053d3_1_585"/>
          <p:cNvGrpSpPr/>
          <p:nvPr/>
        </p:nvGrpSpPr>
        <p:grpSpPr>
          <a:xfrm>
            <a:off x="-840830" y="1116257"/>
            <a:ext cx="5795400" cy="5795400"/>
            <a:chOff x="4094945" y="667082"/>
            <a:chExt cx="5795400" cy="5795400"/>
          </a:xfrm>
        </p:grpSpPr>
        <p:sp>
          <p:nvSpPr>
            <p:cNvPr id="1465" name="Google Shape;1465;g3755ce053d3_1_58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6" name="Google Shape;1466;g3755ce053d3_1_58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7" name="Google Shape;1467;g3755ce053d3_1_58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8" name="Google Shape;1468;g3755ce053d3_1_58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469" name="Google Shape;1469;g3755ce053d3_1_58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470" name="Google Shape;1470;g3755ce053d3_1_58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1</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4</a:t>
            </a:r>
            <a:endParaRPr sz="1800">
              <a:latin typeface="Plus Jakarta Sans"/>
              <a:ea typeface="Plus Jakarta Sans"/>
              <a:cs typeface="Plus Jakarta Sans"/>
              <a:sym typeface="Plus Jakarta San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74" name="Shape 1474"/>
        <p:cNvGrpSpPr/>
        <p:nvPr/>
      </p:nvGrpSpPr>
      <p:grpSpPr>
        <a:xfrm>
          <a:off x="0" y="0"/>
          <a:ext cx="0" cy="0"/>
          <a:chOff x="0" y="0"/>
          <a:chExt cx="0" cy="0"/>
        </a:xfrm>
      </p:grpSpPr>
      <p:sp>
        <p:nvSpPr>
          <p:cNvPr id="1475" name="Google Shape;1475;g3755ce053d3_1_985"/>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2. Apa indeks dari karakter b pada string 'abcde'?</a:t>
            </a:r>
            <a:endParaRPr b="1" sz="1800">
              <a:latin typeface="Plus Jakarta Sans"/>
              <a:ea typeface="Plus Jakarta Sans"/>
              <a:cs typeface="Plus Jakarta Sans"/>
              <a:sym typeface="Plus Jakarta Sans"/>
            </a:endParaRPr>
          </a:p>
        </p:txBody>
      </p:sp>
      <p:grpSp>
        <p:nvGrpSpPr>
          <p:cNvPr id="1476" name="Google Shape;1476;g3755ce053d3_1_985"/>
          <p:cNvGrpSpPr/>
          <p:nvPr/>
        </p:nvGrpSpPr>
        <p:grpSpPr>
          <a:xfrm>
            <a:off x="158" y="-214211"/>
            <a:ext cx="2765532" cy="2691752"/>
            <a:chOff x="9584424" y="-302694"/>
            <a:chExt cx="4822200" cy="4822200"/>
          </a:xfrm>
        </p:grpSpPr>
        <p:sp>
          <p:nvSpPr>
            <p:cNvPr id="1477" name="Google Shape;1477;g3755ce053d3_1_98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78" name="Google Shape;1478;g3755ce053d3_1_98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79" name="Google Shape;1479;g3755ce053d3_1_98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80" name="Google Shape;1480;g3755ce053d3_1_98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481" name="Google Shape;1481;g3755ce053d3_1_985"/>
          <p:cNvGrpSpPr/>
          <p:nvPr/>
        </p:nvGrpSpPr>
        <p:grpSpPr>
          <a:xfrm>
            <a:off x="-840830" y="1116257"/>
            <a:ext cx="5795400" cy="5795400"/>
            <a:chOff x="4094945" y="667082"/>
            <a:chExt cx="5795400" cy="5795400"/>
          </a:xfrm>
        </p:grpSpPr>
        <p:sp>
          <p:nvSpPr>
            <p:cNvPr id="1482" name="Google Shape;1482;g3755ce053d3_1_98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83" name="Google Shape;1483;g3755ce053d3_1_98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84" name="Google Shape;1484;g3755ce053d3_1_98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85" name="Google Shape;1485;g3755ce053d3_1_98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486" name="Google Shape;1486;g3755ce053d3_1_98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487" name="Google Shape;1487;g3755ce053d3_1_985"/>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1</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2</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4</a:t>
            </a:r>
            <a:endParaRPr sz="1800">
              <a:latin typeface="Plus Jakarta Sans"/>
              <a:ea typeface="Plus Jakarta Sans"/>
              <a:cs typeface="Plus Jakarta Sans"/>
              <a:sym typeface="Plus Jakarta San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91" name="Shape 1491"/>
        <p:cNvGrpSpPr/>
        <p:nvPr/>
      </p:nvGrpSpPr>
      <p:grpSpPr>
        <a:xfrm>
          <a:off x="0" y="0"/>
          <a:ext cx="0" cy="0"/>
          <a:chOff x="0" y="0"/>
          <a:chExt cx="0" cy="0"/>
        </a:xfrm>
      </p:grpSpPr>
      <p:sp>
        <p:nvSpPr>
          <p:cNvPr id="1492" name="Google Shape;1492;g3755ce053d3_1_601"/>
          <p:cNvSpPr txBox="1"/>
          <p:nvPr>
            <p:ph type="ctrTitle"/>
          </p:nvPr>
        </p:nvSpPr>
        <p:spPr>
          <a:xfrm>
            <a:off x="4496000" y="1277950"/>
            <a:ext cx="46497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t>
            </a:r>
            <a:r>
              <a:rPr b="1" lang="en-US" sz="1800">
                <a:latin typeface="Plus Jakarta Sans"/>
                <a:ea typeface="Plus Jakarta Sans"/>
                <a:cs typeface="Plus Jakarta Sans"/>
                <a:sym typeface="Plus Jakarta Sans"/>
              </a:rPr>
              <a:t>Apa hasil dari </a:t>
            </a:r>
            <a:endParaRPr b="1" sz="18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 Python '.strip().upper()?</a:t>
            </a:r>
            <a:endParaRPr b="1" sz="1800">
              <a:latin typeface="Plus Jakarta Sans"/>
              <a:ea typeface="Plus Jakarta Sans"/>
              <a:cs typeface="Plus Jakarta Sans"/>
              <a:sym typeface="Plus Jakarta Sans"/>
            </a:endParaRPr>
          </a:p>
        </p:txBody>
      </p:sp>
      <p:grpSp>
        <p:nvGrpSpPr>
          <p:cNvPr id="1493" name="Google Shape;1493;g3755ce053d3_1_601"/>
          <p:cNvGrpSpPr/>
          <p:nvPr/>
        </p:nvGrpSpPr>
        <p:grpSpPr>
          <a:xfrm>
            <a:off x="158" y="-214211"/>
            <a:ext cx="2765532" cy="2691752"/>
            <a:chOff x="9584424" y="-302694"/>
            <a:chExt cx="4822200" cy="4822200"/>
          </a:xfrm>
        </p:grpSpPr>
        <p:sp>
          <p:nvSpPr>
            <p:cNvPr id="1494" name="Google Shape;1494;g3755ce053d3_1_601"/>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95" name="Google Shape;1495;g3755ce053d3_1_601"/>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96" name="Google Shape;1496;g3755ce053d3_1_601"/>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97" name="Google Shape;1497;g3755ce053d3_1_601"/>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498" name="Google Shape;1498;g3755ce053d3_1_601"/>
          <p:cNvGrpSpPr/>
          <p:nvPr/>
        </p:nvGrpSpPr>
        <p:grpSpPr>
          <a:xfrm>
            <a:off x="-840830" y="1116257"/>
            <a:ext cx="5795400" cy="5795400"/>
            <a:chOff x="4094945" y="667082"/>
            <a:chExt cx="5795400" cy="5795400"/>
          </a:xfrm>
        </p:grpSpPr>
        <p:sp>
          <p:nvSpPr>
            <p:cNvPr id="1499" name="Google Shape;1499;g3755ce053d3_1_601"/>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00" name="Google Shape;1500;g3755ce053d3_1_601"/>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01" name="Google Shape;1501;g3755ce053d3_1_601"/>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02" name="Google Shape;1502;g3755ce053d3_1_601"/>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503" name="Google Shape;1503;g3755ce053d3_1_60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504" name="Google Shape;1504;g3755ce053d3_1_601"/>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PYTHON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pYTHON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python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Python</a:t>
            </a:r>
            <a:endParaRPr sz="1800">
              <a:latin typeface="Plus Jakarta Sans"/>
              <a:ea typeface="Plus Jakarta Sans"/>
              <a:cs typeface="Plus Jakarta Sans"/>
              <a:sym typeface="Plus Jakarta San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08" name="Shape 1508"/>
        <p:cNvGrpSpPr/>
        <p:nvPr/>
      </p:nvGrpSpPr>
      <p:grpSpPr>
        <a:xfrm>
          <a:off x="0" y="0"/>
          <a:ext cx="0" cy="0"/>
          <a:chOff x="0" y="0"/>
          <a:chExt cx="0" cy="0"/>
        </a:xfrm>
      </p:grpSpPr>
      <p:sp>
        <p:nvSpPr>
          <p:cNvPr id="1509" name="Google Shape;1509;g3755ce053d3_1_1017"/>
          <p:cNvSpPr txBox="1"/>
          <p:nvPr>
            <p:ph type="ctrTitle"/>
          </p:nvPr>
        </p:nvSpPr>
        <p:spPr>
          <a:xfrm>
            <a:off x="4496000" y="1277950"/>
            <a:ext cx="46497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3. Apa hasil dari </a:t>
            </a:r>
            <a:endParaRPr b="1" sz="18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 Python '.strip().upper()?</a:t>
            </a:r>
            <a:endParaRPr b="1" sz="1800">
              <a:latin typeface="Plus Jakarta Sans"/>
              <a:ea typeface="Plus Jakarta Sans"/>
              <a:cs typeface="Plus Jakarta Sans"/>
              <a:sym typeface="Plus Jakarta Sans"/>
            </a:endParaRPr>
          </a:p>
        </p:txBody>
      </p:sp>
      <p:grpSp>
        <p:nvGrpSpPr>
          <p:cNvPr id="1510" name="Google Shape;1510;g3755ce053d3_1_1017"/>
          <p:cNvGrpSpPr/>
          <p:nvPr/>
        </p:nvGrpSpPr>
        <p:grpSpPr>
          <a:xfrm>
            <a:off x="158" y="-214211"/>
            <a:ext cx="2765532" cy="2691752"/>
            <a:chOff x="9584424" y="-302694"/>
            <a:chExt cx="4822200" cy="4822200"/>
          </a:xfrm>
        </p:grpSpPr>
        <p:sp>
          <p:nvSpPr>
            <p:cNvPr id="1511" name="Google Shape;1511;g3755ce053d3_1_101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12" name="Google Shape;1512;g3755ce053d3_1_101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13" name="Google Shape;1513;g3755ce053d3_1_101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14" name="Google Shape;1514;g3755ce053d3_1_101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515" name="Google Shape;1515;g3755ce053d3_1_1017"/>
          <p:cNvGrpSpPr/>
          <p:nvPr/>
        </p:nvGrpSpPr>
        <p:grpSpPr>
          <a:xfrm>
            <a:off x="-840830" y="1116257"/>
            <a:ext cx="5795400" cy="5795400"/>
            <a:chOff x="4094945" y="667082"/>
            <a:chExt cx="5795400" cy="5795400"/>
          </a:xfrm>
        </p:grpSpPr>
        <p:sp>
          <p:nvSpPr>
            <p:cNvPr id="1516" name="Google Shape;1516;g3755ce053d3_1_101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17" name="Google Shape;1517;g3755ce053d3_1_101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18" name="Google Shape;1518;g3755ce053d3_1_101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19" name="Google Shape;1519;g3755ce053d3_1_101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520" name="Google Shape;1520;g3755ce053d3_1_101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521" name="Google Shape;1521;g3755ce053d3_1_101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PYTHON</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pYTHON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python</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Python</a:t>
            </a:r>
            <a:endParaRPr sz="1800">
              <a:latin typeface="Plus Jakarta Sans"/>
              <a:ea typeface="Plus Jakarta Sans"/>
              <a:cs typeface="Plus Jakarta Sans"/>
              <a:sym typeface="Plus Jakarta San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25" name="Shape 1525"/>
        <p:cNvGrpSpPr/>
        <p:nvPr/>
      </p:nvGrpSpPr>
      <p:grpSpPr>
        <a:xfrm>
          <a:off x="0" y="0"/>
          <a:ext cx="0" cy="0"/>
          <a:chOff x="0" y="0"/>
          <a:chExt cx="0" cy="0"/>
        </a:xfrm>
      </p:grpSpPr>
      <p:sp>
        <p:nvSpPr>
          <p:cNvPr id="1526" name="Google Shape;1526;g3755ce053d3_1_617"/>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a:t>
            </a:r>
            <a:r>
              <a:rPr b="1" lang="en-US" sz="1800">
                <a:latin typeface="Plus Jakarta Sans"/>
                <a:ea typeface="Plus Jakarta Sans"/>
                <a:cs typeface="Plus Jakarta Sans"/>
                <a:sym typeface="Plus Jakarta Sans"/>
              </a:rPr>
              <a:t>Jika s = "Halo Dunia", apa hasil dari s[-5:]?</a:t>
            </a:r>
            <a:endParaRPr b="1" sz="1800">
              <a:latin typeface="Plus Jakarta Sans"/>
              <a:ea typeface="Plus Jakarta Sans"/>
              <a:cs typeface="Plus Jakarta Sans"/>
              <a:sym typeface="Plus Jakarta Sans"/>
            </a:endParaRPr>
          </a:p>
        </p:txBody>
      </p:sp>
      <p:grpSp>
        <p:nvGrpSpPr>
          <p:cNvPr id="1527" name="Google Shape;1527;g3755ce053d3_1_617"/>
          <p:cNvGrpSpPr/>
          <p:nvPr/>
        </p:nvGrpSpPr>
        <p:grpSpPr>
          <a:xfrm>
            <a:off x="158" y="-214211"/>
            <a:ext cx="2765532" cy="2691752"/>
            <a:chOff x="9584424" y="-302694"/>
            <a:chExt cx="4822200" cy="4822200"/>
          </a:xfrm>
        </p:grpSpPr>
        <p:sp>
          <p:nvSpPr>
            <p:cNvPr id="1528" name="Google Shape;1528;g3755ce053d3_1_61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29" name="Google Shape;1529;g3755ce053d3_1_61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0" name="Google Shape;1530;g3755ce053d3_1_61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1" name="Google Shape;1531;g3755ce053d3_1_61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532" name="Google Shape;1532;g3755ce053d3_1_617"/>
          <p:cNvGrpSpPr/>
          <p:nvPr/>
        </p:nvGrpSpPr>
        <p:grpSpPr>
          <a:xfrm>
            <a:off x="-840830" y="1116257"/>
            <a:ext cx="5795400" cy="5795400"/>
            <a:chOff x="4094945" y="667082"/>
            <a:chExt cx="5795400" cy="5795400"/>
          </a:xfrm>
        </p:grpSpPr>
        <p:sp>
          <p:nvSpPr>
            <p:cNvPr id="1533" name="Google Shape;1533;g3755ce053d3_1_61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4" name="Google Shape;1534;g3755ce053d3_1_61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5" name="Google Shape;1535;g3755ce053d3_1_61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6" name="Google Shape;1536;g3755ce053d3_1_61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537" name="Google Shape;1537;g3755ce053d3_1_61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538" name="Google Shape;1538;g3755ce053d3_1_617"/>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Dunia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o Dunia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Halo Dunia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alo Du</a:t>
            </a:r>
            <a:endParaRPr sz="1800">
              <a:latin typeface="Plus Jakarta Sans"/>
              <a:ea typeface="Plus Jakarta Sans"/>
              <a:cs typeface="Plus Jakarta Sans"/>
              <a:sym typeface="Plus Jakarta San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42" name="Shape 1542"/>
        <p:cNvGrpSpPr/>
        <p:nvPr/>
      </p:nvGrpSpPr>
      <p:grpSpPr>
        <a:xfrm>
          <a:off x="0" y="0"/>
          <a:ext cx="0" cy="0"/>
          <a:chOff x="0" y="0"/>
          <a:chExt cx="0" cy="0"/>
        </a:xfrm>
      </p:grpSpPr>
      <p:sp>
        <p:nvSpPr>
          <p:cNvPr id="1543" name="Google Shape;1543;g3755ce053d3_1_1033"/>
          <p:cNvSpPr txBox="1"/>
          <p:nvPr>
            <p:ph type="ctrTitle"/>
          </p:nvPr>
        </p:nvSpPr>
        <p:spPr>
          <a:xfrm>
            <a:off x="4496000" y="1277950"/>
            <a:ext cx="4281900" cy="915600"/>
          </a:xfrm>
          <a:prstGeom prst="rect">
            <a:avLst/>
          </a:prstGeom>
          <a:noFill/>
          <a:ln>
            <a:noFill/>
          </a:ln>
        </p:spPr>
        <p:txBody>
          <a:bodyPr anchorCtr="0" anchor="t" bIns="91450" lIns="91450" spcFirstLastPara="1" rIns="91450" wrap="square" tIns="91450">
            <a:norm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4. Jika s = "Halo Dunia", apa hasil dari s[-5:]?</a:t>
            </a:r>
            <a:endParaRPr b="1" sz="1800">
              <a:latin typeface="Plus Jakarta Sans"/>
              <a:ea typeface="Plus Jakarta Sans"/>
              <a:cs typeface="Plus Jakarta Sans"/>
              <a:sym typeface="Plus Jakarta Sans"/>
            </a:endParaRPr>
          </a:p>
        </p:txBody>
      </p:sp>
      <p:grpSp>
        <p:nvGrpSpPr>
          <p:cNvPr id="1544" name="Google Shape;1544;g3755ce053d3_1_1033"/>
          <p:cNvGrpSpPr/>
          <p:nvPr/>
        </p:nvGrpSpPr>
        <p:grpSpPr>
          <a:xfrm>
            <a:off x="158" y="-214211"/>
            <a:ext cx="2765532" cy="2691752"/>
            <a:chOff x="9584424" y="-302694"/>
            <a:chExt cx="4822200" cy="4822200"/>
          </a:xfrm>
        </p:grpSpPr>
        <p:sp>
          <p:nvSpPr>
            <p:cNvPr id="1545" name="Google Shape;1545;g3755ce053d3_1_103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46" name="Google Shape;1546;g3755ce053d3_1_103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47" name="Google Shape;1547;g3755ce053d3_1_103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48" name="Google Shape;1548;g3755ce053d3_1_103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549" name="Google Shape;1549;g3755ce053d3_1_1033"/>
          <p:cNvGrpSpPr/>
          <p:nvPr/>
        </p:nvGrpSpPr>
        <p:grpSpPr>
          <a:xfrm>
            <a:off x="-840830" y="1116257"/>
            <a:ext cx="5795400" cy="5795400"/>
            <a:chOff x="4094945" y="667082"/>
            <a:chExt cx="5795400" cy="5795400"/>
          </a:xfrm>
        </p:grpSpPr>
        <p:sp>
          <p:nvSpPr>
            <p:cNvPr id="1550" name="Google Shape;1550;g3755ce053d3_1_103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51" name="Google Shape;1551;g3755ce053d3_1_103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52" name="Google Shape;1552;g3755ce053d3_1_103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53" name="Google Shape;1553;g3755ce053d3_1_103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554" name="Google Shape;1554;g3755ce053d3_1_103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555" name="Google Shape;1555;g3755ce053d3_1_103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Dunia</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o Dunia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Halo Dunia</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alo Du</a:t>
            </a:r>
            <a:endParaRPr sz="1800">
              <a:latin typeface="Plus Jakarta Sans"/>
              <a:ea typeface="Plus Jakarta Sans"/>
              <a:cs typeface="Plus Jakarta Sans"/>
              <a:sym typeface="Plus Jakarta San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59" name="Shape 1559"/>
        <p:cNvGrpSpPr/>
        <p:nvPr/>
      </p:nvGrpSpPr>
      <p:grpSpPr>
        <a:xfrm>
          <a:off x="0" y="0"/>
          <a:ext cx="0" cy="0"/>
          <a:chOff x="0" y="0"/>
          <a:chExt cx="0" cy="0"/>
        </a:xfrm>
      </p:grpSpPr>
      <p:sp>
        <p:nvSpPr>
          <p:cNvPr id="1560" name="Google Shape;1560;g3755ce053d3_1_633"/>
          <p:cNvSpPr txBox="1"/>
          <p:nvPr>
            <p:ph type="ctrTitle"/>
          </p:nvPr>
        </p:nvSpPr>
        <p:spPr>
          <a:xfrm>
            <a:off x="4496000" y="1277950"/>
            <a:ext cx="45357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t>
            </a:r>
            <a:r>
              <a:rPr b="1" lang="en-US" sz="1800">
                <a:latin typeface="Plus Jakarta Sans"/>
                <a:ea typeface="Plus Jakarta Sans"/>
                <a:cs typeface="Plus Jakarta Sans"/>
                <a:sym typeface="Plus Jakarta Sans"/>
              </a:rPr>
              <a:t>Apa output dari </a:t>
            </a:r>
            <a:endParaRPr b="1" sz="18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print(f'Rp{10000 + 5000}')?</a:t>
            </a:r>
            <a:endParaRPr b="1" sz="1800">
              <a:latin typeface="Plus Jakarta Sans"/>
              <a:ea typeface="Plus Jakarta Sans"/>
              <a:cs typeface="Plus Jakarta Sans"/>
              <a:sym typeface="Plus Jakarta Sans"/>
            </a:endParaRPr>
          </a:p>
        </p:txBody>
      </p:sp>
      <p:grpSp>
        <p:nvGrpSpPr>
          <p:cNvPr id="1561" name="Google Shape;1561;g3755ce053d3_1_633"/>
          <p:cNvGrpSpPr/>
          <p:nvPr/>
        </p:nvGrpSpPr>
        <p:grpSpPr>
          <a:xfrm>
            <a:off x="158" y="-214211"/>
            <a:ext cx="2765532" cy="2691752"/>
            <a:chOff x="9584424" y="-302694"/>
            <a:chExt cx="4822200" cy="4822200"/>
          </a:xfrm>
        </p:grpSpPr>
        <p:sp>
          <p:nvSpPr>
            <p:cNvPr id="1562" name="Google Shape;1562;g3755ce053d3_1_63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63" name="Google Shape;1563;g3755ce053d3_1_63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64" name="Google Shape;1564;g3755ce053d3_1_63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65" name="Google Shape;1565;g3755ce053d3_1_63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566" name="Google Shape;1566;g3755ce053d3_1_633"/>
          <p:cNvGrpSpPr/>
          <p:nvPr/>
        </p:nvGrpSpPr>
        <p:grpSpPr>
          <a:xfrm>
            <a:off x="-840830" y="1116257"/>
            <a:ext cx="5795400" cy="5795400"/>
            <a:chOff x="4094945" y="667082"/>
            <a:chExt cx="5795400" cy="5795400"/>
          </a:xfrm>
        </p:grpSpPr>
        <p:sp>
          <p:nvSpPr>
            <p:cNvPr id="1567" name="Google Shape;1567;g3755ce053d3_1_63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68" name="Google Shape;1568;g3755ce053d3_1_63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69" name="Google Shape;1569;g3755ce053d3_1_63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70" name="Google Shape;1570;g3755ce053d3_1_63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571" name="Google Shape;1571;g3755ce053d3_1_63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572" name="Google Shape;1572;g3755ce053d3_1_633"/>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Rp15000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Rp10000 + 5000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Rp 100005000</a:t>
            </a:r>
            <a:endParaRPr sz="1800">
              <a:latin typeface="Plus Jakarta Sans"/>
              <a:ea typeface="Plus Jakarta Sans"/>
              <a:cs typeface="Plus Jakarta Sans"/>
              <a:sym typeface="Plus Jakarta San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76" name="Shape 1576"/>
        <p:cNvGrpSpPr/>
        <p:nvPr/>
      </p:nvGrpSpPr>
      <p:grpSpPr>
        <a:xfrm>
          <a:off x="0" y="0"/>
          <a:ext cx="0" cy="0"/>
          <a:chOff x="0" y="0"/>
          <a:chExt cx="0" cy="0"/>
        </a:xfrm>
      </p:grpSpPr>
      <p:sp>
        <p:nvSpPr>
          <p:cNvPr id="1577" name="Google Shape;1577;g3755ce053d3_1_1049"/>
          <p:cNvSpPr txBox="1"/>
          <p:nvPr>
            <p:ph type="ctrTitle"/>
          </p:nvPr>
        </p:nvSpPr>
        <p:spPr>
          <a:xfrm>
            <a:off x="4496000" y="1277950"/>
            <a:ext cx="4535700" cy="915600"/>
          </a:xfrm>
          <a:prstGeom prst="rect">
            <a:avLst/>
          </a:prstGeom>
          <a:noFill/>
          <a:ln>
            <a:noFill/>
          </a:ln>
        </p:spPr>
        <p:txBody>
          <a:bodyPr anchorCtr="0" anchor="t" bIns="91450" lIns="91450" spcFirstLastPara="1" rIns="91450" wrap="square" tIns="91450">
            <a:noAutofit/>
          </a:bodyPr>
          <a:lstStyle/>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5. Apa output dari </a:t>
            </a:r>
            <a:endParaRPr b="1" sz="18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5778"/>
              <a:buNone/>
            </a:pPr>
            <a:r>
              <a:rPr b="1" lang="en-US" sz="1800">
                <a:latin typeface="Plus Jakarta Sans"/>
                <a:ea typeface="Plus Jakarta Sans"/>
                <a:cs typeface="Plus Jakarta Sans"/>
                <a:sym typeface="Plus Jakarta Sans"/>
              </a:rPr>
              <a:t>print(f'Rp{10000 + 5000}')?</a:t>
            </a:r>
            <a:endParaRPr b="1" sz="1800">
              <a:latin typeface="Plus Jakarta Sans"/>
              <a:ea typeface="Plus Jakarta Sans"/>
              <a:cs typeface="Plus Jakarta Sans"/>
              <a:sym typeface="Plus Jakarta Sans"/>
            </a:endParaRPr>
          </a:p>
        </p:txBody>
      </p:sp>
      <p:grpSp>
        <p:nvGrpSpPr>
          <p:cNvPr id="1578" name="Google Shape;1578;g3755ce053d3_1_1049"/>
          <p:cNvGrpSpPr/>
          <p:nvPr/>
        </p:nvGrpSpPr>
        <p:grpSpPr>
          <a:xfrm>
            <a:off x="158" y="-214211"/>
            <a:ext cx="2765532" cy="2691752"/>
            <a:chOff x="9584424" y="-302694"/>
            <a:chExt cx="4822200" cy="4822200"/>
          </a:xfrm>
        </p:grpSpPr>
        <p:sp>
          <p:nvSpPr>
            <p:cNvPr id="1579" name="Google Shape;1579;g3755ce053d3_1_1049"/>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0" name="Google Shape;1580;g3755ce053d3_1_1049"/>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1" name="Google Shape;1581;g3755ce053d3_1_1049"/>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2" name="Google Shape;1582;g3755ce053d3_1_1049"/>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583" name="Google Shape;1583;g3755ce053d3_1_1049"/>
          <p:cNvGrpSpPr/>
          <p:nvPr/>
        </p:nvGrpSpPr>
        <p:grpSpPr>
          <a:xfrm>
            <a:off x="-840830" y="1116257"/>
            <a:ext cx="5795400" cy="5795400"/>
            <a:chOff x="4094945" y="667082"/>
            <a:chExt cx="5795400" cy="5795400"/>
          </a:xfrm>
        </p:grpSpPr>
        <p:sp>
          <p:nvSpPr>
            <p:cNvPr id="1584" name="Google Shape;1584;g3755ce053d3_1_1049"/>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5" name="Google Shape;1585;g3755ce053d3_1_1049"/>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6" name="Google Shape;1586;g3755ce053d3_1_1049"/>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7" name="Google Shape;1587;g3755ce053d3_1_1049"/>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1588" name="Google Shape;1588;g3755ce053d3_1_104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589" name="Google Shape;1589;g3755ce053d3_1_1049"/>
          <p:cNvSpPr txBox="1"/>
          <p:nvPr>
            <p:ph type="ctrTitle"/>
          </p:nvPr>
        </p:nvSpPr>
        <p:spPr>
          <a:xfrm>
            <a:off x="4496000" y="2248250"/>
            <a:ext cx="4281900" cy="1567200"/>
          </a:xfrm>
          <a:prstGeom prst="rect">
            <a:avLst/>
          </a:prstGeom>
          <a:noFill/>
          <a:ln>
            <a:noFill/>
          </a:ln>
        </p:spPr>
        <p:txBody>
          <a:bodyPr anchorCtr="0" anchor="t" bIns="91450" lIns="91450" spcFirstLastPara="1" rIns="91450" wrap="square" tIns="91450">
            <a:normAutofit/>
          </a:bodyPr>
          <a:lstStyle/>
          <a:p>
            <a:pPr indent="-342900" lvl="0" marL="457200" rtl="0" algn="l">
              <a:lnSpc>
                <a:spcPct val="115000"/>
              </a:lnSpc>
              <a:spcBef>
                <a:spcPts val="0"/>
              </a:spcBef>
              <a:spcAft>
                <a:spcPts val="0"/>
              </a:spcAft>
              <a:buSzPts val="1800"/>
              <a:buFont typeface="Plus Jakarta Sans"/>
              <a:buAutoNum type="alphaLcPeriod"/>
            </a:pPr>
            <a:r>
              <a:rPr lang="en-US" sz="1800">
                <a:highlight>
                  <a:srgbClr val="B5CEA8"/>
                </a:highlight>
                <a:latin typeface="Plus Jakarta Sans"/>
                <a:ea typeface="Plus Jakarta Sans"/>
                <a:cs typeface="Plus Jakarta Sans"/>
                <a:sym typeface="Plus Jakarta Sans"/>
              </a:rPr>
              <a:t>Rp15000</a:t>
            </a:r>
            <a:endParaRPr sz="1800">
              <a:highlight>
                <a:srgbClr val="B5CEA8"/>
              </a:highlight>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Rp10000 + 5000</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Error</a:t>
            </a:r>
            <a:endParaRPr sz="1800">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SzPts val="1800"/>
              <a:buFont typeface="Plus Jakarta Sans"/>
              <a:buAutoNum type="alphaLcPeriod"/>
            </a:pPr>
            <a:r>
              <a:rPr lang="en-US" sz="1800">
                <a:latin typeface="Plus Jakarta Sans"/>
                <a:ea typeface="Plus Jakarta Sans"/>
                <a:cs typeface="Plus Jakarta Sans"/>
                <a:sym typeface="Plus Jakarta Sans"/>
              </a:rPr>
              <a:t>Rp 100005000</a:t>
            </a:r>
            <a:endParaRPr sz="1800">
              <a:latin typeface="Plus Jakarta Sans"/>
              <a:ea typeface="Plus Jakarta Sans"/>
              <a:cs typeface="Plus Jakarta Sans"/>
              <a:sym typeface="Plus Jakarta San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93" name="Shape 1593"/>
        <p:cNvGrpSpPr/>
        <p:nvPr/>
      </p:nvGrpSpPr>
      <p:grpSpPr>
        <a:xfrm>
          <a:off x="0" y="0"/>
          <a:ext cx="0" cy="0"/>
          <a:chOff x="0" y="0"/>
          <a:chExt cx="0" cy="0"/>
        </a:xfrm>
      </p:grpSpPr>
      <p:sp>
        <p:nvSpPr>
          <p:cNvPr id="1594" name="Google Shape;1594;g3753e428164_3_0"/>
          <p:cNvSpPr txBox="1"/>
          <p:nvPr/>
        </p:nvSpPr>
        <p:spPr>
          <a:xfrm>
            <a:off x="457200" y="1121750"/>
            <a:ext cx="8358300" cy="99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Tugas 1: Menyimpan dan Menampilkan Data</a:t>
            </a:r>
            <a:endParaRPr b="1"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Buatlah variabel untuk menyimpan data-data berikut:</a:t>
            </a:r>
            <a:endParaRPr sz="1000">
              <a:solidFill>
                <a:schemeClr val="dk2"/>
              </a:solidFill>
            </a:endParaRPr>
          </a:p>
          <a:p>
            <a:pPr indent="-292100" lvl="0" marL="457200" rtl="0" algn="l">
              <a:lnSpc>
                <a:spcPct val="115000"/>
              </a:lnSpc>
              <a:spcBef>
                <a:spcPts val="1200"/>
              </a:spcBef>
              <a:spcAft>
                <a:spcPts val="0"/>
              </a:spcAft>
              <a:buClr>
                <a:schemeClr val="dk2"/>
              </a:buClr>
              <a:buSzPts val="1000"/>
              <a:buAutoNum type="arabicPeriod"/>
            </a:pPr>
            <a:r>
              <a:rPr lang="en-US" sz="1000">
                <a:solidFill>
                  <a:schemeClr val="dk2"/>
                </a:solidFill>
              </a:rPr>
              <a:t>Nama produk pertama: </a:t>
            </a:r>
            <a:r>
              <a:rPr b="1" lang="en-US" sz="1000">
                <a:solidFill>
                  <a:schemeClr val="dk2"/>
                </a:solidFill>
              </a:rPr>
              <a:t>Kopi Pagi</a:t>
            </a:r>
            <a:endParaRPr b="1"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Harga produk pertama: </a:t>
            </a:r>
            <a:r>
              <a:rPr b="1" lang="en-US" sz="1000">
                <a:solidFill>
                  <a:schemeClr val="dk2"/>
                </a:solidFill>
              </a:rPr>
              <a:t>18000.5</a:t>
            </a:r>
            <a:endParaRPr b="1"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Nama produk kedua: </a:t>
            </a:r>
            <a:r>
              <a:rPr b="1" lang="en-US" sz="1000">
                <a:solidFill>
                  <a:schemeClr val="dk2"/>
                </a:solidFill>
              </a:rPr>
              <a:t>Roti Cokelat</a:t>
            </a:r>
            <a:endParaRPr b="1"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Harga produk kedua: </a:t>
            </a:r>
            <a:r>
              <a:rPr b="1" lang="en-US" sz="1000">
                <a:solidFill>
                  <a:schemeClr val="dk2"/>
                </a:solidFill>
              </a:rPr>
              <a:t>10000</a:t>
            </a:r>
            <a:endParaRPr b="1"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Status ketersediaan roti: </a:t>
            </a:r>
            <a:r>
              <a:rPr b="1" lang="en-US" sz="1000">
                <a:solidFill>
                  <a:schemeClr val="dk2"/>
                </a:solidFill>
              </a:rPr>
              <a:t>True</a:t>
            </a:r>
            <a:r>
              <a:rPr lang="en-US" sz="1000">
                <a:solidFill>
                  <a:schemeClr val="dk2"/>
                </a:solidFill>
              </a:rPr>
              <a:t> (roti tersedia)</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Setelah itu, cetak semua variabel tersebut dengan pesan yang jelas.</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Contoh Output yang Diharapkan:</a:t>
            </a:r>
            <a:endParaRPr b="1" sz="1000">
              <a:solidFill>
                <a:schemeClr val="dk2"/>
              </a:solidFill>
            </a:endParaRPr>
          </a:p>
          <a:p>
            <a:pPr indent="0" lvl="0" marL="0" marR="0" rtl="0" algn="l">
              <a:lnSpc>
                <a:spcPct val="115000"/>
              </a:lnSpc>
              <a:spcBef>
                <a:spcPts val="1200"/>
              </a:spcBef>
              <a:spcAft>
                <a:spcPts val="0"/>
              </a:spcAft>
              <a:buClr>
                <a:srgbClr val="000000"/>
              </a:buClr>
              <a:buSzPts val="1100"/>
              <a:buFont typeface="Arial"/>
              <a:buNone/>
            </a:pPr>
            <a:r>
              <a:rPr lang="en-US" sz="1000">
                <a:solidFill>
                  <a:schemeClr val="dk2"/>
                </a:solidFill>
              </a:rPr>
              <a:t>Nama produk 1: Kopi Pagi</a:t>
            </a:r>
            <a:endParaRPr sz="1000">
              <a:solidFill>
                <a:schemeClr val="dk2"/>
              </a:solidFill>
            </a:endParaRPr>
          </a:p>
          <a:p>
            <a:pPr indent="0" lvl="0" marL="0" marR="0" rtl="0" algn="l">
              <a:lnSpc>
                <a:spcPct val="115000"/>
              </a:lnSpc>
              <a:spcBef>
                <a:spcPts val="1200"/>
              </a:spcBef>
              <a:spcAft>
                <a:spcPts val="0"/>
              </a:spcAft>
              <a:buClr>
                <a:srgbClr val="000000"/>
              </a:buClr>
              <a:buSzPts val="1100"/>
              <a:buFont typeface="Arial"/>
              <a:buNone/>
            </a:pPr>
            <a:r>
              <a:rPr lang="en-US" sz="1000">
                <a:solidFill>
                  <a:schemeClr val="dk2"/>
                </a:solidFill>
              </a:rPr>
              <a:t>Harga produk 1: 18000.5</a:t>
            </a:r>
            <a:endParaRPr sz="1000">
              <a:solidFill>
                <a:schemeClr val="dk2"/>
              </a:solidFill>
            </a:endParaRPr>
          </a:p>
          <a:p>
            <a:pPr indent="0" lvl="0" marL="0" marR="0" rtl="0" algn="l">
              <a:lnSpc>
                <a:spcPct val="115000"/>
              </a:lnSpc>
              <a:spcBef>
                <a:spcPts val="1200"/>
              </a:spcBef>
              <a:spcAft>
                <a:spcPts val="0"/>
              </a:spcAft>
              <a:buClr>
                <a:srgbClr val="000000"/>
              </a:buClr>
              <a:buSzPts val="1100"/>
              <a:buFont typeface="Arial"/>
              <a:buNone/>
            </a:pPr>
            <a:r>
              <a:rPr lang="en-US" sz="1000">
                <a:solidFill>
                  <a:schemeClr val="dk2"/>
                </a:solidFill>
              </a:rPr>
              <a:t>Nama produk 2: Roti Cokelat</a:t>
            </a:r>
            <a:endParaRPr sz="1000">
              <a:solidFill>
                <a:schemeClr val="dk2"/>
              </a:solidFill>
            </a:endParaRPr>
          </a:p>
          <a:p>
            <a:pPr indent="0" lvl="0" marL="0" marR="0" rtl="0" algn="l">
              <a:lnSpc>
                <a:spcPct val="115000"/>
              </a:lnSpc>
              <a:spcBef>
                <a:spcPts val="1200"/>
              </a:spcBef>
              <a:spcAft>
                <a:spcPts val="0"/>
              </a:spcAft>
              <a:buClr>
                <a:srgbClr val="000000"/>
              </a:buClr>
              <a:buSzPts val="1100"/>
              <a:buFont typeface="Arial"/>
              <a:buNone/>
            </a:pPr>
            <a:r>
              <a:rPr lang="en-US" sz="1000">
                <a:solidFill>
                  <a:schemeClr val="dk2"/>
                </a:solidFill>
              </a:rPr>
              <a:t>Harga produk 2: 10000</a:t>
            </a:r>
            <a:endParaRPr sz="1000">
              <a:solidFill>
                <a:schemeClr val="dk2"/>
              </a:solidFill>
            </a:endParaRPr>
          </a:p>
          <a:p>
            <a:pPr indent="0" lvl="0" marL="0" marR="0" rtl="0" algn="l">
              <a:lnSpc>
                <a:spcPct val="115000"/>
              </a:lnSpc>
              <a:spcBef>
                <a:spcPts val="1200"/>
              </a:spcBef>
              <a:spcAft>
                <a:spcPts val="0"/>
              </a:spcAft>
              <a:buClr>
                <a:srgbClr val="000000"/>
              </a:buClr>
              <a:buSzPts val="1100"/>
              <a:buFont typeface="Arial"/>
              <a:buNone/>
            </a:pPr>
            <a:r>
              <a:rPr lang="en-US" sz="1000">
                <a:solidFill>
                  <a:schemeClr val="dk2"/>
                </a:solidFill>
              </a:rPr>
              <a:t>Status ketersediaan roti: True</a:t>
            </a:r>
            <a:endParaRPr sz="1000">
              <a:solidFill>
                <a:schemeClr val="dk2"/>
              </a:solidFill>
            </a:endParaRPr>
          </a:p>
        </p:txBody>
      </p:sp>
      <p:sp>
        <p:nvSpPr>
          <p:cNvPr id="1595" name="Google Shape;1595;g3753e428164_3_0"/>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Exercise</a:t>
            </a:r>
            <a:endParaRPr b="1" i="0" sz="3600" u="none" cap="none" strike="noStrike">
              <a:solidFill>
                <a:srgbClr val="48A8C4"/>
              </a:solidFill>
              <a:latin typeface="Plus Jakarta Sans"/>
              <a:ea typeface="Plus Jakarta Sans"/>
              <a:cs typeface="Plus Jakarta Sans"/>
              <a:sym typeface="Plus Jakarta Sans"/>
            </a:endParaRPr>
          </a:p>
        </p:txBody>
      </p:sp>
      <p:pic>
        <p:nvPicPr>
          <p:cNvPr id="1596" name="Google Shape;1596;g3753e428164_3_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00" name="Shape 1600"/>
        <p:cNvGrpSpPr/>
        <p:nvPr/>
      </p:nvGrpSpPr>
      <p:grpSpPr>
        <a:xfrm>
          <a:off x="0" y="0"/>
          <a:ext cx="0" cy="0"/>
          <a:chOff x="0" y="0"/>
          <a:chExt cx="0" cy="0"/>
        </a:xfrm>
      </p:grpSpPr>
      <p:sp>
        <p:nvSpPr>
          <p:cNvPr id="1601" name="Google Shape;1601;g37548cf76b3_0_194"/>
          <p:cNvSpPr txBox="1"/>
          <p:nvPr/>
        </p:nvSpPr>
        <p:spPr>
          <a:xfrm>
            <a:off x="457200" y="1121750"/>
            <a:ext cx="8358300" cy="99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Tugas 2: Konversi Tipe Data dan Input Pengguna</a:t>
            </a:r>
            <a:endParaRPr b="1"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Manajer ingin Anda membuat program yang meminta input dari pengguna.</a:t>
            </a:r>
            <a:endParaRPr sz="1000">
              <a:solidFill>
                <a:schemeClr val="dk2"/>
              </a:solidFill>
            </a:endParaRPr>
          </a:p>
          <a:p>
            <a:pPr indent="-292100" lvl="0" marL="457200" rtl="0" algn="l">
              <a:lnSpc>
                <a:spcPct val="115000"/>
              </a:lnSpc>
              <a:spcBef>
                <a:spcPts val="1200"/>
              </a:spcBef>
              <a:spcAft>
                <a:spcPts val="0"/>
              </a:spcAft>
              <a:buClr>
                <a:schemeClr val="dk2"/>
              </a:buClr>
              <a:buSzPts val="1000"/>
              <a:buAutoNum type="arabicPeriod"/>
            </a:pPr>
            <a:r>
              <a:rPr lang="en-US" sz="1000">
                <a:solidFill>
                  <a:schemeClr val="dk2"/>
                </a:solidFill>
              </a:rPr>
              <a:t>Minta pengguna untuk memasukkan </a:t>
            </a:r>
            <a:r>
              <a:rPr b="1" lang="en-US" sz="1000">
                <a:solidFill>
                  <a:schemeClr val="dk2"/>
                </a:solidFill>
              </a:rPr>
              <a:t>jumlah pesanan kopi</a:t>
            </a:r>
            <a:r>
              <a:rPr lang="en-US" sz="1000">
                <a:solidFill>
                  <a:schemeClr val="dk2"/>
                </a:solidFill>
              </a:rPr>
              <a:t>. Simpan input tersebut dalam variabel jumlah_kopi_str.</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Minta pengguna untuk memasukkan </a:t>
            </a:r>
            <a:r>
              <a:rPr b="1" lang="en-US" sz="1000">
                <a:solidFill>
                  <a:schemeClr val="dk2"/>
                </a:solidFill>
              </a:rPr>
              <a:t>jumlah pesanan roti</a:t>
            </a:r>
            <a:r>
              <a:rPr lang="en-US" sz="1000">
                <a:solidFill>
                  <a:schemeClr val="dk2"/>
                </a:solidFill>
              </a:rPr>
              <a:t>. Simpan input tersebut dalam variabel jumlah_roti_str.</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Periksa tipe data dari kedua variabel tersebut.</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b="1" lang="en-US" sz="1000">
                <a:solidFill>
                  <a:schemeClr val="dk2"/>
                </a:solidFill>
              </a:rPr>
              <a:t>Konversi</a:t>
            </a:r>
            <a:r>
              <a:rPr lang="en-US" sz="1000">
                <a:solidFill>
                  <a:schemeClr val="dk2"/>
                </a:solidFill>
              </a:rPr>
              <a:t> kedua variabel string menjadi integer (int). Simpan hasilnya di variabel baru: jumlah_kopi_int dan jumlah_roti_int.</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Cetak kembali tipe data setelah konversi untuk memastikan berhasil.</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Contoh Output yang Diharapkan:</a:t>
            </a:r>
            <a:endParaRPr b="1"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Masukkan jumlah pesanan kopi: 2</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Masukkan jumlah pesanan roti: 3</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Tipe data awal jumlah kopi: &lt;class 'str'&gt;</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Tipe data awal jumlah roti: &lt;class 'str'&gt;</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Tipe data setelah konversi: &lt;class 'int'&gt;</a:t>
            </a:r>
            <a:endParaRPr sz="1000">
              <a:solidFill>
                <a:schemeClr val="dk2"/>
              </a:solidFill>
            </a:endParaRPr>
          </a:p>
        </p:txBody>
      </p:sp>
      <p:sp>
        <p:nvSpPr>
          <p:cNvPr id="1602" name="Google Shape;1602;g37548cf76b3_0_194"/>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Exercise</a:t>
            </a:r>
            <a:endParaRPr b="1" i="0" sz="3600" u="none" cap="none" strike="noStrike">
              <a:solidFill>
                <a:srgbClr val="48A8C4"/>
              </a:solidFill>
              <a:latin typeface="Plus Jakarta Sans"/>
              <a:ea typeface="Plus Jakarta Sans"/>
              <a:cs typeface="Plus Jakarta Sans"/>
              <a:sym typeface="Plus Jakarta Sans"/>
            </a:endParaRPr>
          </a:p>
        </p:txBody>
      </p:sp>
      <p:pic>
        <p:nvPicPr>
          <p:cNvPr id="1603" name="Google Shape;1603;g37548cf76b3_0_19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07" name="Shape 1607"/>
        <p:cNvGrpSpPr/>
        <p:nvPr/>
      </p:nvGrpSpPr>
      <p:grpSpPr>
        <a:xfrm>
          <a:off x="0" y="0"/>
          <a:ext cx="0" cy="0"/>
          <a:chOff x="0" y="0"/>
          <a:chExt cx="0" cy="0"/>
        </a:xfrm>
      </p:grpSpPr>
      <p:sp>
        <p:nvSpPr>
          <p:cNvPr id="1608" name="Google Shape;1608;g37548cf76b3_0_200"/>
          <p:cNvSpPr txBox="1"/>
          <p:nvPr/>
        </p:nvSpPr>
        <p:spPr>
          <a:xfrm>
            <a:off x="457200" y="1121750"/>
            <a:ext cx="8358300" cy="99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Tugas 3: Operasi pada Angka</a:t>
            </a:r>
            <a:endParaRPr b="1"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Setelah mengonversi data, hitung total harga pesanan.</a:t>
            </a:r>
            <a:endParaRPr sz="1000">
              <a:solidFill>
                <a:schemeClr val="dk2"/>
              </a:solidFill>
            </a:endParaRPr>
          </a:p>
          <a:p>
            <a:pPr indent="-292100" lvl="0" marL="457200" rtl="0" algn="l">
              <a:lnSpc>
                <a:spcPct val="115000"/>
              </a:lnSpc>
              <a:spcBef>
                <a:spcPts val="1200"/>
              </a:spcBef>
              <a:spcAft>
                <a:spcPts val="0"/>
              </a:spcAft>
              <a:buClr>
                <a:schemeClr val="dk2"/>
              </a:buClr>
              <a:buSzPts val="1000"/>
              <a:buAutoNum type="arabicPeriod"/>
            </a:pPr>
            <a:r>
              <a:rPr lang="en-US" sz="1000">
                <a:solidFill>
                  <a:schemeClr val="dk2"/>
                </a:solidFill>
              </a:rPr>
              <a:t>Hitung total harga untuk kopi. Gunakan variabel harga_kopi dari Tugas 1 dan jumlah_kopi_int dari Tugas 2.</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Hitung total harga untuk roti. Gunakan variabel harga_roti dari Tugas 1 dan jumlah_roti_int dari Tugas 2.</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Hitung </a:t>
            </a:r>
            <a:r>
              <a:rPr b="1" lang="en-US" sz="1000">
                <a:solidFill>
                  <a:schemeClr val="dk2"/>
                </a:solidFill>
              </a:rPr>
              <a:t>total harga keseluruhan</a:t>
            </a:r>
            <a:r>
              <a:rPr lang="en-US" sz="1000">
                <a:solidFill>
                  <a:schemeClr val="dk2"/>
                </a:solidFill>
              </a:rPr>
              <a:t> pesanan. Simpan hasilnya di variabel total_belanja.</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Cetak total belanja tersebut.</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Tambahkan satu variabel lagi, uang_bayar = 50000. Hitung </a:t>
            </a:r>
            <a:r>
              <a:rPr b="1" lang="en-US" sz="1000">
                <a:solidFill>
                  <a:schemeClr val="dk2"/>
                </a:solidFill>
              </a:rPr>
              <a:t>kembalian</a:t>
            </a:r>
            <a:r>
              <a:rPr lang="en-US" sz="1000">
                <a:solidFill>
                  <a:schemeClr val="dk2"/>
                </a:solidFill>
              </a:rPr>
              <a:t> dengan menggunakan operator pengurangan.</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Contoh Output yang Diharapkan:</a:t>
            </a:r>
            <a:endParaRPr b="1"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Total harga kopi: 36001.0</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Total harga roti: 30000</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Total belanja keseluruhan: 66001.0</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Uang yang dibayarkan: 50000</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Kembalian: -16001.0</a:t>
            </a:r>
            <a:endParaRPr sz="1000">
              <a:solidFill>
                <a:schemeClr val="dk2"/>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b="1" sz="1000">
              <a:solidFill>
                <a:schemeClr val="dk2"/>
              </a:solidFill>
            </a:endParaRPr>
          </a:p>
        </p:txBody>
      </p:sp>
      <p:sp>
        <p:nvSpPr>
          <p:cNvPr id="1609" name="Google Shape;1609;g37548cf76b3_0_200"/>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Exercise</a:t>
            </a:r>
            <a:endParaRPr b="1" i="0" sz="3600" u="none" cap="none" strike="noStrike">
              <a:solidFill>
                <a:srgbClr val="48A8C4"/>
              </a:solidFill>
              <a:latin typeface="Plus Jakarta Sans"/>
              <a:ea typeface="Plus Jakarta Sans"/>
              <a:cs typeface="Plus Jakarta Sans"/>
              <a:sym typeface="Plus Jakarta Sans"/>
            </a:endParaRPr>
          </a:p>
        </p:txBody>
      </p:sp>
      <p:pic>
        <p:nvPicPr>
          <p:cNvPr id="1610" name="Google Shape;1610;g37548cf76b3_0_20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14" name="Shape 1614"/>
        <p:cNvGrpSpPr/>
        <p:nvPr/>
      </p:nvGrpSpPr>
      <p:grpSpPr>
        <a:xfrm>
          <a:off x="0" y="0"/>
          <a:ext cx="0" cy="0"/>
          <a:chOff x="0" y="0"/>
          <a:chExt cx="0" cy="0"/>
        </a:xfrm>
      </p:grpSpPr>
      <p:sp>
        <p:nvSpPr>
          <p:cNvPr id="1615" name="Google Shape;1615;g37548cf76b3_0_206"/>
          <p:cNvSpPr txBox="1"/>
          <p:nvPr/>
        </p:nvSpPr>
        <p:spPr>
          <a:xfrm>
            <a:off x="457200" y="1121750"/>
            <a:ext cx="8358300" cy="99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Tugas 4: Operasi pada String</a:t>
            </a:r>
            <a:endParaRPr b="1"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Buatlah struk sederhana menggunakan operasi string.</a:t>
            </a:r>
            <a:endParaRPr sz="1000">
              <a:solidFill>
                <a:schemeClr val="dk2"/>
              </a:solidFill>
            </a:endParaRPr>
          </a:p>
          <a:p>
            <a:pPr indent="-292100" lvl="0" marL="457200" rtl="0" algn="l">
              <a:lnSpc>
                <a:spcPct val="115000"/>
              </a:lnSpc>
              <a:spcBef>
                <a:spcPts val="1200"/>
              </a:spcBef>
              <a:spcAft>
                <a:spcPts val="0"/>
              </a:spcAft>
              <a:buClr>
                <a:schemeClr val="dk2"/>
              </a:buClr>
              <a:buSzPts val="1000"/>
              <a:buAutoNum type="arabicPeriod"/>
            </a:pPr>
            <a:r>
              <a:rPr lang="en-US" sz="1000">
                <a:solidFill>
                  <a:schemeClr val="dk2"/>
                </a:solidFill>
              </a:rPr>
              <a:t>Buat variabel nama_pelanggan dan isi dengan input dari pengguna.</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Gabungkan teks "Terima kasih, " dengan nama_pelanggan dan teks " sudah berbelanja di Coffee Shop Bahagia!" menggunakan operator +. Simpan dalam variabel pesan_terima_kasih.</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Cetak pesan_terima_kasih.</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Buatlah garis pemisah dengan mengulang karakter * sebanyak 25 kali. Cetak garis tersebut di atas dan di bawah pesan.</a:t>
            </a:r>
            <a:endParaRPr sz="1000">
              <a:solidFill>
                <a:schemeClr val="dk2"/>
              </a:solidFill>
            </a:endParaRPr>
          </a:p>
          <a:p>
            <a:pPr indent="-292100" lvl="0" marL="457200" rtl="0" algn="l">
              <a:lnSpc>
                <a:spcPct val="115000"/>
              </a:lnSpc>
              <a:spcBef>
                <a:spcPts val="0"/>
              </a:spcBef>
              <a:spcAft>
                <a:spcPts val="0"/>
              </a:spcAft>
              <a:buClr>
                <a:schemeClr val="dk2"/>
              </a:buClr>
              <a:buSzPts val="1000"/>
              <a:buAutoNum type="arabicPeriod"/>
            </a:pPr>
            <a:r>
              <a:rPr lang="en-US" sz="1000">
                <a:solidFill>
                  <a:schemeClr val="dk2"/>
                </a:solidFill>
              </a:rPr>
              <a:t>Cetak pesan menggunakan </a:t>
            </a:r>
            <a:r>
              <a:rPr b="1" lang="en-US" sz="1000">
                <a:solidFill>
                  <a:schemeClr val="dk2"/>
                </a:solidFill>
              </a:rPr>
              <a:t>f-string</a:t>
            </a:r>
            <a:r>
              <a:rPr lang="en-US" sz="1000">
                <a:solidFill>
                  <a:schemeClr val="dk2"/>
                </a:solidFill>
              </a:rPr>
              <a:t> yang berisi nama produk kopi dan total harganya. Contoh: "Total harga Kopi Pagi adalah Rp36001.0".</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US" sz="1000">
                <a:solidFill>
                  <a:schemeClr val="dk2"/>
                </a:solidFill>
              </a:rPr>
              <a:t>Contoh Output yang Diharapkan:</a:t>
            </a:r>
            <a:endParaRPr b="1"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Terima kasih, [Nama Pelanggan] sudah berbelanja di Coffee Shop Bahagia!</a:t>
            </a:r>
            <a:endParaRPr sz="10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2"/>
                </a:solidFill>
              </a:rPr>
              <a:t>*************************</a:t>
            </a:r>
            <a:endParaRPr sz="10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en-US" sz="1000">
                <a:solidFill>
                  <a:schemeClr val="dk2"/>
                </a:solidFill>
              </a:rPr>
              <a:t>Total harga Kopi Pagi adalah Rp36001.0</a:t>
            </a:r>
            <a:endParaRPr b="1" sz="1000">
              <a:solidFill>
                <a:schemeClr val="dk2"/>
              </a:solidFill>
            </a:endParaRPr>
          </a:p>
        </p:txBody>
      </p:sp>
      <p:sp>
        <p:nvSpPr>
          <p:cNvPr id="1616" name="Google Shape;1616;g37548cf76b3_0_206"/>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Exercise</a:t>
            </a:r>
            <a:endParaRPr b="1" i="0" sz="3600" u="none" cap="none" strike="noStrike">
              <a:solidFill>
                <a:srgbClr val="48A8C4"/>
              </a:solidFill>
              <a:latin typeface="Plus Jakarta Sans"/>
              <a:ea typeface="Plus Jakarta Sans"/>
              <a:cs typeface="Plus Jakarta Sans"/>
              <a:sym typeface="Plus Jakarta Sans"/>
            </a:endParaRPr>
          </a:p>
        </p:txBody>
      </p:sp>
      <p:pic>
        <p:nvPicPr>
          <p:cNvPr id="1617" name="Google Shape;1617;g37548cf76b3_0_20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2021-01-14T04:03:51Z</dcterms:created>
  <dc:creator>SINAR X</dc:creator>
</cp:coreProperties>
</file>